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【开场白，1分钟】
各位评委好！今天我的分享分三部分：先看成果，再讲历程，最后谈反思。
我们从一份需求文档起步，用AI原生研发方式完整构建了一个手机银行核心系统。这条路怎么走的？我们开始。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【目录，30秒】
今天分三部分。第一，先看成果——系统到底长什么样，AI能力有多强。第二，再讲历程——我们是怎么做出来的，中间经历了什么。第三，最后谈反思——做完之后对研发的理解发生了什么变化。
一句话：先证明系统存在，再讲创新故事，最后留思考。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【功能全景，1分钟】
大家看左边——这是我们的系统首页，真实的运行截图。
总资产 17万，五快捷功能，AI入口，银行卡管理——全部实现了。
但这只是基础。接下来看我们的核心创新——AI能力。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【AI创新，1.5分钟】
三大AI能力，每个都有真实截图。
左边：智能客服——用户说"我要看我最近的消费记录"，AI理解意图，返回结构化交易列表。
中间：消费分析——自动分类、AI洞察文案，比如"您本月最大支出为其他，占比38.5%"。
右边：安全转账——用户说"转账给张三100块"，AI提取参数，两阶段确认。
这三个截图证明：AI能力不是噱头，是真的能在实际场景中跑通。
所有能力都基于后面会讲到的MCP-Skill架构。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【痛点，1分钟】
系统你们看到了。那它是怎么做出来的？因为我们遇到了三个问题。
痛点1：文档和代码分裂——这直接导致了认知拐点的发现。
痛点2：重复CRUD——这也是为什么我们尝试让AI写代码。
痛点3：沟通损耗——文档直接给AI，反而更精确。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【认知拐点，1.5分钟】
这个页面是整个项目最重要的一个顿悟。
最开始做法是"让AI写代码→出BUG直接改代码"。但老BUG在新功能中反复出现。
花了一天才发现：AI不是基于最新代码理解的——它是基于文档。
从此改了规矩：先改文档，再生成代码。代码变更是文档变更的编译结果。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【调教方法论，1.5分钟】
核心闭环：以文档为中心不断迭代。注意失败比例标注。
下面是五条纪律，特别强调第4条——记录变更。右边是真实调教日志。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【对比，1分钟】
核心在最后两行：执行风险和设计风险的反转。
传统最怕代码跑不通，AI写的语法一定对——但设计风险高了，最难的是精确告诉AI要什么。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【技术框架，1分钟】
快速过。架构、MCP-Skill、安全、AI能力都在一页上。
重点在底部的"信任陷阱"案例——余额正负号问题。
AI代码语法完全正确，但业务语义是错的。这就是最危险的地方。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【挑战，1分钟】
三个挑战。重点说前两个：意图识别的失败比例和AI代码的信任陷阱。
"AI代码越漂亮越危险"——这听起来反直觉，但余额正负号案例就是最好的证明。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【认知升级，1分钟】
这四条是从项目中真正沉淀下来的认知。
第一条最重要——回到认知拐点的"文档是源代码"。
第三条——规格表达能力比编码能力更值钱。
第四条——从"把代码写对"到"让AI理解对"，这是核心转变。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【成果，1分钟】
6个数据卡片。底部放了三张截图缩略作为"数据来源于这些真实界面"的视觉证据。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【收尾，1分钟】
各位评委，今天我从三个部分分享了这次AI原生研发的实践：先展示了系统截图证明了完成度，再讲述了从痛点到方法论的心路历程，最后是四条认知升级。
最后我有一个问题留给各位：如果AI能写70%的代码，那么一个优秀的研发人员的核心竞争力应该是什么？
是写更快的代码？还是让AI更好地理解业务？
谢谢大家，欢迎提问。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46304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源于竞赛，不止于竞赛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AI原生研发的认知跃迁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0" y="3291840"/>
            <a:ext cx="3959352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56616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以手机银行为载体的调教实录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5120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手机银行核心业务系统 · 项目展示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0" y="365760"/>
            <a:ext cx="6428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三部分构成全部内容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371600"/>
            <a:ext cx="3383280" cy="228600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371600"/>
            <a:ext cx="3383280" cy="502920"/>
          </a:xfrm>
          <a:prstGeom prst="roundRect">
            <a:avLst/>
          </a:prstGeom>
          <a:solidFill>
            <a:srgbClr val="4A90E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3716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2103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成果展示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6517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系统全景与核心创新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3383280" cy="228600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371600"/>
            <a:ext cx="3383280" cy="502920"/>
          </a:xfrm>
          <a:prstGeom prst="roundRect">
            <a:avLst/>
          </a:prstGeom>
          <a:solidFill>
            <a:srgbClr val="E67E22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3716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103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研发历程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37760" y="26517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从痛点、顿悟到方法论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412480" y="1371600"/>
            <a:ext cx="3383280" cy="228600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1371600"/>
            <a:ext cx="3383280" cy="502920"/>
          </a:xfrm>
          <a:prstGeom prst="roundRect">
            <a:avLst/>
          </a:prstGeom>
          <a:solidFill>
            <a:srgbClr val="27AE60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0" y="13716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0" y="2103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反思与展望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686800" y="26517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认知升级与思考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828800" y="4114800"/>
            <a:ext cx="8531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→ Part 2 → Part 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0" y="4754880"/>
            <a:ext cx="6702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“完成度是入场券，故事是加分项”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743200" y="5120640"/>
            <a:ext cx="6702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先证明系统存在，再讲述创新过程，最后留下思考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功能全景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0" y="365760"/>
            <a:ext cx="6428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手机银行核心系统实景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4A90E2"/>
          </a:solidFill>
          <a:ln/>
        </p:spPr>
      </p:sp>
      <p:pic>
        <p:nvPicPr>
          <p:cNvPr id="6" name="Image 0" descr="F:\code\bank\bank\screenshots\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05840"/>
            <a:ext cx="2926080" cy="5212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0" y="1097280"/>
            <a:ext cx="7772400" cy="128016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931920" y="1280160"/>
            <a:ext cx="457200" cy="45720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9" name="Text 6"/>
          <p:cNvSpPr/>
          <p:nvPr/>
        </p:nvSpPr>
        <p:spPr>
          <a:xfrm>
            <a:off x="393192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663440" y="1234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总资产实时查看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663440" y="1645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实时账户余额，正负号区分收支方向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57600" y="2651760"/>
            <a:ext cx="7772400" cy="128016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931920" y="2834640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1"/>
          <p:cNvSpPr/>
          <p:nvPr/>
        </p:nvSpPr>
        <p:spPr>
          <a:xfrm>
            <a:off x="393192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663440" y="2788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5大快捷功能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663440" y="3200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转账、交易记录、生活缴费、银行卡、安全中心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657600" y="4206240"/>
            <a:ext cx="7772400" cy="128016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931920" y="438912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9" name="Text 16"/>
          <p:cNvSpPr/>
          <p:nvPr/>
        </p:nvSpPr>
        <p:spPr>
          <a:xfrm>
            <a:off x="393192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663440" y="4343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AI能力集成入口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663440" y="4754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AI助手+消费分析两大AI核心能力一键进入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31520" y="6126480"/>
            <a:ext cx="10725912" cy="365760"/>
          </a:xfrm>
          <a:prstGeom prst="roundRect">
            <a:avLst/>
          </a:prstGeom>
          <a:solidFill>
            <a:srgbClr val="EBF5FB"/>
          </a:solidFill>
          <a:ln/>
        </p:spPr>
      </p:sp>
      <p:sp>
        <p:nvSpPr>
          <p:cNvPr id="23" name="Text 20"/>
          <p:cNvSpPr/>
          <p:nvPr/>
        </p:nvSpPr>
        <p:spPr>
          <a:xfrm>
            <a:off x="914400" y="612648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10大功能模块 · 30+ API接口 · 24页前端 · 全部AI原生研发完成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315200" y="6263640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不仅有完整系统，还有三大AI创新能力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1430000" y="6263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AI创新能力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0" y="365760"/>
            <a:ext cx="6428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智能客服 · 消费分析 · 安全转账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3566160" cy="484632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3566160" cy="54864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280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智能客服</a:t>
            </a:r>
            <a:endParaRPr lang="en-US" sz="1600" dirty="0"/>
          </a:p>
        </p:txBody>
      </p:sp>
      <p:pic>
        <p:nvPicPr>
          <p:cNvPr id="9" name="Image 0" descr="F:\code\bank\bank\screenshots\ai-transac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737360"/>
            <a:ext cx="2651760" cy="32918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51206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自然语言→意图识别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54406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Skill路由→结构化返回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97680" y="1097280"/>
            <a:ext cx="3566160" cy="484632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97680" y="1097280"/>
            <a:ext cx="356616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0" y="1280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消费分析</a:t>
            </a:r>
            <a:endParaRPr lang="en-US" sz="1600" dirty="0"/>
          </a:p>
        </p:txBody>
      </p:sp>
      <p:pic>
        <p:nvPicPr>
          <p:cNvPr id="15" name="Image 1" descr="F:\code\bank\bank\screenshots\consumption-analysi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1737360"/>
            <a:ext cx="2651760" cy="32918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72000" y="51206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10大分类·200+关键词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572000" y="54406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AI自动分析·月度报告文案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138160" y="1097280"/>
            <a:ext cx="3566160" cy="484632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138160" y="1097280"/>
            <a:ext cx="356616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0" name="Text 16"/>
          <p:cNvSpPr/>
          <p:nvPr/>
        </p:nvSpPr>
        <p:spPr>
          <a:xfrm>
            <a:off x="8412480" y="1280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安全转账</a:t>
            </a:r>
            <a:endParaRPr lang="en-US" sz="1600" dirty="0"/>
          </a:p>
        </p:txBody>
      </p:sp>
      <p:pic>
        <p:nvPicPr>
          <p:cNvPr id="21" name="Image 2" descr="F:\code\bank\bank\screenshots\ai-transfer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595360" y="1737360"/>
            <a:ext cx="2651760" cy="32918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412480" y="51206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两阶段确认流程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8412480" y="54406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转账密码·防欺骗警告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731520" y="6080760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以上能力均基于自研MCP-Skill架构实现：大模型只负责理解与推理，业务操作通过Skill委托给后端API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7315200" y="6263640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系统看到了，那它是怎么做出来的？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11430000" y="6263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痛点驱动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0" y="365760"/>
            <a:ext cx="6428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传统研发中亲身经历的三个问题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传统研发的痛点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5029200" cy="118872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8288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痛点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1945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需求一变更，代码和文档立刻分裂，维护成本飙升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200400"/>
            <a:ext cx="5029200" cy="118872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2918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痛点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6576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大部分时间花在重复CRUD，架构思考时间被压缩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4663440"/>
            <a:ext cx="5029200" cy="118872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7548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痛点 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51206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沟通链条：产品→文档→开发，层层理解偏差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AI原生研发的回答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0" y="1737360"/>
            <a:ext cx="5029200" cy="118872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1737360"/>
            <a:ext cx="73152" cy="1188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19202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文档即代码：改文档描述=改系统行为，天然一致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3200400"/>
            <a:ext cx="5029200" cy="118872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3200400"/>
            <a:ext cx="73152" cy="1188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33832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AI代写70%代码，人聚焦架构设计与AI调教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663440"/>
            <a:ext cx="5029200" cy="118872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4663440"/>
            <a:ext cx="73152" cy="1188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0" y="48463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文档直接面向AI，人-AI之间没有理解损耗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6309360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MVP=最小可行产品；P0/P1/P2=需求优先级等级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0" y="6263640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所以我们决定用AI原生研发测试一下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430000" y="6263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认知拐点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0" y="365760"/>
            <a:ext cx="6428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一次调教中的顿悟时刻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5303520" cy="475488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097280"/>
            <a:ext cx="530352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2801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Before：代码优先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182880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拿到需求 → 让AI写代码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出BUG → 直接改代码修复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新需求 → AI重新生成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老BUG再现——因为文档没有同步修改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846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这不是代码的问题，是文档的问题。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097280"/>
            <a:ext cx="5303520" cy="475488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097280"/>
            <a:ext cx="530352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2801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After：文档先行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75120" y="182880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拿到需求 → 先修改文档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让AI按新文档生成代码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Review → 发现语义偏差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回头修改文档描述 → 再生成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代码变更是文档变更的“编译结果”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03520" y="2926080"/>
            <a:ext cx="1581912" cy="5486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0" y="2926080"/>
            <a:ext cx="1581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顿悟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286000" y="6035040"/>
            <a:ext cx="7616952" cy="45720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4A90E2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2468880" y="6035040"/>
            <a:ext cx="7251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文档不是说明书，文档是源代码。代码变更只是文档变更的编译结果。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0" y="6263640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那具体怎么调教？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0" y="6263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调教方法论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0" y="365760"/>
            <a:ext cx="6428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闭环迭代 + 五条纪律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6" name="Shape 4"/>
          <p:cNvSpPr/>
          <p:nvPr/>
        </p:nvSpPr>
        <p:spPr>
          <a:xfrm>
            <a:off x="4754880" y="1188720"/>
            <a:ext cx="2560320" cy="91440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1887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89120" y="365760"/>
            <a:ext cx="2926080" cy="457200"/>
          </a:xfrm>
          <a:prstGeom prst="roundRect">
            <a:avLst/>
          </a:prstGeom>
          <a:solidFill>
            <a:srgbClr val="E67E22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0" y="3657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调教（修改文档）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503920" y="1645920"/>
            <a:ext cx="2926080" cy="457200"/>
          </a:xfrm>
          <a:prstGeom prst="round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1645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AI生成代码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0" y="2926080"/>
            <a:ext cx="2926080" cy="457200"/>
          </a:xfrm>
          <a:prstGeom prst="roundRect">
            <a:avLst/>
          </a:prstGeom>
          <a:solidFill>
            <a:srgbClr val="1A5276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0" y="2926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代码Review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1645920"/>
            <a:ext cx="2926080" cy="457200"/>
          </a:xfrm>
          <a:prstGeom prst="roundRect">
            <a:avLst/>
          </a:prstGeom>
          <a:solidFill>
            <a:srgbClr val="E74C3C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1645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发现问题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3566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失败比例 &gt; 成功比例：每次成功调教背后有3-4次失败描述尝试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" y="3931920"/>
            <a:ext cx="10725912" cy="18288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4206240"/>
            <a:ext cx="365760" cy="36576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4206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文档先行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4663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先改文档再改代码。文档是“调教参数”，代码是输出。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880360" y="4206240"/>
            <a:ext cx="365760" cy="36576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23" name="Text 21"/>
          <p:cNvSpPr/>
          <p:nvPr/>
        </p:nvSpPr>
        <p:spPr>
          <a:xfrm>
            <a:off x="288036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83280" y="4206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增量变更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880360" y="4663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改一处生成一处，不全量覆盖。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66360" y="4206240"/>
            <a:ext cx="365760" cy="36576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27" name="Text 25"/>
          <p:cNvSpPr/>
          <p:nvPr/>
        </p:nvSpPr>
        <p:spPr>
          <a:xfrm>
            <a:off x="516636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0" y="4206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不改旧代码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66360" y="4663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已调好的逻辑不动，只通过改文档触发新生成。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452360" y="4206240"/>
            <a:ext cx="365760" cy="36576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31" name="Text 29"/>
          <p:cNvSpPr/>
          <p:nvPr/>
        </p:nvSpPr>
        <p:spPr>
          <a:xfrm>
            <a:off x="745236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955280" y="4206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记录变更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452360" y="4663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每次调教记录：改了啥→为什么→结果。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738360" y="4206240"/>
            <a:ext cx="365760" cy="36576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35" name="Text 33"/>
          <p:cNvSpPr/>
          <p:nvPr/>
        </p:nvSpPr>
        <p:spPr>
          <a:xfrm>
            <a:off x="973836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241280" y="4206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同步更新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738360" y="4663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调教中沉淀的规则即时写回文档。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828800" y="5394960"/>
            <a:ext cx="8531352" cy="41148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4A90E2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28800" y="5394960"/>
            <a:ext cx="85313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以前我是编码者，现在我是调教师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31520" y="5852160"/>
            <a:ext cx="10725912" cy="548640"/>
          </a:xfrm>
          <a:prstGeom prst="roundRect">
            <a:avLst/>
          </a:prstGeom>
          <a:solidFill>
            <a:srgbClr val="F5F5F5"/>
          </a:solidFill>
          <a:ln/>
        </p:spPr>
      </p:sp>
      <p:sp>
        <p:nvSpPr>
          <p:cNvPr id="41" name="Text 39"/>
          <p:cNvSpPr/>
          <p:nvPr/>
        </p:nvSpPr>
        <p:spPr>
          <a:xfrm>
            <a:off x="914400" y="585216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调教日志节选：[2026-04-25] 需求F-TRANS-003 | 转账金额符号问题 | 文档从“正数收入负数支出”改为“交易金额以方向符号标识，收入=+支出=-” | AI代码正确区分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315200" y="6263640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这样调教跟传统开发有什么本质不同？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430000" y="6263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AI原生 vs 传统研发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0" y="365760"/>
            <a:ext cx="6428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一场风险的逆转与角色的重塑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188720"/>
            <a:ext cx="2286000" cy="457200"/>
          </a:xfrm>
          <a:prstGeom prst="roundRect">
            <a:avLst/>
          </a:prstGeom>
          <a:solidFill>
            <a:srgbClr val="2C3E5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188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维度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1188720"/>
            <a:ext cx="3474720" cy="457200"/>
          </a:xfrm>
          <a:prstGeom prst="roundRect">
            <a:avLst/>
          </a:prstGeom>
          <a:solidFill>
            <a:srgbClr val="95A5A6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11887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传统研发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0" y="1188720"/>
            <a:ext cx="4572000" cy="457200"/>
          </a:xfrm>
          <a:prstGeom prst="roundRect">
            <a:avLst/>
          </a:prstGeom>
          <a:solidFill>
            <a:srgbClr val="4A90E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0" y="1188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AI原生研发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1783080"/>
            <a:ext cx="2286000" cy="548640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1783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核心产物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1783080"/>
            <a:ext cx="3474720" cy="548640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17830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0" y="1783080"/>
            <a:ext cx="4572000" cy="548640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17830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2423160"/>
            <a:ext cx="2286000" cy="548640"/>
          </a:xfrm>
          <a:prstGeom prst="roundRect">
            <a:avLst/>
          </a:prstGeom>
          <a:solidFill>
            <a:srgbClr val="EBF5FB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423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人的角色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423160"/>
            <a:ext cx="3474720" cy="548640"/>
          </a:xfrm>
          <a:prstGeom prst="roundRect">
            <a:avLst/>
          </a:prstGeom>
          <a:solidFill>
            <a:srgbClr val="EBF5FB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24231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编码者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0" y="2423160"/>
            <a:ext cx="4572000" cy="548640"/>
          </a:xfrm>
          <a:prstGeom prst="roundRect">
            <a:avLst/>
          </a:prstGeom>
          <a:solidFill>
            <a:srgbClr val="EBF5FB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24231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调教师 / 规格工程师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3063240"/>
            <a:ext cx="2286000" cy="548640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0632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Debug对象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0" y="3063240"/>
            <a:ext cx="3474720" cy="548640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30632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语法错误 / 逻辑BUG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58000" y="3063240"/>
            <a:ext cx="4572000" cy="548640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0" y="30632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语义歧义 / AI理解偏差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1520" y="3703320"/>
            <a:ext cx="2286000" cy="548640"/>
          </a:xfrm>
          <a:prstGeom prst="roundRect">
            <a:avLst/>
          </a:prstGeom>
          <a:solidFill>
            <a:srgbClr val="EBF5FB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37033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变更方式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0" y="3703320"/>
            <a:ext cx="3474720" cy="548640"/>
          </a:xfrm>
          <a:prstGeom prst="roundRect">
            <a:avLst/>
          </a:prstGeom>
          <a:solidFill>
            <a:srgbClr val="EBF5FB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0" y="37033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改代码 → 补文档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58000" y="3703320"/>
            <a:ext cx="4572000" cy="548640"/>
          </a:xfrm>
          <a:prstGeom prst="roundRect">
            <a:avLst/>
          </a:prstGeom>
          <a:solidFill>
            <a:srgbClr val="EBF5FB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7033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改文档 → 再生代码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31520" y="4343400"/>
            <a:ext cx="2286000" cy="548640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43434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执行风险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00400" y="4343400"/>
            <a:ext cx="3474720" cy="548640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0" y="43434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高（能不能跑通）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858000" y="4343400"/>
            <a:ext cx="4572000" cy="548640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43434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低（AI写的语法一定对）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31520" y="4983480"/>
            <a:ext cx="2286000" cy="548640"/>
          </a:xfrm>
          <a:prstGeom prst="roundRect">
            <a:avLst/>
          </a:prstGeom>
          <a:solidFill>
            <a:srgbClr val="EBF5FB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1520" y="49834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设计风险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200400" y="4983480"/>
            <a:ext cx="3474720" cy="548640"/>
          </a:xfrm>
          <a:prstGeom prst="roundRect">
            <a:avLst/>
          </a:prstGeom>
          <a:solidFill>
            <a:srgbClr val="EBF5FB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0" y="49834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低（要做什么很清楚）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858000" y="4983480"/>
            <a:ext cx="4572000" cy="548640"/>
          </a:xfrm>
          <a:prstGeom prst="roundRect">
            <a:avLst/>
          </a:prstGeom>
          <a:solidFill>
            <a:srgbClr val="EBF5FB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58000" y="49834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高（最难是精确告诉AI）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828800" y="5760720"/>
            <a:ext cx="8531352" cy="50292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4A90E2"/>
            </a:solidFill>
            <a:prstDash val="dash"/>
          </a:ln>
        </p:spPr>
      </p:sp>
      <p:sp>
        <p:nvSpPr>
          <p:cNvPr id="49" name="Text 47"/>
          <p:cNvSpPr/>
          <p:nvPr/>
        </p:nvSpPr>
        <p:spPr>
          <a:xfrm>
            <a:off x="1828800" y="5760720"/>
            <a:ext cx="8531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如果执行风险降为零，那你的核心竞争力在哪里？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7315200" y="6263640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这套方法需要什么技术支撑？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1430000" y="6263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技术框架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0" y="365760"/>
            <a:ext cx="6428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调教的技术基石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4114800" cy="411480"/>
          </a:xfrm>
          <a:prstGeom prst="roundRect">
            <a:avLst/>
          </a:prstGeom>
          <a:solidFill>
            <a:srgbClr val="8E44AD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4630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客户端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103120" y="14630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2 + Vant 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31520" y="1965960"/>
            <a:ext cx="4114800" cy="411480"/>
          </a:xfrm>
          <a:prstGeom prst="roundRect">
            <a:avLst/>
          </a:prstGeom>
          <a:solidFill>
            <a:srgbClr val="4A90E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9659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接入层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03120" y="19659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JWT统一校验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31520" y="2468880"/>
            <a:ext cx="4114800" cy="411480"/>
          </a:xfrm>
          <a:prstGeom prst="roundRect">
            <a:avLst/>
          </a:prstGeom>
          <a:solidFill>
            <a:srgbClr val="E67E22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4688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意图推理层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03120" y="24688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MCP-Skill引擎※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31520" y="2971800"/>
            <a:ext cx="4114800" cy="411480"/>
          </a:xfrm>
          <a:prstGeom prst="roundRect">
            <a:avLst/>
          </a:prstGeom>
          <a:solidFill>
            <a:srgbClr val="27AE60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29718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业务服务层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03120" y="29718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6大核心Service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31520" y="3474720"/>
            <a:ext cx="4114800" cy="411480"/>
          </a:xfrm>
          <a:prstGeom prst="roundRect">
            <a:avLst/>
          </a:prstGeom>
          <a:solidFill>
            <a:srgbClr val="1A5276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4747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数据持久层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103120" y="3474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MyBatis-Plus+MySQL加密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31520" y="3977640"/>
            <a:ext cx="4114800" cy="411480"/>
          </a:xfrm>
          <a:prstGeom prst="roundRect">
            <a:avLst/>
          </a:prstGeom>
          <a:solidFill>
            <a:srgbClr val="2C3E50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39776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基础设施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103120" y="3977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Docker容器化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03520" y="1097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MCP-Skill核心特性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03520" y="150876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标准化接口+ 动态注册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03520" y="1892808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安全分级：QUERY/执行两阶段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03520" y="2276856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结构化返回：回复+数据+导航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03520" y="2660904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LLM无关设计：当前规则，未来可切LLM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303520" y="3200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安全保护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03520" y="35204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身份认证 | 数据加密(bcrypt+AES) | 防攻击(锁定+30s防重复) | AOP审计日志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303520" y="3931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AI能力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03520" y="42519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智能客服 | 消费分析(10类+月报) | AI洞察引擎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31520" y="4754880"/>
            <a:ext cx="10725912" cy="640080"/>
          </a:xfrm>
          <a:prstGeom prst="roundRect">
            <a:avLst/>
          </a:prstGeom>
          <a:solidFill>
            <a:srgbClr val="FFF8E1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" y="48006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信任陷阱案例：余额正负号——“正负号”在财务语境中不是数学正负，而是“收入为正、支出为负”。AI按原始数学符号处理导致部分收入显示红色（错误），经过3次修改文档描述后才正确区分。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31520" y="5486400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MCP-Skill=自研AI能力封装框架：意图推理与业务执行解耦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31520" y="5852160"/>
            <a:ext cx="10725912" cy="320040"/>
          </a:xfrm>
          <a:prstGeom prst="roundRect">
            <a:avLst/>
          </a:prstGeom>
          <a:solidFill>
            <a:srgbClr val="E8F8F5"/>
          </a:solidFill>
          <a:ln/>
        </p:spPr>
      </p:sp>
      <p:sp>
        <p:nvSpPr>
          <p:cNvPr id="38" name="Text 36"/>
          <p:cNvSpPr/>
          <p:nvPr/>
        </p:nvSpPr>
        <p:spPr>
          <a:xfrm>
            <a:off x="914400" y="5852160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调教回看：架构每层的文档描追迭代了3-5版才达稳定，MCP-Skill边界定义是最难调的部分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315200" y="6263640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技术框架搭好了，但真正做起来才发现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430000" y="6263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真实挑战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0" y="365760"/>
            <a:ext cx="6428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调教中踩过的坑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88720"/>
            <a:ext cx="3566160" cy="384048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188720"/>
            <a:ext cx="3566160" cy="594360"/>
          </a:xfrm>
          <a:prstGeom prst="roundRect">
            <a:avLst/>
          </a:prstGeom>
          <a:solidFill>
            <a:srgbClr val="4A90E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8872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AI意图识别精度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965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挑战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240280"/>
            <a:ext cx="3200400" cy="914400"/>
          </a:xfrm>
          <a:prstGeom prst="roundRect">
            <a:avLst/>
          </a:prstGeom>
          <a:solidFill>
            <a:srgbClr val="FDEDE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2860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同一意图多种表达，边界情况层出不穷。成功调教1个意图平均失败3-4次。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291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应对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566160"/>
            <a:ext cx="3200400" cy="914400"/>
          </a:xfrm>
          <a:prstGeom prst="roundRect">
            <a:avLst/>
          </a:prstGeom>
          <a:solidFill>
            <a:srgbClr val="E8F8F5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6118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关键词+正则双模式+兜底引导。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89120" y="1188720"/>
            <a:ext cx="3566160" cy="384048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0" y="1188720"/>
            <a:ext cx="3566160" cy="594360"/>
          </a:xfrm>
          <a:prstGeom prst="roundRect">
            <a:avLst/>
          </a:prstGeom>
          <a:solidFill>
            <a:srgbClr val="E67E22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0" y="118872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AI代码的业务校验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0" y="1965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挑战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2240280"/>
            <a:ext cx="3200400" cy="914400"/>
          </a:xfrm>
          <a:prstGeom prst="roundRect">
            <a:avLst/>
          </a:prstGeom>
          <a:solidFill>
            <a:srgbClr val="FDEDEC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22860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AI代码语法完美，正因如此更容易被信任。但业务语义可能是错的。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0" y="3291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应对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3566160"/>
            <a:ext cx="3200400" cy="914400"/>
          </a:xfrm>
          <a:prstGeom prst="roundRect">
            <a:avLst/>
          </a:prstGeom>
          <a:solidFill>
            <a:srgbClr val="E8F8F5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36118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建立校验清单：金额符号→字段长度→分类规则。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29600" y="1188720"/>
            <a:ext cx="3566160" cy="384048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1188720"/>
            <a:ext cx="3566160" cy="594360"/>
          </a:xfrm>
          <a:prstGeom prst="roundRect">
            <a:avLst/>
          </a:prstGeom>
          <a:solidFill>
            <a:srgbClr val="E74C3C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118872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前后端契约对齐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412480" y="1965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挑战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412480" y="2240280"/>
            <a:ext cx="3200400" cy="914400"/>
          </a:xfrm>
          <a:prstGeom prst="roundRect">
            <a:avLst/>
          </a:prstGeom>
          <a:solidFill>
            <a:srgbClr val="FDEDEC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22860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前后端由AI独立生成，天然存在契约断裂。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12480" y="3291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应对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412480" y="3566160"/>
            <a:ext cx="3200400" cy="914400"/>
          </a:xfrm>
          <a:prstGeom prst="roundRect">
            <a:avLst/>
          </a:prstGeom>
          <a:solidFill>
            <a:srgbClr val="E8F8F5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36118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统一ReqBase规范 + 前后端结对生成。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371600" y="5303520"/>
            <a:ext cx="9445752" cy="50292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4A90E2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554480" y="5303520"/>
            <a:ext cx="9079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真实数据：成功调教1个意图，平均失败3-4次描述尝试。AI代码越漂亮，越需要警惕业务语义错误。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315200" y="6263640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每一个挑战，都是认知升级的来源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430000" y="6263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认知升级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0" y="365760"/>
            <a:ext cx="6428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四条递进的重新理解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417320"/>
            <a:ext cx="457200" cy="45720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1234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从「代码是产物」到「文档是产物」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463040" y="1645920"/>
            <a:ext cx="9144000" cy="9144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1737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代码变更是文档变更的编译结果。文档质量决定代码质量。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514600"/>
            <a:ext cx="457200" cy="45720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2331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从「AI写代码」到「AI理解业务」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463040" y="2743200"/>
            <a:ext cx="9144000" cy="9144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15" name="Text 13"/>
          <p:cNvSpPr/>
          <p:nvPr/>
        </p:nvSpPr>
        <p:spPr>
          <a:xfrm>
            <a:off x="1463040" y="2834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AI最强的不是生成代码，而是理解文档后生成代码。关键在文档写得对。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611880"/>
            <a:ext cx="457200" cy="45720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3429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从「编码能力」到「规格表达能力」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463040" y="3840480"/>
            <a:ext cx="9144000" cy="9144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20" name="Text 18"/>
          <p:cNvSpPr/>
          <p:nvPr/>
        </p:nvSpPr>
        <p:spPr>
          <a:xfrm>
            <a:off x="1463040" y="3931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最有价值的不是写代码的速度，而是把业务规则精确描述给AI的能力。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4709160"/>
            <a:ext cx="457200" cy="45720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709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63040" y="4526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从「把代码写对」到「让AI理解对」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463040" y="4937760"/>
            <a:ext cx="9144000" cy="9144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25" name="Text 23"/>
          <p:cNvSpPr/>
          <p:nvPr/>
        </p:nvSpPr>
        <p:spPr>
          <a:xfrm>
            <a:off x="1463040" y="5029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未来核心竞争力：不是你会写什么，而是你能否让AI正确理解你要什么。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371600" y="5760720"/>
            <a:ext cx="9445752" cy="50292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4A90E2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554480" y="5760720"/>
            <a:ext cx="9079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AI能写70%的代码——但那30%的架构决策和业务理解，才是你不可替代的价值。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15200" y="6263640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那实际成果呢？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430000" y="6263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成果数据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0" y="365760"/>
            <a:ext cx="6428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量化验证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2651760" cy="137160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2651760" cy="4572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17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API接口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1945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6大业务模块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37560" y="1280160"/>
            <a:ext cx="2651760" cy="137160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280160"/>
            <a:ext cx="2651760" cy="45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417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337560" y="18745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数据库表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21945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物理设计+索引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0" y="1280160"/>
            <a:ext cx="2651760" cy="137160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280160"/>
            <a:ext cx="2651760" cy="45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1417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217920" y="18745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前端页面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21945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完整交互体验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098280" y="1280160"/>
            <a:ext cx="2651760" cy="137160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98280" y="1280160"/>
            <a:ext cx="2651760" cy="4572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3" name="Text 21"/>
          <p:cNvSpPr/>
          <p:nvPr/>
        </p:nvSpPr>
        <p:spPr>
          <a:xfrm>
            <a:off x="9098280" y="1417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9098280" y="18745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专业文档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098280" y="21945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全流程可追溯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926080"/>
            <a:ext cx="2651760" cy="137160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2926080"/>
            <a:ext cx="2651760" cy="457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063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70%+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457200" y="35204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代码AI生成率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38404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人工聚焦决策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37560" y="2926080"/>
            <a:ext cx="2651760" cy="137160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37560" y="2926080"/>
            <a:ext cx="2651760" cy="457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3" name="Text 31"/>
          <p:cNvSpPr/>
          <p:nvPr/>
        </p:nvSpPr>
        <p:spPr>
          <a:xfrm>
            <a:off x="3337560" y="3063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3337560" y="35204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Skill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337560" y="38404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可插拔AI单元</a:t>
            </a:r>
            <a:endParaRPr lang="en-US" sz="900" dirty="0"/>
          </a:p>
        </p:txBody>
      </p:sp>
      <p:pic>
        <p:nvPicPr>
          <p:cNvPr id="36" name="Image 0" descr="F:\code\bank\bank\screenshots\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4572000"/>
            <a:ext cx="914400" cy="1554480"/>
          </a:xfrm>
          <a:prstGeom prst="rect">
            <a:avLst/>
          </a:prstGeom>
        </p:spPr>
      </p:pic>
      <p:pic>
        <p:nvPicPr>
          <p:cNvPr id="37" name="Image 1" descr="F:\code\bank\bank\screenshots\ai-transactio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554480" y="4572000"/>
            <a:ext cx="914400" cy="1554480"/>
          </a:xfrm>
          <a:prstGeom prst="rect">
            <a:avLst/>
          </a:prstGeom>
        </p:spPr>
      </p:pic>
      <p:pic>
        <p:nvPicPr>
          <p:cNvPr id="38" name="Image 2" descr="F:\code\bank\bank\screenshots\consumption-analysi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651760" y="4572000"/>
            <a:ext cx="914400" cy="1554480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3840480" y="4937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数据来源证据：左起=AI对话截图 / 消费分析截图 / 首页截图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1371600" y="5852160"/>
            <a:ext cx="9445752" cy="45720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4A90E2"/>
            </a:solidFill>
            <a:prstDash val="dash"/>
          </a:ln>
        </p:spPr>
      </p:sp>
      <p:sp>
        <p:nvSpPr>
          <p:cNvPr id="41" name="Text 36"/>
          <p:cNvSpPr/>
          <p:nvPr/>
        </p:nvSpPr>
        <p:spPr>
          <a:xfrm>
            <a:off x="1554480" y="5852160"/>
            <a:ext cx="9079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这些数据证明：AI原生研发不仅可行，而且能真正产出可用产品。但比数据更重要的是认知升级。</a:t>
            </a:r>
            <a:endParaRPr lang="en-US" sz="1200" dirty="0"/>
          </a:p>
        </p:txBody>
      </p:sp>
      <p:sp>
        <p:nvSpPr>
          <p:cNvPr id="42" name="Text 37"/>
          <p:cNvSpPr/>
          <p:nvPr/>
        </p:nvSpPr>
        <p:spPr>
          <a:xfrm>
            <a:off x="7315200" y="6263640"/>
            <a:ext cx="4142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回到最初的问题</a:t>
            </a:r>
            <a:endParaRPr lang="en-US" sz="1000" dirty="0"/>
          </a:p>
        </p:txBody>
      </p:sp>
      <p:sp>
        <p:nvSpPr>
          <p:cNvPr id="43" name="Text 38"/>
          <p:cNvSpPr/>
          <p:nvPr/>
        </p:nvSpPr>
        <p:spPr>
          <a:xfrm>
            <a:off x="11430000" y="6263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46304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以前我们学习写代码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让计算机理解我们的逻辑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0" y="2834640"/>
            <a:ext cx="3959352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0040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现在我们学习写文档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让AI理解我们的业务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475488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源于竞赛，不止于竞赛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5943600"/>
            <a:ext cx="12188952" cy="36576"/>
          </a:xfrm>
          <a:prstGeom prst="rect">
            <a:avLst/>
          </a:prstGeom>
          <a:solidFill>
            <a:srgbClr val="4A90E2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2026-05-06T14:51:15Z</dcterms:created>
  <dcterms:modified xsi:type="dcterms:W3CDTF">2026-05-06T14:51:15Z</dcterms:modified>
</cp:coreProperties>
</file>