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各位评委好。今天我分享的主题是“源于竞赛，不止于竞赛”——我们从一个AI竞赛出发，最终收获的却不只是竞赛本身。
在短短几周内，我们用AI原生的研发方式，从零构建了一个完整的手机银行核心系统。更重要的，是在这个过程中，我们对“研发”这件事本身有了全新的理解。
今天的分享分三个篇章：先看成果证明完成度，再听历程讲述方法，最后我们一起思考——AI时代，一个研发人员的核心竞争力究竟是什么。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个篇章层层递进。第一篇，我先展示系统的真实截图——功能全景和三大AI创新能力，证明系统是真的跑起来了的。第二篇，我会讲述研发过程中最关键的转折点——我们是怎么从“让AI写代码”到“让AI理解业务”的。第三篇，我想把沉淀下来的认知升级分享给大家——因为比成果更重要的，是我们对研发这件事的理解发生了根本性的变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看成果。左侧是我们的系统首页——真实的运行截图。总资产十七万多，正负号清晰区分收支方向；五大快捷功能覆盖转账、查询、缴费等核心场景；两个AI能力入口内置在首页上。这不是概念设计，这是已经跑通的系统。十大功能模块、三十多个API接口、二十四个前端页面，全部由AI原生研发方式完成。接下来，我们看看核心创新——AI能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个AI能力，每个都有真实截图。左边是智能客服——用户说“我要看我最近的消费记录”，AI理解意图，返回结构化的交易列表。中间是消费分析——十大消费分类，两百多个关键词，自动生成月度洞察文案。右边是安全转账——用户说“转账给张三一百块”，AI提取参数，两阶段确认流程。每个能力都跑通了从用户输入到业务完成的全链路。所有能力都基于我们自研的MCP-Skill架构——大模型只负责理解和推理，业务操作通过Skill委托给后端API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系统你们看到了。但它是怎么做出来的？我们并不是一开始就带着方法论上路的。实际上，在这个项目之前，我们经历了三个典型的研发痛点。第一，需求和代码的分裂——需求一变，代码和文档立刻脱节。第二，大量时间花在重复的CRUD上，真正有价值的架构思考时间被压缩。第三，传统沟通链条太长——产品到文档到开发，层层理解产生偏差。这三个痛点促使我们去思考：有没有一个更好的研发方式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整个项目最重要的一个顿悟。最开始我们的做法很简单——让AI写代码，出BUG直接改代码。听起来很高效，对吧？但一个现象反复出现：修好的老BUG，在新功能中又冒出来了。花了一整天才意识到——AI不是基于我们最新代码来理解的，它是基于文档来理解的。你不改文档，AI根本不知道你做过什么修改。从那一刻起，规矩彻底变了：先改文档，再生成代码。代码变更，只是文档变更的编译结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基于这个认知，我们形成了以文档为中心的闭环迭代法。核心模型在这一页：文档在中央，四个步骤不断循环——修改文档，AI生成代码，代码Review，发现问题，再回到修改文档。下面是我们从实操中沉淀的五条纪律：文档先行、增量变更、不改旧代码、记录变更、同步更新。每一条都是从真实的失败中总结出来的。最下面是我真实的调教日志节选——二六年四月二十五日，余额正负号问题。文档从“正数收入负数支出”改为“交易金额以方向符号标识，收入为正、支出为负”。就这一句话的改动，AI代码立刻正确。这就是文档驱动闭环的力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套方法与传统的研发方式到底有什么本质区别？看这张对比表。传统研发的核心产物是代码，人的角色是编码者。AI原生的核心产物是文档，人的角色变成了调教师和规格工程师。最微妙的是最后两行——执行风险和设计风险的逆转。AI写的代码语法一定是对的，所以执行风险降到了零。但设计风险却升高了——最难的事情变成了“如何精确告诉AI你要什么”。如果执行风险不再是问题，那你的核心竞争力究竟在哪里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套方法需要技术的支撑。我们采用了全栈架构，六层结构从客户端到数据持久化层。核心是中间这一层——我们自研的MCP-Skill引擎，实现了意图推理与业务执行的解耦。右侧是MCP-Skill的四个核心特性，特别强调第四点——LLM无关设计，当前这套规则未来可以切换任何大语言模型。底部的黄色区域是一个重要的信任陷阱案例：余额正负号问题。AI代码语法完全正确，但业务语义是错的——这是AI原生研发中最危险也最容易忽略的问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当然，过程中充满了挑战。我重点分享三个。第一个，AI意图识别精度——同一个意图有几十种不同的表达方式，边界情况层出不穷。真实数据是：成功调教一个意图，平均失败三到四次描述尝试。第二个，AI代码的业务校验——AI代码语法完美，正因为如此，更容易被信任，但业务语义可能是错的。第三个，前后端契约对齐——前后端由AI独立生成，天然存在契约断裂的风险。底部的这句话是我最深的感触：AI代码越漂亮，越需要警惕业务语义的错误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每一个挑战的背后，都是一次认知的升级。这是四条递进式的重新理解。第一条也是最根本的——从“代码是产物”到“文档是产物”。代码变更只是文档变更的编译结果。第二条——从“AI写代码”到“AI理解业务”。AI最强的不是生成代码，而是理解文档后生成代码。第三条——从“编码能力”到“规格表达能力”。最有价值的不是写代码的速度，而是把业务规则精确描述给AI的能力。第四条——从“把代码写对”到“让AI理解对”。未来核心竞争力不是你会写什么代码，而是你能否让AI正确理解你要什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认知升级是内在的收获，但外在的成果同样重要。这六个数据卡片展示了项目的量化成果：三十多个API接口、八个数据库表、二十四个前端页面、七份专业文档、百分之七十以上的代码由AI生成、三个可插拔的MCP Skill。底部这三张截图就是数据的来源证据——AI对话截图、消费分析截图、首页截图。这些数据说明：AI原生研发不仅可行，而且能真正产出可用的产品。但正如前面所说，比数据更重要的，是我们在这一路上对研发认知的根本性升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位评委，今天我从三个篇章分享了这次AI原生研发的实践。如果AI能写百分之七十的代码，那么一个优秀的研发人员的核心竞争力应该是什么？是更快的编码速度，还是让AI更好地理解业务的能力？以前我们学习写代码，是为了让计算机理解我们的逻辑。现在我们学习写文档，是为了让AI理解我们的业务。这个转变，可能比我们想象的更加深刻。谢谢大家，欢迎提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36576"/>
          </a:xfrm>
          <a:prstGeom prst="rect">
            <a:avLst/>
          </a:prstGeom>
          <a:solidFill>
            <a:srgbClr val="4A90E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463040"/>
            <a:ext cx="1072591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源于竞赛，不止于竞赛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731520" y="2377440"/>
            <a:ext cx="1072591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AI原生研发的认知跃迁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114800" y="3291840"/>
            <a:ext cx="3959352" cy="36576"/>
          </a:xfrm>
          <a:prstGeom prst="rect">
            <a:avLst/>
          </a:prstGeom>
          <a:solidFill>
            <a:srgbClr val="4A90E2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3566160"/>
            <a:ext cx="1072591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以手机银行为载体的调教实录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5120640"/>
            <a:ext cx="10725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手机银行核心业务系统 · 项目展示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4A90E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4572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目录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029200" y="365760"/>
            <a:ext cx="64282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三部分构成全部内容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31520" y="868680"/>
            <a:ext cx="1097280" cy="36576"/>
          </a:xfrm>
          <a:prstGeom prst="rect">
            <a:avLst/>
          </a:prstGeom>
          <a:solidFill>
            <a:srgbClr val="4A90E2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1371600"/>
            <a:ext cx="3383280" cy="2286000"/>
          </a:xfrm>
          <a:prstGeom prst="roundRect">
            <a:avLst/>
          </a:prstGeom>
          <a:solidFill>
            <a:srgbClr val="F8FAFC"/>
          </a:solidFill>
          <a:ln w="6350">
            <a:solidFill>
              <a:srgbClr val="D5D8D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1371600"/>
            <a:ext cx="3383280" cy="502920"/>
          </a:xfrm>
          <a:prstGeom prst="roundRect">
            <a:avLst/>
          </a:prstGeom>
          <a:solidFill>
            <a:srgbClr val="4A90E2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371600"/>
            <a:ext cx="3383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88720" y="210312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成果展示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188720" y="2651760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系统全景与核心创新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663440" y="1371600"/>
            <a:ext cx="3383280" cy="2286000"/>
          </a:xfrm>
          <a:prstGeom prst="roundRect">
            <a:avLst/>
          </a:prstGeom>
          <a:solidFill>
            <a:srgbClr val="F8FAFC"/>
          </a:solidFill>
          <a:ln w="6350">
            <a:solidFill>
              <a:srgbClr val="D5D8D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63440" y="1371600"/>
            <a:ext cx="3383280" cy="502920"/>
          </a:xfrm>
          <a:prstGeom prst="roundRect">
            <a:avLst/>
          </a:prstGeom>
          <a:solidFill>
            <a:srgbClr val="E67E22"/>
          </a:solidFill>
          <a:ln/>
        </p:spPr>
      </p:sp>
      <p:sp>
        <p:nvSpPr>
          <p:cNvPr id="13" name="Text 11"/>
          <p:cNvSpPr/>
          <p:nvPr/>
        </p:nvSpPr>
        <p:spPr>
          <a:xfrm>
            <a:off x="4663440" y="1371600"/>
            <a:ext cx="3383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937760" y="210312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研发历程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937760" y="2651760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从痛点、顿悟到方法论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412480" y="1371600"/>
            <a:ext cx="3383280" cy="2286000"/>
          </a:xfrm>
          <a:prstGeom prst="roundRect">
            <a:avLst/>
          </a:prstGeom>
          <a:solidFill>
            <a:srgbClr val="F8FAFC"/>
          </a:solidFill>
          <a:ln w="6350">
            <a:solidFill>
              <a:srgbClr val="D5D8D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412480" y="1371600"/>
            <a:ext cx="3383280" cy="502920"/>
          </a:xfrm>
          <a:prstGeom prst="roundRect">
            <a:avLst/>
          </a:prstGeom>
          <a:solidFill>
            <a:srgbClr val="27AE60"/>
          </a:solidFill>
          <a:ln/>
        </p:spPr>
      </p:sp>
      <p:sp>
        <p:nvSpPr>
          <p:cNvPr id="18" name="Text 16"/>
          <p:cNvSpPr/>
          <p:nvPr/>
        </p:nvSpPr>
        <p:spPr>
          <a:xfrm>
            <a:off x="8412480" y="1371600"/>
            <a:ext cx="3383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686800" y="210312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反思与展望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8686800" y="2651760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认知升级与思考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828800" y="4114800"/>
            <a:ext cx="85313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 → Part 2 → Part 3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828800" y="4754880"/>
            <a:ext cx="85313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三个篇章层层递进：先看成果、再听历程、最后共同思考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2743200" y="5212080"/>
            <a:ext cx="6702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 成果展示 · Part 2 研发历程 · Part 3 反思与展望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4A90E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4572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功能全景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029200" y="365760"/>
            <a:ext cx="64282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手机银行核心系统实景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31520" y="868680"/>
            <a:ext cx="1097280" cy="36576"/>
          </a:xfrm>
          <a:prstGeom prst="rect">
            <a:avLst/>
          </a:prstGeom>
          <a:solidFill>
            <a:srgbClr val="4A90E2"/>
          </a:solidFill>
          <a:ln/>
        </p:spPr>
      </p:sp>
      <p:pic>
        <p:nvPicPr>
          <p:cNvPr id="6" name="Image 0" descr="F:\code\bank\bank\screenshots\hom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005840"/>
            <a:ext cx="2926080" cy="52120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657600" y="1097280"/>
            <a:ext cx="7772400" cy="1280160"/>
          </a:xfrm>
          <a:prstGeom prst="roundRect">
            <a:avLst/>
          </a:prstGeom>
          <a:solidFill>
            <a:srgbClr val="F8FAFC"/>
          </a:solidFill>
          <a:ln w="6350">
            <a:solidFill>
              <a:srgbClr val="D5D8D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931920" y="1280160"/>
            <a:ext cx="457200" cy="457200"/>
          </a:xfrm>
          <a:prstGeom prst="ellipse">
            <a:avLst/>
          </a:prstGeom>
          <a:solidFill>
            <a:srgbClr val="4A90E2"/>
          </a:solidFill>
          <a:ln/>
        </p:spPr>
      </p:sp>
      <p:sp>
        <p:nvSpPr>
          <p:cNvPr id="9" name="Text 6"/>
          <p:cNvSpPr/>
          <p:nvPr/>
        </p:nvSpPr>
        <p:spPr>
          <a:xfrm>
            <a:off x="3931920" y="12801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4663440" y="123444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总资产实时查看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4663440" y="164592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实时账户余额，正负号区分收支方向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657600" y="2651760"/>
            <a:ext cx="7772400" cy="1280160"/>
          </a:xfrm>
          <a:prstGeom prst="roundRect">
            <a:avLst/>
          </a:prstGeom>
          <a:solidFill>
            <a:srgbClr val="F8FAFC"/>
          </a:solidFill>
          <a:ln w="6350">
            <a:solidFill>
              <a:srgbClr val="D5D8D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931920" y="2834640"/>
            <a:ext cx="457200" cy="457200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4" name="Text 11"/>
          <p:cNvSpPr/>
          <p:nvPr/>
        </p:nvSpPr>
        <p:spPr>
          <a:xfrm>
            <a:off x="3931920" y="2834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4663440" y="278892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5大快捷功能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4663440" y="320040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转账、交易记录、生活缴费、银行卡、安全中心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3657600" y="4206240"/>
            <a:ext cx="7772400" cy="1280160"/>
          </a:xfrm>
          <a:prstGeom prst="roundRect">
            <a:avLst/>
          </a:prstGeom>
          <a:solidFill>
            <a:srgbClr val="F8FAFC"/>
          </a:solidFill>
          <a:ln w="6350">
            <a:solidFill>
              <a:srgbClr val="D5D8D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931920" y="4389120"/>
            <a:ext cx="457200" cy="457200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9" name="Text 16"/>
          <p:cNvSpPr/>
          <p:nvPr/>
        </p:nvSpPr>
        <p:spPr>
          <a:xfrm>
            <a:off x="3931920" y="4389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4663440" y="434340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AI能力集成入口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4663440" y="475488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AI助手+消费分析两大AI核心能力一键进入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731520" y="6126480"/>
            <a:ext cx="10725912" cy="365760"/>
          </a:xfrm>
          <a:prstGeom prst="roundRect">
            <a:avLst/>
          </a:prstGeom>
          <a:solidFill>
            <a:srgbClr val="EBF5FB"/>
          </a:solidFill>
          <a:ln/>
        </p:spPr>
      </p:sp>
      <p:sp>
        <p:nvSpPr>
          <p:cNvPr id="23" name="Text 20"/>
          <p:cNvSpPr/>
          <p:nvPr/>
        </p:nvSpPr>
        <p:spPr>
          <a:xfrm>
            <a:off x="914400" y="6126480"/>
            <a:ext cx="103601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10大功能模块 · 30+ API接口 · 24页前端 · 全部AI原生研发完成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7315200" y="6263640"/>
            <a:ext cx="41422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接下来：AI创新三大能力的真实演示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11430000" y="626364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4A90E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4572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AI创新能力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029200" y="365760"/>
            <a:ext cx="64282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智能客服 · 消费分析 · 安全转账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31520" y="868680"/>
            <a:ext cx="1097280" cy="36576"/>
          </a:xfrm>
          <a:prstGeom prst="rect">
            <a:avLst/>
          </a:prstGeom>
          <a:solidFill>
            <a:srgbClr val="4A90E2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097280"/>
            <a:ext cx="3566160" cy="4846320"/>
          </a:xfrm>
          <a:prstGeom prst="roundRect">
            <a:avLst/>
          </a:prstGeom>
          <a:solidFill>
            <a:srgbClr val="F8FAFC"/>
          </a:solidFill>
          <a:ln w="6350">
            <a:solidFill>
              <a:srgbClr val="D5D8D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097280"/>
            <a:ext cx="3566160" cy="54864"/>
          </a:xfrm>
          <a:prstGeom prst="rect">
            <a:avLst/>
          </a:prstGeom>
          <a:solidFill>
            <a:srgbClr val="4A90E2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28016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智能客服</a:t>
            </a:r>
            <a:endParaRPr lang="en-US" sz="1600" dirty="0"/>
          </a:p>
        </p:txBody>
      </p:sp>
      <p:pic>
        <p:nvPicPr>
          <p:cNvPr id="9" name="Image 0" descr="F:\code\bank\bank\screenshots\ai-transacti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14400" y="1737360"/>
            <a:ext cx="2651760" cy="329184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31520" y="512064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自然语言→意图识别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731520" y="544068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Skill路由→结构化返回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297680" y="1097280"/>
            <a:ext cx="3566160" cy="4846320"/>
          </a:xfrm>
          <a:prstGeom prst="roundRect">
            <a:avLst/>
          </a:prstGeom>
          <a:solidFill>
            <a:srgbClr val="F8FAFC"/>
          </a:solidFill>
          <a:ln w="6350">
            <a:solidFill>
              <a:srgbClr val="D5D8D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297680" y="1097280"/>
            <a:ext cx="3566160" cy="54864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14" name="Text 11"/>
          <p:cNvSpPr/>
          <p:nvPr/>
        </p:nvSpPr>
        <p:spPr>
          <a:xfrm>
            <a:off x="4572000" y="128016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消费分析</a:t>
            </a:r>
            <a:endParaRPr lang="en-US" sz="1600" dirty="0"/>
          </a:p>
        </p:txBody>
      </p:sp>
      <p:pic>
        <p:nvPicPr>
          <p:cNvPr id="15" name="Image 1" descr="F:\code\bank\bank\screenshots\consumption-analysi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54880" y="1737360"/>
            <a:ext cx="2651760" cy="329184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4572000" y="512064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10大分类·200+关键词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4572000" y="544068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AI自动分析·月度报告文案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8138160" y="1097280"/>
            <a:ext cx="3566160" cy="4846320"/>
          </a:xfrm>
          <a:prstGeom prst="roundRect">
            <a:avLst/>
          </a:prstGeom>
          <a:solidFill>
            <a:srgbClr val="F8FAFC"/>
          </a:solidFill>
          <a:ln w="6350">
            <a:solidFill>
              <a:srgbClr val="D5D8DC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8138160" y="1097280"/>
            <a:ext cx="3566160" cy="54864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20" name="Text 16"/>
          <p:cNvSpPr/>
          <p:nvPr/>
        </p:nvSpPr>
        <p:spPr>
          <a:xfrm>
            <a:off x="8412480" y="128016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安全转账</a:t>
            </a:r>
            <a:endParaRPr lang="en-US" sz="1600" dirty="0"/>
          </a:p>
        </p:txBody>
      </p:sp>
      <p:pic>
        <p:nvPicPr>
          <p:cNvPr id="21" name="Image 2" descr="F:\code\bank\bank\screenshots\ai-transfer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595360" y="1737360"/>
            <a:ext cx="2651760" cy="3291840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8412480" y="512064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两阶段确认流程</a:t>
            </a:r>
            <a:endParaRPr lang="en-US" sz="1100" dirty="0"/>
          </a:p>
        </p:txBody>
      </p:sp>
      <p:sp>
        <p:nvSpPr>
          <p:cNvPr id="23" name="Text 18"/>
          <p:cNvSpPr/>
          <p:nvPr/>
        </p:nvSpPr>
        <p:spPr>
          <a:xfrm>
            <a:off x="8412480" y="544068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转账密码·防欺骗警告</a:t>
            </a:r>
            <a:endParaRPr lang="en-US" sz="1100" dirty="0"/>
          </a:p>
        </p:txBody>
      </p:sp>
      <p:sp>
        <p:nvSpPr>
          <p:cNvPr id="24" name="Text 19"/>
          <p:cNvSpPr/>
          <p:nvPr/>
        </p:nvSpPr>
        <p:spPr>
          <a:xfrm>
            <a:off x="731520" y="6080760"/>
            <a:ext cx="107259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※ 以上能力均基于自研MCP-Skill架构实现：大模型只负责理解与推理，业务操作通过Skill委托给后端API</a:t>
            </a:r>
            <a:endParaRPr lang="en-US" sz="900" dirty="0"/>
          </a:p>
        </p:txBody>
      </p:sp>
      <p:sp>
        <p:nvSpPr>
          <p:cNvPr id="25" name="Text 20"/>
          <p:cNvSpPr/>
          <p:nvPr/>
        </p:nvSpPr>
        <p:spPr>
          <a:xfrm>
            <a:off x="7315200" y="6263640"/>
            <a:ext cx="41422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接下来：这些能力为什么会被创造出来？</a:t>
            </a:r>
            <a:endParaRPr lang="en-US" sz="1000" dirty="0"/>
          </a:p>
        </p:txBody>
      </p:sp>
      <p:sp>
        <p:nvSpPr>
          <p:cNvPr id="26" name="Text 21"/>
          <p:cNvSpPr/>
          <p:nvPr/>
        </p:nvSpPr>
        <p:spPr>
          <a:xfrm>
            <a:off x="11430000" y="626364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4A90E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4572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痛点驱动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029200" y="365760"/>
            <a:ext cx="64282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传统研发中亲身经历的三个问题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31520" y="868680"/>
            <a:ext cx="1097280" cy="36576"/>
          </a:xfrm>
          <a:prstGeom prst="rect">
            <a:avLst/>
          </a:prstGeom>
          <a:solidFill>
            <a:srgbClr val="4A90E2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1887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传统研发的痛点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1737360"/>
            <a:ext cx="5029200" cy="1188720"/>
          </a:xfrm>
          <a:prstGeom prst="roundRect">
            <a:avLst/>
          </a:prstGeom>
          <a:solidFill>
            <a:srgbClr val="F8FAFC"/>
          </a:solidFill>
          <a:ln w="6350">
            <a:solidFill>
              <a:srgbClr val="D5D8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182880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 痛点 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14400" y="2194560"/>
            <a:ext cx="46634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需求一变更，代码和文档立刻分裂，维护成本飙升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31520" y="3200400"/>
            <a:ext cx="5029200" cy="1188720"/>
          </a:xfrm>
          <a:prstGeom prst="roundRect">
            <a:avLst/>
          </a:prstGeom>
          <a:solidFill>
            <a:srgbClr val="F8FAFC"/>
          </a:solidFill>
          <a:ln w="6350">
            <a:solidFill>
              <a:srgbClr val="D5D8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329184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 痛点 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14400" y="3657600"/>
            <a:ext cx="46634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大部分时间花在重复CRUD，架构思考时间被压缩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31520" y="4663440"/>
            <a:ext cx="5029200" cy="1188720"/>
          </a:xfrm>
          <a:prstGeom prst="roundRect">
            <a:avLst/>
          </a:prstGeom>
          <a:solidFill>
            <a:srgbClr val="F8FAFC"/>
          </a:solidFill>
          <a:ln w="6350">
            <a:solidFill>
              <a:srgbClr val="D5D8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475488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 痛点 3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14400" y="5120640"/>
            <a:ext cx="46634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沟通链条：产品→文档→开发，层层理解偏差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00800" y="11887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AI原生研发的回答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400800" y="1737360"/>
            <a:ext cx="5029200" cy="1188720"/>
          </a:xfrm>
          <a:prstGeom prst="roundRect">
            <a:avLst/>
          </a:prstGeom>
          <a:solidFill>
            <a:srgbClr val="F8FAFC"/>
          </a:solidFill>
          <a:ln w="6350">
            <a:solidFill>
              <a:srgbClr val="D5D8D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00800" y="1737360"/>
            <a:ext cx="73152" cy="1188720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9" name="Text 17"/>
          <p:cNvSpPr/>
          <p:nvPr/>
        </p:nvSpPr>
        <p:spPr>
          <a:xfrm>
            <a:off x="6675120" y="1920240"/>
            <a:ext cx="4572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文档即代码：改文档描述=改系统行为，天然一致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0" y="3200400"/>
            <a:ext cx="5029200" cy="1188720"/>
          </a:xfrm>
          <a:prstGeom prst="roundRect">
            <a:avLst/>
          </a:prstGeom>
          <a:solidFill>
            <a:srgbClr val="F8FAFC"/>
          </a:solidFill>
          <a:ln w="6350">
            <a:solidFill>
              <a:srgbClr val="D5D8D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00800" y="3200400"/>
            <a:ext cx="73152" cy="1188720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22" name="Text 20"/>
          <p:cNvSpPr/>
          <p:nvPr/>
        </p:nvSpPr>
        <p:spPr>
          <a:xfrm>
            <a:off x="6675120" y="3383280"/>
            <a:ext cx="4572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AI代写70%代码，人聚焦架构设计与AI调教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663440"/>
            <a:ext cx="5029200" cy="1188720"/>
          </a:xfrm>
          <a:prstGeom prst="roundRect">
            <a:avLst/>
          </a:prstGeom>
          <a:solidFill>
            <a:srgbClr val="F8FAFC"/>
          </a:solidFill>
          <a:ln w="6350">
            <a:solidFill>
              <a:srgbClr val="D5D8D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0" y="4663440"/>
            <a:ext cx="73152" cy="1188720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25" name="Text 23"/>
          <p:cNvSpPr/>
          <p:nvPr/>
        </p:nvSpPr>
        <p:spPr>
          <a:xfrm>
            <a:off x="6675120" y="4846320"/>
            <a:ext cx="4572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文档直接面向AI，人-AI之间没有理解损耗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31520" y="6309360"/>
            <a:ext cx="107259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※ MVP=最小可行产品；P0/P1/P2=需求优先级等级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7315200" y="6263640"/>
            <a:ext cx="41422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接下来：一次调教中的顿悟改变了方向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1430000" y="626364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4A90E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4572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认知拐点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029200" y="365760"/>
            <a:ext cx="64282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一次调教中的顿悟时刻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31520" y="868680"/>
            <a:ext cx="1097280" cy="36576"/>
          </a:xfrm>
          <a:prstGeom prst="rect">
            <a:avLst/>
          </a:prstGeom>
          <a:solidFill>
            <a:srgbClr val="4A90E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097280"/>
            <a:ext cx="5303520" cy="4754880"/>
          </a:xfrm>
          <a:prstGeom prst="roundRect">
            <a:avLst/>
          </a:prstGeom>
          <a:solidFill>
            <a:srgbClr val="F8FAFC"/>
          </a:solidFill>
          <a:ln w="6350">
            <a:solidFill>
              <a:srgbClr val="D5D8D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097280"/>
            <a:ext cx="5303520" cy="54864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28016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Before：代码优先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14400" y="1828800"/>
            <a:ext cx="45720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拿到需求 → 让AI写代码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出BUG → 直接改代码修复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新需求 → AI重新生成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老BUG再现——因为文档没有同步修改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14400" y="484632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这不是代码的问题，是文档的问题。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309360" y="1097280"/>
            <a:ext cx="5303520" cy="4754880"/>
          </a:xfrm>
          <a:prstGeom prst="roundRect">
            <a:avLst/>
          </a:prstGeom>
          <a:solidFill>
            <a:srgbClr val="F8FAFC"/>
          </a:solidFill>
          <a:ln w="6350">
            <a:solidFill>
              <a:srgbClr val="D5D8D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09360" y="1097280"/>
            <a:ext cx="5303520" cy="54864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3" name="Text 11"/>
          <p:cNvSpPr/>
          <p:nvPr/>
        </p:nvSpPr>
        <p:spPr>
          <a:xfrm>
            <a:off x="6492240" y="128016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After：文档先行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675120" y="1828800"/>
            <a:ext cx="45720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拿到需求 → 先修改文档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让AI按新文档生成代码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Review → 发现语义偏差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回头修改文档描述 → 再生成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代码变更是文档变更的“编译结果”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303520" y="2926080"/>
            <a:ext cx="1581912" cy="548640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6" name="Text 14"/>
          <p:cNvSpPr/>
          <p:nvPr/>
        </p:nvSpPr>
        <p:spPr>
          <a:xfrm>
            <a:off x="5303520" y="2926080"/>
            <a:ext cx="158191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顿悟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2286000" y="6035040"/>
            <a:ext cx="7616952" cy="457200"/>
          </a:xfrm>
          <a:prstGeom prst="roundRect">
            <a:avLst/>
          </a:prstGeom>
          <a:solidFill>
            <a:srgbClr val="EBF5FB"/>
          </a:solidFill>
          <a:ln w="6350">
            <a:solidFill>
              <a:srgbClr val="4A90E2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2468880" y="6035040"/>
            <a:ext cx="72511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文档不是说明书，文档是源代码。代码变更只是文档变更的编译结果。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315200" y="6263640"/>
            <a:ext cx="41422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接下来：基于这个认知，我们形成了闭环方法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1430000" y="626364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4A90E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4572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文档驱动闭环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029200" y="365760"/>
            <a:ext cx="64282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以文档为中心的迭代闭环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31520" y="868680"/>
            <a:ext cx="1097280" cy="36576"/>
          </a:xfrm>
          <a:prstGeom prst="rect">
            <a:avLst/>
          </a:prstGeom>
          <a:solidFill>
            <a:srgbClr val="4A90E2"/>
          </a:solidFill>
          <a:ln/>
        </p:spPr>
      </p:sp>
      <p:sp>
        <p:nvSpPr>
          <p:cNvPr id="6" name="Shape 4"/>
          <p:cNvSpPr/>
          <p:nvPr/>
        </p:nvSpPr>
        <p:spPr>
          <a:xfrm>
            <a:off x="4754880" y="1188720"/>
            <a:ext cx="2560320" cy="914400"/>
          </a:xfrm>
          <a:prstGeom prst="ellipse">
            <a:avLst/>
          </a:prstGeom>
          <a:solidFill>
            <a:srgbClr val="4A90E2"/>
          </a:solidFill>
          <a:ln/>
        </p:spPr>
      </p:sp>
      <p:sp>
        <p:nvSpPr>
          <p:cNvPr id="7" name="Text 5"/>
          <p:cNvSpPr/>
          <p:nvPr/>
        </p:nvSpPr>
        <p:spPr>
          <a:xfrm>
            <a:off x="4754880" y="1188720"/>
            <a:ext cx="2560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文档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4389120" y="365760"/>
            <a:ext cx="2926080" cy="457200"/>
          </a:xfrm>
          <a:prstGeom prst="roundRect">
            <a:avLst/>
          </a:prstGeom>
          <a:solidFill>
            <a:srgbClr val="E67E22"/>
          </a:solidFill>
          <a:ln/>
        </p:spPr>
      </p:sp>
      <p:sp>
        <p:nvSpPr>
          <p:cNvPr id="9" name="Text 7"/>
          <p:cNvSpPr/>
          <p:nvPr/>
        </p:nvSpPr>
        <p:spPr>
          <a:xfrm>
            <a:off x="4389120" y="36576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修改文档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8503920" y="1645920"/>
            <a:ext cx="2926080" cy="457200"/>
          </a:xfrm>
          <a:prstGeom prst="roundRect">
            <a:avLst/>
          </a:prstGeom>
          <a:solidFill>
            <a:srgbClr val="27AE60"/>
          </a:solidFill>
          <a:ln/>
        </p:spPr>
      </p:sp>
      <p:sp>
        <p:nvSpPr>
          <p:cNvPr id="11" name="Text 9"/>
          <p:cNvSpPr/>
          <p:nvPr/>
        </p:nvSpPr>
        <p:spPr>
          <a:xfrm>
            <a:off x="8503920" y="164592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AI生成代码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389120" y="2926080"/>
            <a:ext cx="2926080" cy="457200"/>
          </a:xfrm>
          <a:prstGeom prst="roundRect">
            <a:avLst/>
          </a:prstGeom>
          <a:solidFill>
            <a:srgbClr val="1A5276"/>
          </a:solidFill>
          <a:ln/>
        </p:spPr>
      </p:sp>
      <p:sp>
        <p:nvSpPr>
          <p:cNvPr id="13" name="Text 11"/>
          <p:cNvSpPr/>
          <p:nvPr/>
        </p:nvSpPr>
        <p:spPr>
          <a:xfrm>
            <a:off x="4389120" y="292608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代码Review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5760" y="1645920"/>
            <a:ext cx="2926080" cy="457200"/>
          </a:xfrm>
          <a:prstGeom prst="roundRect">
            <a:avLst/>
          </a:prstGeom>
          <a:solidFill>
            <a:srgbClr val="E74C3C"/>
          </a:solidFill>
          <a:ln/>
        </p:spPr>
      </p:sp>
      <p:sp>
        <p:nvSpPr>
          <p:cNvPr id="15" name="Text 13"/>
          <p:cNvSpPr/>
          <p:nvPr/>
        </p:nvSpPr>
        <p:spPr>
          <a:xfrm>
            <a:off x="365760" y="164592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发现问题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315200" y="502920"/>
            <a:ext cx="1188720" cy="320040"/>
          </a:xfrm>
          <a:prstGeom prst="roundRect">
            <a:avLst/>
          </a:prstGeom>
          <a:solidFill>
            <a:srgbClr val="EBF5FB"/>
          </a:solidFill>
          <a:ln w="6350">
            <a:solidFill>
              <a:srgbClr val="4A90E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0" y="50292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601200" y="2103120"/>
            <a:ext cx="320040" cy="822960"/>
          </a:xfrm>
          <a:prstGeom prst="roundRect">
            <a:avLst/>
          </a:prstGeom>
          <a:solidFill>
            <a:srgbClr val="EBF5FB"/>
          </a:solidFill>
          <a:ln w="6350">
            <a:solidFill>
              <a:srgbClr val="4A90E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601200" y="2103120"/>
            <a:ext cx="320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291840" y="3017520"/>
            <a:ext cx="1188720" cy="320040"/>
          </a:xfrm>
          <a:prstGeom prst="roundRect">
            <a:avLst/>
          </a:prstGeom>
          <a:solidFill>
            <a:srgbClr val="EBF5FB"/>
          </a:solidFill>
          <a:ln w="6350">
            <a:solidFill>
              <a:srgbClr val="4A90E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91840" y="301752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◀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1828800" y="502920"/>
            <a:ext cx="320040" cy="822960"/>
          </a:xfrm>
          <a:prstGeom prst="roundRect">
            <a:avLst/>
          </a:prstGeom>
          <a:solidFill>
            <a:srgbClr val="EBF5FB"/>
          </a:solidFill>
          <a:ln w="6350">
            <a:solidFill>
              <a:srgbClr val="4A90E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828800" y="502920"/>
            <a:ext cx="320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31520" y="35661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失败比例 &gt; 成功比例：每次成功调教背后有3-4次失败描述尝试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731520" y="3931920"/>
            <a:ext cx="10725912" cy="18288"/>
          </a:xfrm>
          <a:prstGeom prst="rect">
            <a:avLst/>
          </a:prstGeom>
          <a:solidFill>
            <a:srgbClr val="D5D8DC"/>
          </a:solidFill>
          <a:ln/>
        </p:spPr>
      </p:sp>
      <p:sp>
        <p:nvSpPr>
          <p:cNvPr id="26" name="Shape 24"/>
          <p:cNvSpPr/>
          <p:nvPr/>
        </p:nvSpPr>
        <p:spPr>
          <a:xfrm>
            <a:off x="594360" y="4206240"/>
            <a:ext cx="365760" cy="365760"/>
          </a:xfrm>
          <a:prstGeom prst="ellipse">
            <a:avLst/>
          </a:prstGeom>
          <a:solidFill>
            <a:srgbClr val="4A90E2"/>
          </a:solidFill>
          <a:ln/>
        </p:spPr>
      </p:sp>
      <p:sp>
        <p:nvSpPr>
          <p:cNvPr id="27" name="Text 25"/>
          <p:cNvSpPr/>
          <p:nvPr/>
        </p:nvSpPr>
        <p:spPr>
          <a:xfrm>
            <a:off x="594360" y="42062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097280" y="42062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文档先行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94360" y="466344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先改文档再改代码。文档是“调教参数”，代码是输出。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2880360" y="4206240"/>
            <a:ext cx="365760" cy="365760"/>
          </a:xfrm>
          <a:prstGeom prst="ellipse">
            <a:avLst/>
          </a:prstGeom>
          <a:solidFill>
            <a:srgbClr val="4A90E2"/>
          </a:solidFill>
          <a:ln/>
        </p:spPr>
      </p:sp>
      <p:sp>
        <p:nvSpPr>
          <p:cNvPr id="31" name="Text 29"/>
          <p:cNvSpPr/>
          <p:nvPr/>
        </p:nvSpPr>
        <p:spPr>
          <a:xfrm>
            <a:off x="2880360" y="42062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3383280" y="42062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增量变更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2880360" y="466344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改一处生成一处，不全量覆盖。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166360" y="4206240"/>
            <a:ext cx="365760" cy="365760"/>
          </a:xfrm>
          <a:prstGeom prst="ellipse">
            <a:avLst/>
          </a:prstGeom>
          <a:solidFill>
            <a:srgbClr val="4A90E2"/>
          </a:solidFill>
          <a:ln/>
        </p:spPr>
      </p:sp>
      <p:sp>
        <p:nvSpPr>
          <p:cNvPr id="35" name="Text 33"/>
          <p:cNvSpPr/>
          <p:nvPr/>
        </p:nvSpPr>
        <p:spPr>
          <a:xfrm>
            <a:off x="5166360" y="42062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5669280" y="42062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不改旧代码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5166360" y="466344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已调好的逻辑不动，只通过改文档触发新生成。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7452360" y="4206240"/>
            <a:ext cx="365760" cy="365760"/>
          </a:xfrm>
          <a:prstGeom prst="ellipse">
            <a:avLst/>
          </a:prstGeom>
          <a:solidFill>
            <a:srgbClr val="4A90E2"/>
          </a:solidFill>
          <a:ln/>
        </p:spPr>
      </p:sp>
      <p:sp>
        <p:nvSpPr>
          <p:cNvPr id="39" name="Text 37"/>
          <p:cNvSpPr/>
          <p:nvPr/>
        </p:nvSpPr>
        <p:spPr>
          <a:xfrm>
            <a:off x="7452360" y="42062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7955280" y="42062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记录变更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7452360" y="466344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每次调教记录：改了啥→为什么→结果。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9738360" y="4206240"/>
            <a:ext cx="365760" cy="365760"/>
          </a:xfrm>
          <a:prstGeom prst="ellipse">
            <a:avLst/>
          </a:prstGeom>
          <a:solidFill>
            <a:srgbClr val="4A90E2"/>
          </a:solidFill>
          <a:ln/>
        </p:spPr>
      </p:sp>
      <p:sp>
        <p:nvSpPr>
          <p:cNvPr id="43" name="Text 41"/>
          <p:cNvSpPr/>
          <p:nvPr/>
        </p:nvSpPr>
        <p:spPr>
          <a:xfrm>
            <a:off x="9738360" y="42062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10241280" y="42062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同步更新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9738360" y="466344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调教中沉淀的规则即时写回文档。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1828800" y="5394960"/>
            <a:ext cx="8531352" cy="411480"/>
          </a:xfrm>
          <a:prstGeom prst="roundRect">
            <a:avLst/>
          </a:prstGeom>
          <a:solidFill>
            <a:srgbClr val="EBF5FB"/>
          </a:solidFill>
          <a:ln w="6350">
            <a:solidFill>
              <a:srgbClr val="4A90E2"/>
            </a:solidFill>
            <a:prstDash val="dash"/>
          </a:ln>
        </p:spPr>
      </p:sp>
      <p:sp>
        <p:nvSpPr>
          <p:cNvPr id="47" name="Text 45"/>
          <p:cNvSpPr/>
          <p:nvPr/>
        </p:nvSpPr>
        <p:spPr>
          <a:xfrm>
            <a:off x="1828800" y="5394960"/>
            <a:ext cx="85313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以前我是编码者，现在我是调教师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731520" y="5669280"/>
            <a:ext cx="10725912" cy="457200"/>
          </a:xfrm>
          <a:prstGeom prst="roundRect">
            <a:avLst/>
          </a:prstGeom>
          <a:solidFill>
            <a:srgbClr val="F5F5F5"/>
          </a:solidFill>
          <a:ln/>
        </p:spPr>
      </p:sp>
      <p:sp>
        <p:nvSpPr>
          <p:cNvPr id="49" name="Text 47"/>
          <p:cNvSpPr/>
          <p:nvPr/>
        </p:nvSpPr>
        <p:spPr>
          <a:xfrm>
            <a:off x="914400" y="5669280"/>
            <a:ext cx="103601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F8C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调教日志节选：[2026-04-25] 需求F-TRANS-003 | 转账金额符号问题 | 文档从“正数收入负数支出”改为“交易金额以方向符号标识，收入=+支出=-” | AI代码正确区分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7315200" y="6263640"/>
            <a:ext cx="41422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接下来：新方法与传统的本质差异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11430000" y="626364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4A90E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4572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AI原生 vs 传统研发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029200" y="365760"/>
            <a:ext cx="64282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一场风险的逆转与角色的重塑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31520" y="868680"/>
            <a:ext cx="1097280" cy="36576"/>
          </a:xfrm>
          <a:prstGeom prst="rect">
            <a:avLst/>
          </a:prstGeom>
          <a:solidFill>
            <a:srgbClr val="4A90E2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1188720"/>
            <a:ext cx="2286000" cy="457200"/>
          </a:xfrm>
          <a:prstGeom prst="roundRect">
            <a:avLst/>
          </a:prstGeom>
          <a:solidFill>
            <a:srgbClr val="2C3E50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18872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维度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00400" y="1188720"/>
            <a:ext cx="3474720" cy="457200"/>
          </a:xfrm>
          <a:prstGeom prst="roundRect">
            <a:avLst/>
          </a:prstGeom>
          <a:solidFill>
            <a:srgbClr val="95A5A6"/>
          </a:solidFill>
          <a:ln/>
        </p:spPr>
      </p:sp>
      <p:sp>
        <p:nvSpPr>
          <p:cNvPr id="9" name="Text 7"/>
          <p:cNvSpPr/>
          <p:nvPr/>
        </p:nvSpPr>
        <p:spPr>
          <a:xfrm>
            <a:off x="3200400" y="118872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传统研发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858000" y="1188720"/>
            <a:ext cx="4572000" cy="457200"/>
          </a:xfrm>
          <a:prstGeom prst="roundRect">
            <a:avLst/>
          </a:prstGeom>
          <a:solidFill>
            <a:srgbClr val="4A90E2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0" y="118872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AI原生研发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1783080"/>
            <a:ext cx="2286000" cy="548640"/>
          </a:xfrm>
          <a:prstGeom prst="roundRect">
            <a:avLst/>
          </a:prstGeom>
          <a:solidFill>
            <a:srgbClr val="FFFFFF"/>
          </a:solidFill>
          <a:ln w="3810">
            <a:solidFill>
              <a:srgbClr val="D5D8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178308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核心产物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200400" y="1783080"/>
            <a:ext cx="3474720" cy="548640"/>
          </a:xfrm>
          <a:prstGeom prst="roundRect">
            <a:avLst/>
          </a:prstGeom>
          <a:solidFill>
            <a:srgbClr val="FFFFFF"/>
          </a:solidFill>
          <a:ln w="3810">
            <a:solidFill>
              <a:srgbClr val="D5D8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00400" y="178308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代码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858000" y="1783080"/>
            <a:ext cx="4572000" cy="548640"/>
          </a:xfrm>
          <a:prstGeom prst="roundRect">
            <a:avLst/>
          </a:prstGeom>
          <a:solidFill>
            <a:srgbClr val="FFFFFF"/>
          </a:solidFill>
          <a:ln w="3810">
            <a:solidFill>
              <a:srgbClr val="D5D8D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0" y="178308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文档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31520" y="2423160"/>
            <a:ext cx="2286000" cy="548640"/>
          </a:xfrm>
          <a:prstGeom prst="roundRect">
            <a:avLst/>
          </a:prstGeom>
          <a:solidFill>
            <a:srgbClr val="EBF5FB"/>
          </a:solidFill>
          <a:ln w="3810">
            <a:solidFill>
              <a:srgbClr val="D5D8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242316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人的角色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200400" y="2423160"/>
            <a:ext cx="3474720" cy="548640"/>
          </a:xfrm>
          <a:prstGeom prst="roundRect">
            <a:avLst/>
          </a:prstGeom>
          <a:solidFill>
            <a:srgbClr val="EBF5FB"/>
          </a:solidFill>
          <a:ln w="3810">
            <a:solidFill>
              <a:srgbClr val="D5D8D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00400" y="242316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编码者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858000" y="2423160"/>
            <a:ext cx="4572000" cy="548640"/>
          </a:xfrm>
          <a:prstGeom prst="roundRect">
            <a:avLst/>
          </a:prstGeom>
          <a:solidFill>
            <a:srgbClr val="EBF5FB"/>
          </a:solidFill>
          <a:ln w="3810">
            <a:solidFill>
              <a:srgbClr val="D5D8D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0" y="242316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调教师 / 规格工程师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31520" y="3063240"/>
            <a:ext cx="2286000" cy="548640"/>
          </a:xfrm>
          <a:prstGeom prst="roundRect">
            <a:avLst/>
          </a:prstGeom>
          <a:solidFill>
            <a:srgbClr val="FFFFFF"/>
          </a:solidFill>
          <a:ln w="3810">
            <a:solidFill>
              <a:srgbClr val="D5D8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306324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Debug对象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200400" y="3063240"/>
            <a:ext cx="3474720" cy="548640"/>
          </a:xfrm>
          <a:prstGeom prst="roundRect">
            <a:avLst/>
          </a:prstGeom>
          <a:solidFill>
            <a:srgbClr val="FFFFFF"/>
          </a:solidFill>
          <a:ln w="3810">
            <a:solidFill>
              <a:srgbClr val="D5D8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200400" y="306324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语法错误 / 逻辑BUG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858000" y="3063240"/>
            <a:ext cx="4572000" cy="548640"/>
          </a:xfrm>
          <a:prstGeom prst="roundRect">
            <a:avLst/>
          </a:prstGeom>
          <a:solidFill>
            <a:srgbClr val="FFFFFF"/>
          </a:solidFill>
          <a:ln w="3810">
            <a:solidFill>
              <a:srgbClr val="D5D8D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8000" y="306324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语义歧义 / AI理解偏差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731520" y="3703320"/>
            <a:ext cx="2286000" cy="548640"/>
          </a:xfrm>
          <a:prstGeom prst="roundRect">
            <a:avLst/>
          </a:prstGeom>
          <a:solidFill>
            <a:srgbClr val="EBF5FB"/>
          </a:solidFill>
          <a:ln w="3810">
            <a:solidFill>
              <a:srgbClr val="D5D8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31520" y="370332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变更方式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200400" y="3703320"/>
            <a:ext cx="3474720" cy="548640"/>
          </a:xfrm>
          <a:prstGeom prst="roundRect">
            <a:avLst/>
          </a:prstGeom>
          <a:solidFill>
            <a:srgbClr val="EBF5FB"/>
          </a:solidFill>
          <a:ln w="3810">
            <a:solidFill>
              <a:srgbClr val="D5D8D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00400" y="370332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改代码 → 补文档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858000" y="3703320"/>
            <a:ext cx="4572000" cy="548640"/>
          </a:xfrm>
          <a:prstGeom prst="roundRect">
            <a:avLst/>
          </a:prstGeom>
          <a:solidFill>
            <a:srgbClr val="EBF5FB"/>
          </a:solidFill>
          <a:ln w="3810">
            <a:solidFill>
              <a:srgbClr val="D5D8D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70332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改文档 → 再生代码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731520" y="4343400"/>
            <a:ext cx="2286000" cy="548640"/>
          </a:xfrm>
          <a:prstGeom prst="roundRect">
            <a:avLst/>
          </a:prstGeom>
          <a:solidFill>
            <a:srgbClr val="FFFFFF"/>
          </a:solidFill>
          <a:ln w="3810">
            <a:solidFill>
              <a:srgbClr val="D5D8D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31520" y="434340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执行风险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3200400" y="4343400"/>
            <a:ext cx="3474720" cy="548640"/>
          </a:xfrm>
          <a:prstGeom prst="roundRect">
            <a:avLst/>
          </a:prstGeom>
          <a:solidFill>
            <a:srgbClr val="FFFFFF"/>
          </a:solidFill>
          <a:ln w="3810">
            <a:solidFill>
              <a:srgbClr val="D5D8D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00400" y="434340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高（能不能跑通）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858000" y="4343400"/>
            <a:ext cx="4572000" cy="548640"/>
          </a:xfrm>
          <a:prstGeom prst="roundRect">
            <a:avLst/>
          </a:prstGeom>
          <a:solidFill>
            <a:srgbClr val="FFFFFF"/>
          </a:solidFill>
          <a:ln w="3810">
            <a:solidFill>
              <a:srgbClr val="D5D8D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434340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低（AI写的语法一定对）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731520" y="4983480"/>
            <a:ext cx="2286000" cy="548640"/>
          </a:xfrm>
          <a:prstGeom prst="roundRect">
            <a:avLst/>
          </a:prstGeom>
          <a:solidFill>
            <a:srgbClr val="EBF5FB"/>
          </a:solidFill>
          <a:ln w="3810">
            <a:solidFill>
              <a:srgbClr val="D5D8D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31520" y="498348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设计风险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3200400" y="4983480"/>
            <a:ext cx="3474720" cy="548640"/>
          </a:xfrm>
          <a:prstGeom prst="roundRect">
            <a:avLst/>
          </a:prstGeom>
          <a:solidFill>
            <a:srgbClr val="EBF5FB"/>
          </a:solidFill>
          <a:ln w="3810">
            <a:solidFill>
              <a:srgbClr val="D5D8DC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200400" y="498348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低（要做什么很清楚）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6858000" y="4983480"/>
            <a:ext cx="4572000" cy="548640"/>
          </a:xfrm>
          <a:prstGeom prst="roundRect">
            <a:avLst/>
          </a:prstGeom>
          <a:solidFill>
            <a:srgbClr val="EBF5FB"/>
          </a:solidFill>
          <a:ln w="3810">
            <a:solidFill>
              <a:srgbClr val="D5D8D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858000" y="498348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高（最难是精确告诉AI）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1828800" y="5760720"/>
            <a:ext cx="8531352" cy="502920"/>
          </a:xfrm>
          <a:prstGeom prst="roundRect">
            <a:avLst/>
          </a:prstGeom>
          <a:solidFill>
            <a:srgbClr val="EBF5FB"/>
          </a:solidFill>
          <a:ln w="6350">
            <a:solidFill>
              <a:srgbClr val="4A90E2"/>
            </a:solidFill>
            <a:prstDash val="dash"/>
          </a:ln>
        </p:spPr>
      </p:sp>
      <p:sp>
        <p:nvSpPr>
          <p:cNvPr id="49" name="Text 47"/>
          <p:cNvSpPr/>
          <p:nvPr/>
        </p:nvSpPr>
        <p:spPr>
          <a:xfrm>
            <a:off x="1828800" y="5760720"/>
            <a:ext cx="85313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如果执行风险降为零，那你的核心竞争力在哪里？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7315200" y="6263640"/>
            <a:ext cx="41422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接下来：支撑方法的技术架构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11430000" y="626364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4A90E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4572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技术框架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029200" y="365760"/>
            <a:ext cx="64282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调教的技术基石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31520" y="868680"/>
            <a:ext cx="1097280" cy="36576"/>
          </a:xfrm>
          <a:prstGeom prst="rect">
            <a:avLst/>
          </a:prstGeom>
          <a:solidFill>
            <a:srgbClr val="4A90E2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0972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系统架构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31520" y="1463040"/>
            <a:ext cx="4114800" cy="411480"/>
          </a:xfrm>
          <a:prstGeom prst="roundRect">
            <a:avLst/>
          </a:prstGeom>
          <a:solidFill>
            <a:srgbClr val="8E44AD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463040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客户端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103120" y="146304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Vue 2 + Vant 2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731520" y="1965960"/>
            <a:ext cx="4114800" cy="411480"/>
          </a:xfrm>
          <a:prstGeom prst="roundRect">
            <a:avLst/>
          </a:prstGeom>
          <a:solidFill>
            <a:srgbClr val="4A90E2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1965960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接入层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103120" y="196596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JWT统一校验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731520" y="2468880"/>
            <a:ext cx="4114800" cy="411480"/>
          </a:xfrm>
          <a:prstGeom prst="roundRect">
            <a:avLst/>
          </a:prstGeom>
          <a:solidFill>
            <a:srgbClr val="E67E22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2468880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意图推理层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103120" y="246888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MCP-Skill引擎※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731520" y="2971800"/>
            <a:ext cx="4114800" cy="411480"/>
          </a:xfrm>
          <a:prstGeom prst="roundRect">
            <a:avLst/>
          </a:prstGeom>
          <a:solidFill>
            <a:srgbClr val="27AE60"/>
          </a:solidFill>
          <a:ln/>
        </p:spPr>
      </p:sp>
      <p:sp>
        <p:nvSpPr>
          <p:cNvPr id="17" name="Text 15"/>
          <p:cNvSpPr/>
          <p:nvPr/>
        </p:nvSpPr>
        <p:spPr>
          <a:xfrm>
            <a:off x="914400" y="2971800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业务服务层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103120" y="297180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6大核心Service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731520" y="3474720"/>
            <a:ext cx="4114800" cy="411480"/>
          </a:xfrm>
          <a:prstGeom prst="roundRect">
            <a:avLst/>
          </a:prstGeom>
          <a:solidFill>
            <a:srgbClr val="1A5276"/>
          </a:solidFill>
          <a:ln/>
        </p:spPr>
      </p:sp>
      <p:sp>
        <p:nvSpPr>
          <p:cNvPr id="20" name="Text 18"/>
          <p:cNvSpPr/>
          <p:nvPr/>
        </p:nvSpPr>
        <p:spPr>
          <a:xfrm>
            <a:off x="914400" y="3474720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数据持久层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103120" y="347472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MyBatis-Plus+MySQL加密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731520" y="3977640"/>
            <a:ext cx="4114800" cy="411480"/>
          </a:xfrm>
          <a:prstGeom prst="roundRect">
            <a:avLst/>
          </a:prstGeom>
          <a:solidFill>
            <a:srgbClr val="2C3E50"/>
          </a:solidFill>
          <a:ln/>
        </p:spPr>
      </p:sp>
      <p:sp>
        <p:nvSpPr>
          <p:cNvPr id="23" name="Text 21"/>
          <p:cNvSpPr/>
          <p:nvPr/>
        </p:nvSpPr>
        <p:spPr>
          <a:xfrm>
            <a:off x="914400" y="3977640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基础设施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103120" y="397764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Docker容器化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5303520" y="10972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MCP-Skill核心特性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303520" y="1508760"/>
            <a:ext cx="5943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标准化接口+ 动态注册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303520" y="1892808"/>
            <a:ext cx="5943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安全分级：QUERY/执行两阶段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303520" y="2276856"/>
            <a:ext cx="5943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结构化返回：回复+数据+导航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303520" y="2660904"/>
            <a:ext cx="5943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LLM无关设计：当前规则，未来可切LLM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303520" y="32004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安全保护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303520" y="352044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身份认证 | 数据加密(bcrypt+AES) | 防攻击(锁定+30s防重复) | AOP审计日志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5303520" y="39319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AI能力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303520" y="425196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智能客服 | 消费分析(10类+月报) | AI洞察引擎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731520" y="4754880"/>
            <a:ext cx="10725912" cy="640080"/>
          </a:xfrm>
          <a:prstGeom prst="roundRect">
            <a:avLst/>
          </a:prstGeom>
          <a:solidFill>
            <a:srgbClr val="FFF8E1"/>
          </a:solidFill>
          <a:ln/>
        </p:spPr>
      </p:sp>
      <p:sp>
        <p:nvSpPr>
          <p:cNvPr id="35" name="Text 33"/>
          <p:cNvSpPr/>
          <p:nvPr/>
        </p:nvSpPr>
        <p:spPr>
          <a:xfrm>
            <a:off x="914400" y="4800600"/>
            <a:ext cx="103601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信任陷阱案例：余额正负号——“正负号”在财务语境中不是数学正负，而是“收入为正、支出为负”。AI按原始数学符号处理导致部分收入显示红色（错误），经过3次修改文档描述后才正确区分。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731520" y="5486400"/>
            <a:ext cx="107259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※ MCP-Skill=自研AI能力封装框架：意图推理与业务执行解耦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731520" y="5852160"/>
            <a:ext cx="10725912" cy="320040"/>
          </a:xfrm>
          <a:prstGeom prst="roundRect">
            <a:avLst/>
          </a:prstGeom>
          <a:solidFill>
            <a:srgbClr val="E8F8F5"/>
          </a:solidFill>
          <a:ln/>
        </p:spPr>
      </p:sp>
      <p:sp>
        <p:nvSpPr>
          <p:cNvPr id="38" name="Text 36"/>
          <p:cNvSpPr/>
          <p:nvPr/>
        </p:nvSpPr>
        <p:spPr>
          <a:xfrm>
            <a:off x="914400" y="5852160"/>
            <a:ext cx="103601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调教回看：架构每层的文档描追迭代了3-5版才达稳定，MCP-Skill边界定义是最难调的部分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7315200" y="6263640"/>
            <a:ext cx="41422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接下来：理想与现实之间的三大挑战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1430000" y="626364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4A90E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4572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真实挑战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029200" y="365760"/>
            <a:ext cx="64282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调教中踩过的坑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31520" y="868680"/>
            <a:ext cx="1097280" cy="36576"/>
          </a:xfrm>
          <a:prstGeom prst="rect">
            <a:avLst/>
          </a:prstGeom>
          <a:solidFill>
            <a:srgbClr val="4A90E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188720"/>
            <a:ext cx="3566160" cy="3840480"/>
          </a:xfrm>
          <a:prstGeom prst="roundRect">
            <a:avLst/>
          </a:prstGeom>
          <a:solidFill>
            <a:srgbClr val="F8FAFC"/>
          </a:solidFill>
          <a:ln w="6350">
            <a:solidFill>
              <a:srgbClr val="D5D8D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188720"/>
            <a:ext cx="3566160" cy="594360"/>
          </a:xfrm>
          <a:prstGeom prst="roundRect">
            <a:avLst/>
          </a:prstGeom>
          <a:solidFill>
            <a:srgbClr val="4A90E2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188720"/>
            <a:ext cx="3566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AI意图识别精度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196596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挑战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31520" y="2240280"/>
            <a:ext cx="3200400" cy="914400"/>
          </a:xfrm>
          <a:prstGeom prst="roundRect">
            <a:avLst/>
          </a:prstGeom>
          <a:solidFill>
            <a:srgbClr val="FDEDEC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228600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同一意图多种表达，边界情况层出不穷。成功调教1个意图平均失败3-4次。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31520" y="32918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应对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31520" y="3566160"/>
            <a:ext cx="3200400" cy="914400"/>
          </a:xfrm>
          <a:prstGeom prst="roundRect">
            <a:avLst/>
          </a:prstGeom>
          <a:solidFill>
            <a:srgbClr val="E8F8F5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361188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关键词+正则双模式+兜底引导。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389120" y="1188720"/>
            <a:ext cx="3566160" cy="3840480"/>
          </a:xfrm>
          <a:prstGeom prst="roundRect">
            <a:avLst/>
          </a:prstGeom>
          <a:solidFill>
            <a:srgbClr val="F8FAFC"/>
          </a:solidFill>
          <a:ln w="6350">
            <a:solidFill>
              <a:srgbClr val="D5D8D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389120" y="1188720"/>
            <a:ext cx="3566160" cy="594360"/>
          </a:xfrm>
          <a:prstGeom prst="roundRect">
            <a:avLst/>
          </a:prstGeom>
          <a:solidFill>
            <a:srgbClr val="E67E22"/>
          </a:solidFill>
          <a:ln/>
        </p:spPr>
      </p:sp>
      <p:sp>
        <p:nvSpPr>
          <p:cNvPr id="17" name="Text 15"/>
          <p:cNvSpPr/>
          <p:nvPr/>
        </p:nvSpPr>
        <p:spPr>
          <a:xfrm>
            <a:off x="4389120" y="1188720"/>
            <a:ext cx="3566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AI代码的业务校验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572000" y="196596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挑战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0" y="2240280"/>
            <a:ext cx="3200400" cy="914400"/>
          </a:xfrm>
          <a:prstGeom prst="roundRect">
            <a:avLst/>
          </a:prstGeom>
          <a:solidFill>
            <a:srgbClr val="FDEDEC"/>
          </a:solidFill>
          <a:ln/>
        </p:spPr>
      </p:sp>
      <p:sp>
        <p:nvSpPr>
          <p:cNvPr id="20" name="Text 18"/>
          <p:cNvSpPr/>
          <p:nvPr/>
        </p:nvSpPr>
        <p:spPr>
          <a:xfrm>
            <a:off x="4663440" y="228600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AI代码语法完美，正因如此更容易被信任。但业务语义可能是错的。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572000" y="32918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应对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0" y="3566160"/>
            <a:ext cx="3200400" cy="914400"/>
          </a:xfrm>
          <a:prstGeom prst="roundRect">
            <a:avLst/>
          </a:prstGeom>
          <a:solidFill>
            <a:srgbClr val="E8F8F5"/>
          </a:solidFill>
          <a:ln/>
        </p:spPr>
      </p:sp>
      <p:sp>
        <p:nvSpPr>
          <p:cNvPr id="23" name="Text 21"/>
          <p:cNvSpPr/>
          <p:nvPr/>
        </p:nvSpPr>
        <p:spPr>
          <a:xfrm>
            <a:off x="4663440" y="361188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建立校验清单：金额符号→字段长度→分类规则。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8229600" y="1188720"/>
            <a:ext cx="3566160" cy="3840480"/>
          </a:xfrm>
          <a:prstGeom prst="roundRect">
            <a:avLst/>
          </a:prstGeom>
          <a:solidFill>
            <a:srgbClr val="F8FAFC"/>
          </a:solidFill>
          <a:ln w="6350">
            <a:solidFill>
              <a:srgbClr val="D5D8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229600" y="1188720"/>
            <a:ext cx="3566160" cy="594360"/>
          </a:xfrm>
          <a:prstGeom prst="roundRect">
            <a:avLst/>
          </a:prstGeom>
          <a:solidFill>
            <a:srgbClr val="E74C3C"/>
          </a:solidFill>
          <a:ln/>
        </p:spPr>
      </p:sp>
      <p:sp>
        <p:nvSpPr>
          <p:cNvPr id="26" name="Text 24"/>
          <p:cNvSpPr/>
          <p:nvPr/>
        </p:nvSpPr>
        <p:spPr>
          <a:xfrm>
            <a:off x="8229600" y="1188720"/>
            <a:ext cx="3566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前后端契约对齐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412480" y="196596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挑战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412480" y="2240280"/>
            <a:ext cx="3200400" cy="914400"/>
          </a:xfrm>
          <a:prstGeom prst="roundRect">
            <a:avLst/>
          </a:prstGeom>
          <a:solidFill>
            <a:srgbClr val="FDEDEC"/>
          </a:solidFill>
          <a:ln/>
        </p:spPr>
      </p:sp>
      <p:sp>
        <p:nvSpPr>
          <p:cNvPr id="29" name="Text 27"/>
          <p:cNvSpPr/>
          <p:nvPr/>
        </p:nvSpPr>
        <p:spPr>
          <a:xfrm>
            <a:off x="8503920" y="228600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前后端由AI独立生成，天然存在契约断裂。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412480" y="32918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应对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8412480" y="3566160"/>
            <a:ext cx="3200400" cy="914400"/>
          </a:xfrm>
          <a:prstGeom prst="roundRect">
            <a:avLst/>
          </a:prstGeom>
          <a:solidFill>
            <a:srgbClr val="E8F8F5"/>
          </a:solidFill>
          <a:ln/>
        </p:spPr>
      </p:sp>
      <p:sp>
        <p:nvSpPr>
          <p:cNvPr id="32" name="Text 30"/>
          <p:cNvSpPr/>
          <p:nvPr/>
        </p:nvSpPr>
        <p:spPr>
          <a:xfrm>
            <a:off x="8503920" y="361188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统一ReqBase规范 + 前后端结对生成。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1371600" y="5303520"/>
            <a:ext cx="9445752" cy="502920"/>
          </a:xfrm>
          <a:prstGeom prst="roundRect">
            <a:avLst/>
          </a:prstGeom>
          <a:solidFill>
            <a:srgbClr val="EBF5FB"/>
          </a:solidFill>
          <a:ln w="6350">
            <a:solidFill>
              <a:srgbClr val="4A90E2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1554480" y="5303520"/>
            <a:ext cx="907999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真实数据：成功调教1个意图，平均失败3-4次描述尝试。AI代码越漂亮，越需要警惕业务语义错误。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7315200" y="6263640"/>
            <a:ext cx="41422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接下来：挑战之后沉淀的认知升级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430000" y="626364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4A90E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4572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认知升级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029200" y="365760"/>
            <a:ext cx="64282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四条递进的重新理解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31520" y="868680"/>
            <a:ext cx="1097280" cy="36576"/>
          </a:xfrm>
          <a:prstGeom prst="rect">
            <a:avLst/>
          </a:prstGeom>
          <a:solidFill>
            <a:srgbClr val="4A90E2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1417320"/>
            <a:ext cx="457200" cy="457200"/>
          </a:xfrm>
          <a:prstGeom prst="ellipse">
            <a:avLst/>
          </a:prstGeom>
          <a:solidFill>
            <a:srgbClr val="4A90E2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417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463040" y="123444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从「代码是产物」到「文档是产物」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1463040" y="1645920"/>
            <a:ext cx="9144000" cy="9144"/>
          </a:xfrm>
          <a:prstGeom prst="rect">
            <a:avLst/>
          </a:prstGeom>
          <a:solidFill>
            <a:srgbClr val="D5D8DC"/>
          </a:solidFill>
          <a:ln/>
        </p:spPr>
      </p:sp>
      <p:sp>
        <p:nvSpPr>
          <p:cNvPr id="10" name="Text 8"/>
          <p:cNvSpPr/>
          <p:nvPr/>
        </p:nvSpPr>
        <p:spPr>
          <a:xfrm>
            <a:off x="1463040" y="17373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代码变更是文档变更的编译结果。文档质量决定代码质量。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31520" y="2514600"/>
            <a:ext cx="457200" cy="457200"/>
          </a:xfrm>
          <a:prstGeom prst="ellipse">
            <a:avLst/>
          </a:prstGeom>
          <a:solidFill>
            <a:srgbClr val="4A90E2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2514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463040" y="233172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从「AI写代码」到「AI理解业务」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1463040" y="2743200"/>
            <a:ext cx="9144000" cy="9144"/>
          </a:xfrm>
          <a:prstGeom prst="rect">
            <a:avLst/>
          </a:prstGeom>
          <a:solidFill>
            <a:srgbClr val="D5D8DC"/>
          </a:solidFill>
          <a:ln/>
        </p:spPr>
      </p:sp>
      <p:sp>
        <p:nvSpPr>
          <p:cNvPr id="15" name="Text 13"/>
          <p:cNvSpPr/>
          <p:nvPr/>
        </p:nvSpPr>
        <p:spPr>
          <a:xfrm>
            <a:off x="1463040" y="283464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AI最强的不是生成代码，而是理解文档后生成代码。关键在文档写得对。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31520" y="3611880"/>
            <a:ext cx="457200" cy="457200"/>
          </a:xfrm>
          <a:prstGeom prst="ellipse">
            <a:avLst/>
          </a:prstGeom>
          <a:solidFill>
            <a:srgbClr val="4A90E2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463040" y="34290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从「编码能力」到「规格表达能力」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1463040" y="3840480"/>
            <a:ext cx="9144000" cy="9144"/>
          </a:xfrm>
          <a:prstGeom prst="rect">
            <a:avLst/>
          </a:prstGeom>
          <a:solidFill>
            <a:srgbClr val="D5D8DC"/>
          </a:solidFill>
          <a:ln/>
        </p:spPr>
      </p:sp>
      <p:sp>
        <p:nvSpPr>
          <p:cNvPr id="20" name="Text 18"/>
          <p:cNvSpPr/>
          <p:nvPr/>
        </p:nvSpPr>
        <p:spPr>
          <a:xfrm>
            <a:off x="1463040" y="393192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最有价值的不是写代码的速度，而是把业务规则精确描述给AI的能力。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31520" y="4709160"/>
            <a:ext cx="457200" cy="457200"/>
          </a:xfrm>
          <a:prstGeom prst="ellipse">
            <a:avLst/>
          </a:prstGeom>
          <a:solidFill>
            <a:srgbClr val="4A90E2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47091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463040" y="45262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从「把代码写对」到「让AI理解对」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1463040" y="4937760"/>
            <a:ext cx="9144000" cy="9144"/>
          </a:xfrm>
          <a:prstGeom prst="rect">
            <a:avLst/>
          </a:prstGeom>
          <a:solidFill>
            <a:srgbClr val="D5D8DC"/>
          </a:solidFill>
          <a:ln/>
        </p:spPr>
      </p:sp>
      <p:sp>
        <p:nvSpPr>
          <p:cNvPr id="25" name="Text 23"/>
          <p:cNvSpPr/>
          <p:nvPr/>
        </p:nvSpPr>
        <p:spPr>
          <a:xfrm>
            <a:off x="1463040" y="5029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未来核心竞争力：不是你会写什么，而是你能否让AI正确理解你要什么。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371600" y="5760720"/>
            <a:ext cx="9445752" cy="502920"/>
          </a:xfrm>
          <a:prstGeom prst="roundRect">
            <a:avLst/>
          </a:prstGeom>
          <a:solidFill>
            <a:srgbClr val="EBF5FB"/>
          </a:solidFill>
          <a:ln w="6350">
            <a:solidFill>
              <a:srgbClr val="4A90E2"/>
            </a:solidFill>
            <a:prstDash val="dash"/>
          </a:ln>
        </p:spPr>
      </p:sp>
      <p:sp>
        <p:nvSpPr>
          <p:cNvPr id="27" name="Text 25"/>
          <p:cNvSpPr/>
          <p:nvPr/>
        </p:nvSpPr>
        <p:spPr>
          <a:xfrm>
            <a:off x="1554480" y="5760720"/>
            <a:ext cx="907999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AI能写70%的代码——但那30%的架构决策和业务理解，才是你不可替代的价值。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7315200" y="6263640"/>
            <a:ext cx="41422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接下来：量化成果与数据验证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1430000" y="626364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4A90E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4572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成果数据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029200" y="365760"/>
            <a:ext cx="64282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量化验证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31520" y="868680"/>
            <a:ext cx="1097280" cy="36576"/>
          </a:xfrm>
          <a:prstGeom prst="rect">
            <a:avLst/>
          </a:prstGeom>
          <a:solidFill>
            <a:srgbClr val="4A90E2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280160"/>
            <a:ext cx="2651760" cy="1371600"/>
          </a:xfrm>
          <a:prstGeom prst="roundRect">
            <a:avLst/>
          </a:prstGeom>
          <a:solidFill>
            <a:srgbClr val="F8FAFC"/>
          </a:solidFill>
          <a:ln w="6350">
            <a:solidFill>
              <a:srgbClr val="D5D8D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80160"/>
            <a:ext cx="2651760" cy="45720"/>
          </a:xfrm>
          <a:prstGeom prst="rect">
            <a:avLst/>
          </a:prstGeom>
          <a:solidFill>
            <a:srgbClr val="4A90E2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41732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30+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457200" y="187452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API接口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21945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6大业务模块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337560" y="1280160"/>
            <a:ext cx="2651760" cy="1371600"/>
          </a:xfrm>
          <a:prstGeom prst="roundRect">
            <a:avLst/>
          </a:prstGeom>
          <a:solidFill>
            <a:srgbClr val="F8FAFC"/>
          </a:solidFill>
          <a:ln w="6350">
            <a:solidFill>
              <a:srgbClr val="D5D8D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37560" y="1280160"/>
            <a:ext cx="2651760" cy="45720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3" name="Text 11"/>
          <p:cNvSpPr/>
          <p:nvPr/>
        </p:nvSpPr>
        <p:spPr>
          <a:xfrm>
            <a:off x="3337560" y="141732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3337560" y="187452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数据库表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337560" y="21945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物理设计+索引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217920" y="1280160"/>
            <a:ext cx="2651760" cy="1371600"/>
          </a:xfrm>
          <a:prstGeom prst="roundRect">
            <a:avLst/>
          </a:prstGeom>
          <a:solidFill>
            <a:srgbClr val="F8FAFC"/>
          </a:solidFill>
          <a:ln w="6350">
            <a:solidFill>
              <a:srgbClr val="D5D8D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17920" y="1280160"/>
            <a:ext cx="2651760" cy="45720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18" name="Text 16"/>
          <p:cNvSpPr/>
          <p:nvPr/>
        </p:nvSpPr>
        <p:spPr>
          <a:xfrm>
            <a:off x="6217920" y="141732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6217920" y="187452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前端页面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217920" y="21945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完整交互体验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9098280" y="1280160"/>
            <a:ext cx="2651760" cy="1371600"/>
          </a:xfrm>
          <a:prstGeom prst="roundRect">
            <a:avLst/>
          </a:prstGeom>
          <a:solidFill>
            <a:srgbClr val="F8FAFC"/>
          </a:solidFill>
          <a:ln w="6350">
            <a:solidFill>
              <a:srgbClr val="D5D8D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098280" y="1280160"/>
            <a:ext cx="2651760" cy="45720"/>
          </a:xfrm>
          <a:prstGeom prst="rect">
            <a:avLst/>
          </a:prstGeom>
          <a:solidFill>
            <a:srgbClr val="8E44AD"/>
          </a:solidFill>
          <a:ln/>
        </p:spPr>
      </p:sp>
      <p:sp>
        <p:nvSpPr>
          <p:cNvPr id="23" name="Text 21"/>
          <p:cNvSpPr/>
          <p:nvPr/>
        </p:nvSpPr>
        <p:spPr>
          <a:xfrm>
            <a:off x="9098280" y="141732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8E44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9098280" y="187452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专业文档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9098280" y="21945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全流程可追溯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926080"/>
            <a:ext cx="2651760" cy="1371600"/>
          </a:xfrm>
          <a:prstGeom prst="roundRect">
            <a:avLst/>
          </a:prstGeom>
          <a:solidFill>
            <a:srgbClr val="F8FAFC"/>
          </a:solidFill>
          <a:ln w="6350">
            <a:solidFill>
              <a:srgbClr val="D5D8D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57200" y="2926080"/>
            <a:ext cx="2651760" cy="45720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" y="306324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70%+</a:t>
            </a:r>
            <a:endParaRPr lang="en-US" sz="2600" dirty="0"/>
          </a:p>
        </p:txBody>
      </p:sp>
      <p:sp>
        <p:nvSpPr>
          <p:cNvPr id="29" name="Text 27"/>
          <p:cNvSpPr/>
          <p:nvPr/>
        </p:nvSpPr>
        <p:spPr>
          <a:xfrm>
            <a:off x="457200" y="352044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代码AI生成率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57200" y="384048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人工聚焦决策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3337560" y="2926080"/>
            <a:ext cx="2651760" cy="1371600"/>
          </a:xfrm>
          <a:prstGeom prst="roundRect">
            <a:avLst/>
          </a:prstGeom>
          <a:solidFill>
            <a:srgbClr val="F8FAFC"/>
          </a:solidFill>
          <a:ln w="6350">
            <a:solidFill>
              <a:srgbClr val="D5D8D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337560" y="2926080"/>
            <a:ext cx="2651760" cy="45720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33" name="Text 31"/>
          <p:cNvSpPr/>
          <p:nvPr/>
        </p:nvSpPr>
        <p:spPr>
          <a:xfrm>
            <a:off x="3337560" y="306324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600" dirty="0"/>
          </a:p>
        </p:txBody>
      </p:sp>
      <p:sp>
        <p:nvSpPr>
          <p:cNvPr id="34" name="Text 32"/>
          <p:cNvSpPr/>
          <p:nvPr/>
        </p:nvSpPr>
        <p:spPr>
          <a:xfrm>
            <a:off x="3337560" y="352044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Skill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3337560" y="384048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可插拔AI单元</a:t>
            </a:r>
            <a:endParaRPr lang="en-US" sz="900" dirty="0"/>
          </a:p>
        </p:txBody>
      </p:sp>
      <p:pic>
        <p:nvPicPr>
          <p:cNvPr id="36" name="Image 0" descr="F:\code\bank\bank\screenshots\hom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4297680"/>
            <a:ext cx="914400" cy="1463040"/>
          </a:xfrm>
          <a:prstGeom prst="rect">
            <a:avLst/>
          </a:prstGeom>
        </p:spPr>
      </p:pic>
      <p:pic>
        <p:nvPicPr>
          <p:cNvPr id="37" name="Image 1" descr="F:\code\bank\bank\screenshots\ai-transaction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554480" y="4297680"/>
            <a:ext cx="914400" cy="1463040"/>
          </a:xfrm>
          <a:prstGeom prst="rect">
            <a:avLst/>
          </a:prstGeom>
        </p:spPr>
      </p:pic>
      <p:pic>
        <p:nvPicPr>
          <p:cNvPr id="38" name="Image 2" descr="F:\code\bank\bank\screenshots\consumption-analysis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2651760" y="4297680"/>
            <a:ext cx="914400" cy="1463040"/>
          </a:xfrm>
          <a:prstGeom prst="rect">
            <a:avLst/>
          </a:prstGeom>
        </p:spPr>
      </p:pic>
      <p:sp>
        <p:nvSpPr>
          <p:cNvPr id="39" name="Text 34"/>
          <p:cNvSpPr/>
          <p:nvPr/>
        </p:nvSpPr>
        <p:spPr>
          <a:xfrm>
            <a:off x="3840480" y="49377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数据来源证据：左起=AI对话截图 / 消费分析截图 / 首页截图</a:t>
            </a:r>
            <a:endParaRPr lang="en-US" sz="900" dirty="0"/>
          </a:p>
        </p:txBody>
      </p:sp>
      <p:sp>
        <p:nvSpPr>
          <p:cNvPr id="40" name="Shape 35"/>
          <p:cNvSpPr/>
          <p:nvPr/>
        </p:nvSpPr>
        <p:spPr>
          <a:xfrm>
            <a:off x="1371600" y="5852160"/>
            <a:ext cx="9445752" cy="457200"/>
          </a:xfrm>
          <a:prstGeom prst="roundRect">
            <a:avLst/>
          </a:prstGeom>
          <a:solidFill>
            <a:srgbClr val="EBF5FB"/>
          </a:solidFill>
          <a:ln w="6350">
            <a:solidFill>
              <a:srgbClr val="4A90E2"/>
            </a:solidFill>
            <a:prstDash val="dash"/>
          </a:ln>
        </p:spPr>
      </p:sp>
      <p:sp>
        <p:nvSpPr>
          <p:cNvPr id="41" name="Text 36"/>
          <p:cNvSpPr/>
          <p:nvPr/>
        </p:nvSpPr>
        <p:spPr>
          <a:xfrm>
            <a:off x="1554480" y="5852160"/>
            <a:ext cx="90799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这些数据证明：AI原生研发不仅可行，而且能真正产出可用产品。但比数据更重要的是认知升级。</a:t>
            </a:r>
            <a:endParaRPr lang="en-US" sz="1200" dirty="0"/>
          </a:p>
        </p:txBody>
      </p:sp>
      <p:sp>
        <p:nvSpPr>
          <p:cNvPr id="42" name="Text 37"/>
          <p:cNvSpPr/>
          <p:nvPr/>
        </p:nvSpPr>
        <p:spPr>
          <a:xfrm>
            <a:off x="7315200" y="6263640"/>
            <a:ext cx="41422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接下来：回归本源</a:t>
            </a:r>
            <a:endParaRPr lang="en-US" sz="1000" dirty="0"/>
          </a:p>
        </p:txBody>
      </p:sp>
      <p:sp>
        <p:nvSpPr>
          <p:cNvPr id="43" name="Text 38"/>
          <p:cNvSpPr/>
          <p:nvPr/>
        </p:nvSpPr>
        <p:spPr>
          <a:xfrm>
            <a:off x="11430000" y="626364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36576"/>
          </a:xfrm>
          <a:prstGeom prst="rect">
            <a:avLst/>
          </a:prstGeom>
          <a:solidFill>
            <a:srgbClr val="4A90E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463040"/>
            <a:ext cx="107259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以前我们学习写代码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2011680"/>
            <a:ext cx="107259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让计算机理解我们的逻辑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114800" y="2834640"/>
            <a:ext cx="3959352" cy="36576"/>
          </a:xfrm>
          <a:prstGeom prst="rect">
            <a:avLst/>
          </a:prstGeom>
          <a:solidFill>
            <a:srgbClr val="4A90E2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3200400"/>
            <a:ext cx="107259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现在我们学习写文档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731520" y="3749040"/>
            <a:ext cx="107259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让AI理解我们的业务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731520" y="4754880"/>
            <a:ext cx="10725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源于竞赛，不止于竞赛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0" y="5943600"/>
            <a:ext cx="12188952" cy="36576"/>
          </a:xfrm>
          <a:prstGeom prst="rect">
            <a:avLst/>
          </a:prstGeom>
          <a:solidFill>
            <a:srgbClr val="4A90E2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2026-05-06T15:21:56Z</dcterms:created>
  <dcterms:modified xsi:type="dcterms:W3CDTF">2026-05-06T15:21:56Z</dcterms:modified>
</cp:coreProperties>
</file>