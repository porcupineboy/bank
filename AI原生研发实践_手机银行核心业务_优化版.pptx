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73" r:id="rId5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68" r:id="rId17"/>
    <p:sldId id="269" r:id="rId18"/>
    <p:sldId id="272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8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A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72"/>
        <p:guide pos="28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image" Target="../media/image40.png"/><Relationship Id="rId4" Type="http://schemas.openxmlformats.org/officeDocument/2006/relationships/tags" Target="../tags/tag1.xml"/><Relationship Id="rId30" Type="http://schemas.openxmlformats.org/officeDocument/2006/relationships/notesSlide" Target="../notesSlides/notesSlide3.xml"/><Relationship Id="rId3" Type="http://schemas.openxmlformats.org/officeDocument/2006/relationships/image" Target="../media/image39.png"/><Relationship Id="rId29" Type="http://schemas.openxmlformats.org/officeDocument/2006/relationships/slideLayout" Target="../slideLayouts/slideLayout6.xml"/><Relationship Id="rId28" Type="http://schemas.openxmlformats.org/officeDocument/2006/relationships/image" Target="../media/image46.png"/><Relationship Id="rId27" Type="http://schemas.openxmlformats.org/officeDocument/2006/relationships/tags" Target="../tags/tag18.xml"/><Relationship Id="rId26" Type="http://schemas.openxmlformats.org/officeDocument/2006/relationships/tags" Target="../tags/tag17.xml"/><Relationship Id="rId25" Type="http://schemas.openxmlformats.org/officeDocument/2006/relationships/image" Target="../media/image45.png"/><Relationship Id="rId24" Type="http://schemas.openxmlformats.org/officeDocument/2006/relationships/tags" Target="../tags/tag16.xml"/><Relationship Id="rId23" Type="http://schemas.openxmlformats.org/officeDocument/2006/relationships/tags" Target="../tags/tag15.xml"/><Relationship Id="rId22" Type="http://schemas.openxmlformats.org/officeDocument/2006/relationships/tags" Target="../tags/tag14.xml"/><Relationship Id="rId21" Type="http://schemas.openxmlformats.org/officeDocument/2006/relationships/image" Target="../media/image44.png"/><Relationship Id="rId20" Type="http://schemas.openxmlformats.org/officeDocument/2006/relationships/tags" Target="../tags/tag13.xml"/><Relationship Id="rId2" Type="http://schemas.openxmlformats.org/officeDocument/2006/relationships/image" Target="../media/image38.png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43.png"/><Relationship Id="rId16" Type="http://schemas.openxmlformats.org/officeDocument/2006/relationships/tags" Target="../tags/tag10.xml"/><Relationship Id="rId15" Type="http://schemas.openxmlformats.org/officeDocument/2006/relationships/tags" Target="../tags/tag9.xml"/><Relationship Id="rId14" Type="http://schemas.openxmlformats.org/officeDocument/2006/relationships/tags" Target="../tags/tag8.xml"/><Relationship Id="rId13" Type="http://schemas.openxmlformats.org/officeDocument/2006/relationships/image" Target="../media/image42.png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53.png"/><Relationship Id="rId24" Type="http://schemas.openxmlformats.org/officeDocument/2006/relationships/notesSlide" Target="../notesSlides/notesSlide5.xml"/><Relationship Id="rId23" Type="http://schemas.openxmlformats.org/officeDocument/2006/relationships/slideLayout" Target="../slideLayouts/slideLayout6.xml"/><Relationship Id="rId22" Type="http://schemas.openxmlformats.org/officeDocument/2006/relationships/tags" Target="../tags/tag36.xml"/><Relationship Id="rId21" Type="http://schemas.openxmlformats.org/officeDocument/2006/relationships/tags" Target="../tags/tag35.xml"/><Relationship Id="rId20" Type="http://schemas.openxmlformats.org/officeDocument/2006/relationships/tags" Target="../tags/tag34.xml"/><Relationship Id="rId2" Type="http://schemas.openxmlformats.org/officeDocument/2006/relationships/image" Target="../media/image52.png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image" Target="../media/image54.png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image" Target="../media/image64.png"/><Relationship Id="rId3" Type="http://schemas.openxmlformats.org/officeDocument/2006/relationships/tags" Target="../tags/tag37.xml"/><Relationship Id="rId24" Type="http://schemas.openxmlformats.org/officeDocument/2006/relationships/slideLayout" Target="../slideLayouts/slideLayout6.xml"/><Relationship Id="rId23" Type="http://schemas.openxmlformats.org/officeDocument/2006/relationships/tags" Target="../tags/tag56.xml"/><Relationship Id="rId22" Type="http://schemas.openxmlformats.org/officeDocument/2006/relationships/tags" Target="../tags/tag55.xml"/><Relationship Id="rId21" Type="http://schemas.openxmlformats.org/officeDocument/2006/relationships/tags" Target="../tags/tag54.xml"/><Relationship Id="rId20" Type="http://schemas.openxmlformats.org/officeDocument/2006/relationships/tags" Target="../tags/tag53.xml"/><Relationship Id="rId2" Type="http://schemas.openxmlformats.org/officeDocument/2006/relationships/image" Target="../media/image63.png"/><Relationship Id="rId19" Type="http://schemas.openxmlformats.org/officeDocument/2006/relationships/tags" Target="../tags/tag52.xml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AutoShape 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</p:sp>
      <p:sp>
        <p:nvSpPr>
          <p:cNvPr id="6" name="AutoShape 6"/>
          <p:cNvSpPr/>
          <p:nvPr/>
        </p:nvSpPr>
        <p:spPr>
          <a:xfrm>
            <a:off x="3751911" y="2457450"/>
            <a:ext cx="4685129" cy="45720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457086" y="2457450"/>
            <a:ext cx="11274781" cy="4572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36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源于竞赛，不止于竞赛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491652" y="3143250"/>
            <a:ext cx="7208623" cy="342900"/>
          </a:xfrm>
          <a:prstGeom prst="rect">
            <a:avLst/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2491652" y="3152775"/>
            <a:ext cx="9240214" cy="3143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2200" b="0" i="0" strike="noStrike">
                <a:solidFill>
                  <a:srgbClr val="DBEAF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原生研发的认知跃迁——以手机银行为载体的调教实录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637390" y="3790950"/>
            <a:ext cx="914171" cy="38100"/>
          </a:xfrm>
          <a:prstGeom prst="roundRect">
            <a:avLst>
              <a:gd name="adj" fmla="val 50000"/>
            </a:avLst>
          </a:prstGeom>
          <a:solidFill>
            <a:srgbClr val="3B82F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457086" y="4133850"/>
            <a:ext cx="11274781" cy="266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1500" b="0" i="0" strike="noStrike">
                <a:solidFill>
                  <a:srgbClr val="E5E7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手机银行核心业务系统 · AI 原生研发实践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AutoShape 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2135939" y="457200"/>
            <a:ext cx="9383202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27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原生研发实践——手机银行核心业务系统项目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37390" y="914400"/>
            <a:ext cx="914171" cy="38100"/>
          </a:xfrm>
          <a:prstGeom prst="roundRect">
            <a:avLst>
              <a:gd name="adj" fmla="val 5000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457086" y="1104900"/>
            <a:ext cx="11274781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18895" y="2124075"/>
            <a:ext cx="4647038" cy="1009650"/>
          </a:xfrm>
          <a:prstGeom prst="roundRect">
            <a:avLst>
              <a:gd name="adj" fmla="val 1025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1418871" y="2324100"/>
            <a:ext cx="609448" cy="609600"/>
          </a:xfrm>
          <a:prstGeom prst="roundRect">
            <a:avLst>
              <a:gd name="adj" fmla="val 18755"/>
            </a:avLst>
          </a:prstGeom>
          <a:solidFill>
            <a:srgbClr val="EFF6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1564686" y="2466975"/>
            <a:ext cx="463633" cy="3143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2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2218770" y="2352675"/>
            <a:ext cx="344718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项目背景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2218770" y="2657475"/>
            <a:ext cx="344718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 字功能描述，两周构建一个银行系统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23019" y="2124075"/>
            <a:ext cx="4647038" cy="1009650"/>
          </a:xfrm>
          <a:prstGeom prst="roundRect">
            <a:avLst>
              <a:gd name="adj" fmla="val 1025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6522994" y="2324100"/>
            <a:ext cx="609448" cy="609600"/>
          </a:xfrm>
          <a:prstGeom prst="roundRect">
            <a:avLst>
              <a:gd name="adj" fmla="val 18755"/>
            </a:avLst>
          </a:prstGeom>
          <a:solidFill>
            <a:srgbClr val="EFF6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6668809" y="2466975"/>
            <a:ext cx="463633" cy="3143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2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7322894" y="2352675"/>
            <a:ext cx="344718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7322894" y="2657475"/>
            <a:ext cx="344718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代码完美但业务语义存在偏差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218895" y="3362325"/>
            <a:ext cx="4647038" cy="1009650"/>
          </a:xfrm>
          <a:prstGeom prst="roundRect">
            <a:avLst>
              <a:gd name="adj" fmla="val 1025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1418871" y="3562350"/>
            <a:ext cx="609448" cy="609600"/>
          </a:xfrm>
          <a:prstGeom prst="roundRect">
            <a:avLst>
              <a:gd name="adj" fmla="val 18755"/>
            </a:avLst>
          </a:prstGeom>
          <a:solidFill>
            <a:srgbClr val="EFF6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1564686" y="3705225"/>
            <a:ext cx="463633" cy="3143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2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2218770" y="3590925"/>
            <a:ext cx="344718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方法论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2218770" y="3895725"/>
            <a:ext cx="344718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文档驱动的研发闭环与认知拐点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23019" y="3362325"/>
            <a:ext cx="4647038" cy="1009650"/>
          </a:xfrm>
          <a:prstGeom prst="roundRect">
            <a:avLst>
              <a:gd name="adj" fmla="val 1025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>
            <a:off x="6522994" y="3562350"/>
            <a:ext cx="609448" cy="609600"/>
          </a:xfrm>
          <a:prstGeom prst="roundRect">
            <a:avLst>
              <a:gd name="adj" fmla="val 18755"/>
            </a:avLst>
          </a:prstGeom>
          <a:solidFill>
            <a:srgbClr val="EFF6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6668809" y="3705225"/>
            <a:ext cx="463633" cy="3143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2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7322894" y="3590925"/>
            <a:ext cx="344718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7322894" y="3895725"/>
            <a:ext cx="344718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MCP-Skill 引擎与六层系统设计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218895" y="4600575"/>
            <a:ext cx="4647038" cy="1009650"/>
          </a:xfrm>
          <a:prstGeom prst="roundRect">
            <a:avLst>
              <a:gd name="adj" fmla="val 1025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0" name="AutoShape 30"/>
          <p:cNvSpPr/>
          <p:nvPr/>
        </p:nvSpPr>
        <p:spPr>
          <a:xfrm>
            <a:off x="1418871" y="4800600"/>
            <a:ext cx="609448" cy="609600"/>
          </a:xfrm>
          <a:prstGeom prst="roundRect">
            <a:avLst>
              <a:gd name="adj" fmla="val 18755"/>
            </a:avLst>
          </a:prstGeom>
          <a:solidFill>
            <a:srgbClr val="EFF6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TextBox 31"/>
          <p:cNvSpPr txBox="1"/>
          <p:nvPr/>
        </p:nvSpPr>
        <p:spPr>
          <a:xfrm>
            <a:off x="1564686" y="4943475"/>
            <a:ext cx="463633" cy="3143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2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2218770" y="4829175"/>
            <a:ext cx="344718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挑战应对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2218770" y="5133975"/>
            <a:ext cx="344718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真实场景中的问题与解决方案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323019" y="4600575"/>
            <a:ext cx="4647038" cy="1009650"/>
          </a:xfrm>
          <a:prstGeom prst="roundRect">
            <a:avLst>
              <a:gd name="adj" fmla="val 1025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5" name="AutoShape 35"/>
          <p:cNvSpPr/>
          <p:nvPr/>
        </p:nvSpPr>
        <p:spPr>
          <a:xfrm>
            <a:off x="6522994" y="4800600"/>
            <a:ext cx="609448" cy="609600"/>
          </a:xfrm>
          <a:prstGeom prst="roundRect">
            <a:avLst>
              <a:gd name="adj" fmla="val 18755"/>
            </a:avLst>
          </a:prstGeom>
          <a:solidFill>
            <a:srgbClr val="EFF6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6" name="TextBox 36"/>
          <p:cNvSpPr txBox="1"/>
          <p:nvPr/>
        </p:nvSpPr>
        <p:spPr>
          <a:xfrm>
            <a:off x="6668809" y="4943475"/>
            <a:ext cx="463633" cy="3143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2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7322894" y="4829175"/>
            <a:ext cx="344718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成果验证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7322894" y="5133975"/>
            <a:ext cx="344718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量化数据与认知升级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457086" y="6286500"/>
            <a:ext cx="76181" cy="76200"/>
          </a:xfrm>
          <a:prstGeom prst="ellipse">
            <a:avLst/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0" name="TextBox 40"/>
          <p:cNvSpPr txBox="1"/>
          <p:nvPr/>
        </p:nvSpPr>
        <p:spPr>
          <a:xfrm>
            <a:off x="609448" y="6257925"/>
            <a:ext cx="164175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9CA3A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Native Development Practice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10976008" y="6257925"/>
            <a:ext cx="755858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9CA3A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Confidential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11655685" y="6286500"/>
            <a:ext cx="76181" cy="76200"/>
          </a:xfrm>
          <a:prstGeom prst="ellipse">
            <a:avLst/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3175" y="0"/>
            <a:ext cx="12188952" cy="6858000"/>
          </a:xfrm>
          <a:prstGeom prst="rect">
            <a:avLst/>
          </a:prstGeom>
          <a:gradFill>
            <a:gsLst>
              <a:gs pos="0">
                <a:srgbClr val="F8FAFC">
                  <a:alpha val="100000"/>
                </a:srgbClr>
              </a:gs>
              <a:gs pos="100000">
                <a:srgbClr val="EFF6FF">
                  <a:alpha val="100000"/>
                </a:srgbClr>
              </a:gs>
            </a:gsLst>
            <a:lin ang="8100000"/>
          </a:gradFill>
          <a:ln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>
            <a:off x="457086" y="1028700"/>
            <a:ext cx="457086" cy="38100"/>
          </a:xfrm>
          <a:prstGeom prst="roundRect">
            <a:avLst>
              <a:gd name="adj" fmla="val 5000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1028442" y="942975"/>
            <a:ext cx="1070342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原生研发实践的起点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086" y="1409700"/>
            <a:ext cx="3837615" cy="4686300"/>
          </a:xfrm>
          <a:prstGeom prst="roundRect">
            <a:avLst>
              <a:gd name="adj" fmla="val 709"/>
            </a:avLst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466608" y="1419225"/>
            <a:ext cx="3820504" cy="466725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AutoShape 9"/>
          <p:cNvSpPr/>
          <p:nvPr/>
        </p:nvSpPr>
        <p:spPr>
          <a:xfrm>
            <a:off x="762174" y="6199922"/>
            <a:ext cx="103707" cy="82987"/>
          </a:xfrm>
          <a:custGeom>
            <a:avLst/>
            <a:gdLst/>
            <a:ahLst/>
            <a:cxnLst/>
            <a:rect l="l" t="t" r="r" b="b"/>
            <a:pathLst>
              <a:path w="12497" h="10000">
                <a:moveTo>
                  <a:pt x="6873" y="625"/>
                </a:moveTo>
                <a:cubicBezTo>
                  <a:pt x="6873" y="279"/>
                  <a:pt x="6594" y="0"/>
                  <a:pt x="6249" y="0"/>
                </a:cubicBezTo>
                <a:cubicBezTo>
                  <a:pt x="5904" y="0"/>
                  <a:pt x="5624" y="280"/>
                  <a:pt x="5624" y="625"/>
                </a:cubicBezTo>
                <a:lnTo>
                  <a:pt x="5624" y="1875"/>
                </a:lnTo>
                <a:lnTo>
                  <a:pt x="3749" y="1875"/>
                </a:lnTo>
                <a:cubicBezTo>
                  <a:pt x="2714" y="1875"/>
                  <a:pt x="1875" y="2715"/>
                  <a:pt x="1875" y="3750"/>
                </a:cubicBezTo>
                <a:lnTo>
                  <a:pt x="1875" y="8125"/>
                </a:lnTo>
                <a:cubicBezTo>
                  <a:pt x="1875" y="9160"/>
                  <a:pt x="2714" y="10000"/>
                  <a:pt x="3749" y="10000"/>
                </a:cubicBezTo>
                <a:lnTo>
                  <a:pt x="8748" y="10000"/>
                </a:lnTo>
                <a:cubicBezTo>
                  <a:pt x="9783" y="10000"/>
                  <a:pt x="10622" y="9160"/>
                  <a:pt x="10622" y="8125"/>
                </a:cubicBezTo>
                <a:lnTo>
                  <a:pt x="10622" y="3750"/>
                </a:lnTo>
                <a:cubicBezTo>
                  <a:pt x="10622" y="2715"/>
                  <a:pt x="9783" y="1875"/>
                  <a:pt x="8748" y="1875"/>
                </a:cubicBezTo>
                <a:lnTo>
                  <a:pt x="6873" y="1875"/>
                </a:lnTo>
                <a:lnTo>
                  <a:pt x="6873" y="625"/>
                </a:lnTo>
                <a:close/>
                <a:moveTo>
                  <a:pt x="3124" y="7813"/>
                </a:moveTo>
                <a:cubicBezTo>
                  <a:pt x="3124" y="7553"/>
                  <a:pt x="3333" y="7344"/>
                  <a:pt x="3593" y="7344"/>
                </a:cubicBezTo>
                <a:lnTo>
                  <a:pt x="4218" y="7344"/>
                </a:lnTo>
                <a:cubicBezTo>
                  <a:pt x="4477" y="7344"/>
                  <a:pt x="4686" y="7553"/>
                  <a:pt x="4686" y="7813"/>
                </a:cubicBezTo>
                <a:cubicBezTo>
                  <a:pt x="4686" y="8071"/>
                  <a:pt x="4476" y="8281"/>
                  <a:pt x="4218" y="8281"/>
                </a:cubicBezTo>
                <a:lnTo>
                  <a:pt x="3593" y="8281"/>
                </a:lnTo>
                <a:cubicBezTo>
                  <a:pt x="3333" y="8281"/>
                  <a:pt x="3124" y="8072"/>
                  <a:pt x="3124" y="7813"/>
                </a:cubicBezTo>
                <a:close/>
                <a:moveTo>
                  <a:pt x="5467" y="7813"/>
                </a:moveTo>
                <a:cubicBezTo>
                  <a:pt x="5467" y="7553"/>
                  <a:pt x="5676" y="7344"/>
                  <a:pt x="5936" y="7344"/>
                </a:cubicBezTo>
                <a:lnTo>
                  <a:pt x="6561" y="7344"/>
                </a:lnTo>
                <a:cubicBezTo>
                  <a:pt x="6821" y="7344"/>
                  <a:pt x="7030" y="7553"/>
                  <a:pt x="7030" y="7813"/>
                </a:cubicBezTo>
                <a:cubicBezTo>
                  <a:pt x="7030" y="8071"/>
                  <a:pt x="6820" y="8281"/>
                  <a:pt x="6561" y="8281"/>
                </a:cubicBezTo>
                <a:lnTo>
                  <a:pt x="5936" y="8281"/>
                </a:lnTo>
                <a:cubicBezTo>
                  <a:pt x="5676" y="8281"/>
                  <a:pt x="5467" y="8072"/>
                  <a:pt x="5467" y="7813"/>
                </a:cubicBezTo>
                <a:close/>
                <a:moveTo>
                  <a:pt x="7811" y="7813"/>
                </a:moveTo>
                <a:cubicBezTo>
                  <a:pt x="7811" y="7553"/>
                  <a:pt x="8020" y="7344"/>
                  <a:pt x="8279" y="7344"/>
                </a:cubicBezTo>
                <a:lnTo>
                  <a:pt x="8904" y="7344"/>
                </a:lnTo>
                <a:cubicBezTo>
                  <a:pt x="9164" y="7344"/>
                  <a:pt x="9373" y="7553"/>
                  <a:pt x="9373" y="7813"/>
                </a:cubicBezTo>
                <a:cubicBezTo>
                  <a:pt x="9373" y="8071"/>
                  <a:pt x="9163" y="8281"/>
                  <a:pt x="8904" y="8281"/>
                </a:cubicBezTo>
                <a:lnTo>
                  <a:pt x="8279" y="8281"/>
                </a:lnTo>
                <a:cubicBezTo>
                  <a:pt x="8020" y="8281"/>
                  <a:pt x="7811" y="8072"/>
                  <a:pt x="7811" y="7813"/>
                </a:cubicBezTo>
                <a:close/>
                <a:moveTo>
                  <a:pt x="4374" y="4063"/>
                </a:moveTo>
                <a:cubicBezTo>
                  <a:pt x="4891" y="4063"/>
                  <a:pt x="5311" y="4483"/>
                  <a:pt x="5311" y="5000"/>
                </a:cubicBezTo>
                <a:cubicBezTo>
                  <a:pt x="5311" y="5517"/>
                  <a:pt x="4891" y="5938"/>
                  <a:pt x="4374" y="5938"/>
                </a:cubicBezTo>
                <a:cubicBezTo>
                  <a:pt x="3857" y="5938"/>
                  <a:pt x="3437" y="5517"/>
                  <a:pt x="3437" y="5000"/>
                </a:cubicBezTo>
                <a:cubicBezTo>
                  <a:pt x="3437" y="4483"/>
                  <a:pt x="3857" y="4063"/>
                  <a:pt x="4374" y="4063"/>
                </a:cubicBezTo>
                <a:close/>
                <a:moveTo>
                  <a:pt x="7186" y="5000"/>
                </a:moveTo>
                <a:cubicBezTo>
                  <a:pt x="7186" y="4483"/>
                  <a:pt x="7606" y="4063"/>
                  <a:pt x="8123" y="4063"/>
                </a:cubicBezTo>
                <a:cubicBezTo>
                  <a:pt x="8640" y="4063"/>
                  <a:pt x="9060" y="4483"/>
                  <a:pt x="9060" y="5000"/>
                </a:cubicBezTo>
                <a:cubicBezTo>
                  <a:pt x="9060" y="5517"/>
                  <a:pt x="8640" y="5938"/>
                  <a:pt x="8123" y="5938"/>
                </a:cubicBezTo>
                <a:cubicBezTo>
                  <a:pt x="7606" y="5938"/>
                  <a:pt x="7186" y="5517"/>
                  <a:pt x="7186" y="5000"/>
                </a:cubicBezTo>
                <a:close/>
                <a:moveTo>
                  <a:pt x="1250" y="5000"/>
                </a:moveTo>
                <a:cubicBezTo>
                  <a:pt x="1250" y="4654"/>
                  <a:pt x="970" y="4375"/>
                  <a:pt x="625" y="4375"/>
                </a:cubicBezTo>
                <a:cubicBezTo>
                  <a:pt x="280" y="4375"/>
                  <a:pt x="0" y="4655"/>
                  <a:pt x="0" y="5000"/>
                </a:cubicBezTo>
                <a:lnTo>
                  <a:pt x="0" y="6875"/>
                </a:lnTo>
                <a:cubicBezTo>
                  <a:pt x="0" y="7221"/>
                  <a:pt x="279" y="7500"/>
                  <a:pt x="625" y="7500"/>
                </a:cubicBezTo>
                <a:cubicBezTo>
                  <a:pt x="970" y="7500"/>
                  <a:pt x="1250" y="7220"/>
                  <a:pt x="1250" y="6875"/>
                </a:cubicBezTo>
                <a:lnTo>
                  <a:pt x="1250" y="5000"/>
                </a:lnTo>
                <a:close/>
                <a:moveTo>
                  <a:pt x="11872" y="4375"/>
                </a:moveTo>
                <a:cubicBezTo>
                  <a:pt x="11527" y="4375"/>
                  <a:pt x="11247" y="4654"/>
                  <a:pt x="11247" y="5000"/>
                </a:cubicBezTo>
                <a:lnTo>
                  <a:pt x="11247" y="6875"/>
                </a:lnTo>
                <a:cubicBezTo>
                  <a:pt x="11247" y="7221"/>
                  <a:pt x="11527" y="7500"/>
                  <a:pt x="11872" y="7500"/>
                </a:cubicBezTo>
                <a:cubicBezTo>
                  <a:pt x="12217" y="7500"/>
                  <a:pt x="12497" y="7220"/>
                  <a:pt x="12497" y="6875"/>
                </a:cubicBezTo>
                <a:lnTo>
                  <a:pt x="12497" y="5000"/>
                </a:lnTo>
                <a:cubicBezTo>
                  <a:pt x="12497" y="4654"/>
                  <a:pt x="12218" y="4375"/>
                  <a:pt x="11872" y="4375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990600" y="6193155"/>
            <a:ext cx="2511425" cy="1238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zh-CN" altLang="en-US" sz="1000" b="0" strike="noStrike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手机核心功能要求</a:t>
            </a:r>
            <a:endParaRPr lang="zh-CN" altLang="en-US" sz="1000" b="0" strike="noStrike">
              <a:solidFill>
                <a:srgbClr val="6B728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01359" y="1409700"/>
            <a:ext cx="7132442" cy="904875"/>
          </a:xfrm>
          <a:prstGeom prst="roundRect">
            <a:avLst>
              <a:gd name="adj" fmla="val 8528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2" name="AutoShape 12"/>
          <p:cNvSpPr/>
          <p:nvPr/>
        </p:nvSpPr>
        <p:spPr>
          <a:xfrm>
            <a:off x="4829901" y="1638300"/>
            <a:ext cx="304724" cy="304800"/>
          </a:xfrm>
          <a:prstGeom prst="ellipse">
            <a:avLst/>
          </a:prstGeom>
          <a:solidFill>
            <a:srgbClr val="EFF6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4829901" y="1638300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0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286987" y="1638300"/>
            <a:ext cx="625442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项目规模挑战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5286987" y="1943100"/>
            <a:ext cx="625442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 字功能描述，需在两周内完成全流程构建，时间紧任务重。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01359" y="2426941"/>
            <a:ext cx="7132442" cy="904875"/>
          </a:xfrm>
          <a:prstGeom prst="roundRect">
            <a:avLst>
              <a:gd name="adj" fmla="val 8527"/>
            </a:avLst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4829901" y="2655541"/>
            <a:ext cx="304724" cy="304800"/>
          </a:xfrm>
          <a:prstGeom prst="ellipse">
            <a:avLst/>
          </a:prstGeom>
          <a:solidFill>
            <a:srgbClr val="FFF7E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4829901" y="2655541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000" b="1" i="0" strike="noStrike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5286987" y="2655541"/>
            <a:ext cx="625442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多角色扮演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5286987" y="2960341"/>
            <a:ext cx="625442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需同时扮演五个不同角色，生成七份专业文档，协同复杂度极高。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601359" y="3444329"/>
            <a:ext cx="7132442" cy="923925"/>
          </a:xfrm>
          <a:prstGeom prst="roundRect">
            <a:avLst>
              <a:gd name="adj" fmla="val 8180"/>
            </a:avLst>
          </a:prstGeom>
          <a:blipFill rotWithShape="1">
            <a:blip r:embed="rId5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>
            <a:off x="11201724" y="3593530"/>
            <a:ext cx="444439" cy="4445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0"/>
                </a:moveTo>
                <a:cubicBezTo>
                  <a:pt x="5292" y="0"/>
                  <a:pt x="5560" y="169"/>
                  <a:pt x="5699" y="438"/>
                </a:cubicBezTo>
                <a:lnTo>
                  <a:pt x="9998" y="8771"/>
                </a:lnTo>
                <a:cubicBezTo>
                  <a:pt x="10131" y="9029"/>
                  <a:pt x="10125" y="9342"/>
                  <a:pt x="9982" y="9594"/>
                </a:cubicBezTo>
                <a:cubicBezTo>
                  <a:pt x="9838" y="9846"/>
                  <a:pt x="9578" y="10001"/>
                  <a:pt x="9298" y="10000"/>
                </a:cubicBezTo>
                <a:lnTo>
                  <a:pt x="700" y="10000"/>
                </a:lnTo>
                <a:cubicBezTo>
                  <a:pt x="420" y="10000"/>
                  <a:pt x="159" y="9846"/>
                  <a:pt x="16" y="9594"/>
                </a:cubicBezTo>
                <a:cubicBezTo>
                  <a:pt x="-128" y="9342"/>
                  <a:pt x="-134" y="9029"/>
                  <a:pt x="0" y="8771"/>
                </a:cubicBezTo>
                <a:lnTo>
                  <a:pt x="4299" y="438"/>
                </a:lnTo>
                <a:cubicBezTo>
                  <a:pt x="4438" y="169"/>
                  <a:pt x="4706" y="0"/>
                  <a:pt x="4999" y="0"/>
                </a:cubicBezTo>
                <a:close/>
                <a:moveTo>
                  <a:pt x="4999" y="7333"/>
                </a:moveTo>
                <a:cubicBezTo>
                  <a:pt x="4648" y="7333"/>
                  <a:pt x="4362" y="7632"/>
                  <a:pt x="4362" y="8000"/>
                </a:cubicBezTo>
                <a:cubicBezTo>
                  <a:pt x="4362" y="8368"/>
                  <a:pt x="4648" y="8667"/>
                  <a:pt x="4999" y="8667"/>
                </a:cubicBezTo>
                <a:cubicBezTo>
                  <a:pt x="5350" y="8667"/>
                  <a:pt x="5636" y="8368"/>
                  <a:pt x="5636" y="8000"/>
                </a:cubicBezTo>
                <a:cubicBezTo>
                  <a:pt x="5636" y="7632"/>
                  <a:pt x="5350" y="7333"/>
                  <a:pt x="4999" y="7333"/>
                </a:cubicBezTo>
                <a:close/>
                <a:moveTo>
                  <a:pt x="4999" y="3333"/>
                </a:moveTo>
                <a:cubicBezTo>
                  <a:pt x="4637" y="3333"/>
                  <a:pt x="4348" y="3656"/>
                  <a:pt x="4374" y="4035"/>
                </a:cubicBezTo>
                <a:lnTo>
                  <a:pt x="4521" y="6202"/>
                </a:lnTo>
                <a:cubicBezTo>
                  <a:pt x="4539" y="6462"/>
                  <a:pt x="4748" y="6667"/>
                  <a:pt x="4997" y="6667"/>
                </a:cubicBezTo>
                <a:cubicBezTo>
                  <a:pt x="5248" y="6667"/>
                  <a:pt x="5455" y="6465"/>
                  <a:pt x="5473" y="6202"/>
                </a:cubicBezTo>
                <a:lnTo>
                  <a:pt x="5620" y="4035"/>
                </a:lnTo>
                <a:cubicBezTo>
                  <a:pt x="5646" y="3656"/>
                  <a:pt x="5359" y="3333"/>
                  <a:pt x="4995" y="3333"/>
                </a:cubicBezTo>
                <a:close/>
              </a:path>
            </a:pathLst>
          </a:custGeom>
          <a:solidFill>
            <a:srgbClr val="DC2626">
              <a:alpha val="10196"/>
            </a:srgbClr>
          </a:solidFill>
          <a:ln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>
            <a:off x="4801334" y="3682454"/>
            <a:ext cx="304724" cy="304800"/>
          </a:xfrm>
          <a:prstGeom prst="ellipse">
            <a:avLst/>
          </a:prstGeom>
          <a:solidFill>
            <a:srgbClr val="FEE2E2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4901768" y="3775578"/>
            <a:ext cx="103707" cy="118552"/>
          </a:xfrm>
          <a:custGeom>
            <a:avLst/>
            <a:gdLst/>
            <a:ahLst/>
            <a:cxnLst/>
            <a:rect l="l" t="t" r="r" b="b"/>
            <a:pathLst>
              <a:path w="8748" h="10000">
                <a:moveTo>
                  <a:pt x="6635" y="0"/>
                </a:moveTo>
                <a:cubicBezTo>
                  <a:pt x="6869" y="162"/>
                  <a:pt x="6956" y="455"/>
                  <a:pt x="6850" y="711"/>
                </a:cubicBezTo>
                <a:lnTo>
                  <a:pt x="5306" y="4398"/>
                </a:lnTo>
                <a:lnTo>
                  <a:pt x="8155" y="4398"/>
                </a:lnTo>
                <a:cubicBezTo>
                  <a:pt x="8421" y="4398"/>
                  <a:pt x="8657" y="4556"/>
                  <a:pt x="8748" y="4795"/>
                </a:cubicBezTo>
                <a:cubicBezTo>
                  <a:pt x="8838" y="5033"/>
                  <a:pt x="8763" y="5300"/>
                  <a:pt x="8559" y="5463"/>
                </a:cubicBezTo>
                <a:lnTo>
                  <a:pt x="2887" y="9976"/>
                </a:lnTo>
                <a:cubicBezTo>
                  <a:pt x="2665" y="10152"/>
                  <a:pt x="2348" y="10162"/>
                  <a:pt x="2113" y="10000"/>
                </a:cubicBezTo>
                <a:cubicBezTo>
                  <a:pt x="1880" y="9838"/>
                  <a:pt x="1791" y="9545"/>
                  <a:pt x="1898" y="9289"/>
                </a:cubicBezTo>
                <a:lnTo>
                  <a:pt x="3442" y="5602"/>
                </a:lnTo>
                <a:lnTo>
                  <a:pt x="593" y="5602"/>
                </a:lnTo>
                <a:cubicBezTo>
                  <a:pt x="327" y="5602"/>
                  <a:pt x="91" y="5444"/>
                  <a:pt x="0" y="5205"/>
                </a:cubicBezTo>
                <a:cubicBezTo>
                  <a:pt x="-90" y="4967"/>
                  <a:pt x="-15" y="4700"/>
                  <a:pt x="189" y="4537"/>
                </a:cubicBezTo>
                <a:lnTo>
                  <a:pt x="5861" y="24"/>
                </a:lnTo>
                <a:cubicBezTo>
                  <a:pt x="6083" y="-152"/>
                  <a:pt x="6400" y="-162"/>
                  <a:pt x="6635" y="0"/>
                </a:cubicBezTo>
                <a:close/>
              </a:path>
            </a:pathLst>
          </a:custGeom>
          <a:solidFill>
            <a:srgbClr val="DC262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5258420" y="3682454"/>
            <a:ext cx="627347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B9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核心悖论：完美的陷阱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5258420" y="3987254"/>
            <a:ext cx="627347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写的代码语法完美、测试全通过，但业务语义存在隐蔽偏差。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01359" y="4480620"/>
            <a:ext cx="7132442" cy="904875"/>
          </a:xfrm>
          <a:prstGeom prst="roundRect">
            <a:avLst>
              <a:gd name="adj" fmla="val 8528"/>
            </a:avLst>
          </a:prstGeom>
          <a:blipFill rotWithShape="1">
            <a:blip r:embed="rId6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8" name="AutoShape 28"/>
          <p:cNvSpPr/>
          <p:nvPr/>
        </p:nvSpPr>
        <p:spPr>
          <a:xfrm>
            <a:off x="4829901" y="4709220"/>
            <a:ext cx="304724" cy="304800"/>
          </a:xfrm>
          <a:prstGeom prst="ellipse">
            <a:avLst/>
          </a:prstGeom>
          <a:solidFill>
            <a:srgbClr val="ECFD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9" name="TextBox 29"/>
          <p:cNvSpPr txBox="1"/>
          <p:nvPr/>
        </p:nvSpPr>
        <p:spPr>
          <a:xfrm>
            <a:off x="4829901" y="4709220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000" b="1" i="0" strike="noStrike">
                <a:solidFill>
                  <a:srgbClr val="05966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5286987" y="4709220"/>
            <a:ext cx="625442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关键发现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5286987" y="5014020"/>
            <a:ext cx="625442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偏差恰恰因为代码太完美而更难被发现，传统测试手段失效。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601359" y="5497859"/>
            <a:ext cx="7132442" cy="904875"/>
          </a:xfrm>
          <a:prstGeom prst="roundRect">
            <a:avLst>
              <a:gd name="adj" fmla="val 8528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3" name="AutoShape 33"/>
          <p:cNvSpPr/>
          <p:nvPr/>
        </p:nvSpPr>
        <p:spPr>
          <a:xfrm>
            <a:off x="4829901" y="5726459"/>
            <a:ext cx="304724" cy="304800"/>
          </a:xfrm>
          <a:prstGeom prst="ellipse">
            <a:avLst/>
          </a:prstGeom>
          <a:solidFill>
            <a:srgbClr val="EFF6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4" name="TextBox 34"/>
          <p:cNvSpPr txBox="1"/>
          <p:nvPr/>
        </p:nvSpPr>
        <p:spPr>
          <a:xfrm>
            <a:off x="4829901" y="5726459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0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5286987" y="5726459"/>
            <a:ext cx="625442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根本问题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5286987" y="6031259"/>
            <a:ext cx="625442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不是代码本身的问题，而是 AI 理解业务逻辑的方式需要重新设计。</a:t>
            </a:r>
            <a:endParaRPr lang="en-US" sz="1100"/>
          </a:p>
        </p:txBody>
      </p:sp>
      <p:sp>
        <p:nvSpPr>
          <p:cNvPr id="42" name="TextBox 5"/>
          <p:cNvSpPr txBox="1"/>
          <p:nvPr/>
        </p:nvSpPr>
        <p:spPr>
          <a:xfrm>
            <a:off x="685629" y="554355"/>
            <a:ext cx="1104623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项目背景</a:t>
            </a:r>
            <a:endParaRPr lang="en-US" sz="1100"/>
          </a:p>
        </p:txBody>
      </p:sp>
      <p:sp>
        <p:nvSpPr>
          <p:cNvPr id="43" name="AutoShape 4"/>
          <p:cNvSpPr/>
          <p:nvPr/>
        </p:nvSpPr>
        <p:spPr>
          <a:xfrm>
            <a:off x="457086" y="533400"/>
            <a:ext cx="76181" cy="304800"/>
          </a:xfrm>
          <a:prstGeom prst="roundRect">
            <a:avLst>
              <a:gd name="adj" fmla="val 5000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6" name="文本框 45"/>
          <p:cNvSpPr txBox="1"/>
          <p:nvPr/>
        </p:nvSpPr>
        <p:spPr>
          <a:xfrm>
            <a:off x="533400" y="1801495"/>
            <a:ext cx="3749675" cy="4002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实现一套简易手机银行核心业务功能。包括</a:t>
            </a:r>
            <a:r>
              <a:rPr lang="zh-CN" altLang="en-US">
                <a:solidFill>
                  <a:srgbClr val="00B0F0"/>
                </a:solidFill>
              </a:rPr>
              <a:t>账户与登录</a:t>
            </a:r>
            <a:r>
              <a:rPr lang="zh-CN" altLang="en-US"/>
              <a:t>、</a:t>
            </a:r>
            <a:r>
              <a:rPr lang="zh-CN" altLang="en-US">
                <a:solidFill>
                  <a:srgbClr val="00B0F0"/>
                </a:solidFill>
              </a:rPr>
              <a:t>账户和银行卡管理</a:t>
            </a:r>
            <a:r>
              <a:rPr lang="zh-CN" altLang="en-US"/>
              <a:t>、</a:t>
            </a:r>
            <a:r>
              <a:rPr lang="zh-CN" altLang="en-US">
                <a:solidFill>
                  <a:srgbClr val="00B0F0"/>
                </a:solidFill>
              </a:rPr>
              <a:t>交易和查询</a:t>
            </a:r>
            <a:r>
              <a:rPr lang="zh-CN" altLang="en-US"/>
              <a:t>、</a:t>
            </a:r>
            <a:r>
              <a:rPr lang="zh-CN" altLang="en-US">
                <a:solidFill>
                  <a:srgbClr val="00B0F0"/>
                </a:solidFill>
              </a:rPr>
              <a:t>基础安全性</a:t>
            </a:r>
            <a:r>
              <a:rPr lang="zh-CN" altLang="en-US"/>
              <a:t>等主要模块。用户可完成登录认证与状态管理，进行银行卡绑定及账户信息管理，实现余额账单查询、转账汇款与生活缴费等服务，并通过密码校验、限额控制、风险提示、二次确认与交易日志留存保障基本的操作安全，满足个人基础线上金融服务需求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>
            <a:gsLst>
              <a:gs pos="0">
                <a:srgbClr val="F8FAFC">
                  <a:alpha val="100000"/>
                </a:srgbClr>
              </a:gs>
              <a:gs pos="100000">
                <a:srgbClr val="EFF6FF">
                  <a:alpha val="100000"/>
                </a:srgbClr>
              </a:gs>
            </a:gsLst>
            <a:lin ang="8100000"/>
          </a:gradFill>
          <a:ln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>
            <a:off x="457086" y="457200"/>
            <a:ext cx="76181" cy="304800"/>
          </a:xfrm>
          <a:prstGeom prst="roundRect">
            <a:avLst>
              <a:gd name="adj" fmla="val 5000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1"/>
          <p:nvPr/>
        </p:nvSpPr>
        <p:spPr>
          <a:xfrm>
            <a:off x="685629" y="504825"/>
            <a:ext cx="1104623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01 项目背景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857250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E29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手机银行核心业务系统实景展示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957830" y="1447800"/>
            <a:ext cx="3077845" cy="4790440"/>
          </a:xfrm>
          <a:prstGeom prst="roundRect">
            <a:avLst>
              <a:gd name="adj" fmla="val 803"/>
            </a:avLst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1371600" y="1671320"/>
            <a:ext cx="2998470" cy="216916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AutoShape 9"/>
          <p:cNvSpPr/>
          <p:nvPr/>
        </p:nvSpPr>
        <p:spPr>
          <a:xfrm>
            <a:off x="3109431" y="4343182"/>
            <a:ext cx="57136" cy="57150"/>
          </a:xfrm>
          <a:prstGeom prst="ellipse">
            <a:avLst/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3282117" y="4324132"/>
            <a:ext cx="307253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29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</a:t>
            </a:r>
            <a:r>
              <a:rPr lang="zh-CN" altLang="en-US" sz="1500" b="1" i="0" strike="noStrike">
                <a:solidFill>
                  <a:srgbClr val="1E293B">
                    <a:alpha val="100000"/>
                  </a:srgbClr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智能助手</a:t>
            </a:r>
            <a:endParaRPr lang="zh-CN" altLang="en-US" sz="1500" b="1" i="0" strike="noStrike">
              <a:solidFill>
                <a:srgbClr val="1E293B">
                  <a:alpha val="100000"/>
                </a:srgbClr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109431" y="4834480"/>
            <a:ext cx="103707" cy="118552"/>
          </a:xfrm>
          <a:custGeom>
            <a:avLst/>
            <a:gdLst/>
            <a:ahLst/>
            <a:cxnLst/>
            <a:rect l="l" t="t" r="r" b="b"/>
            <a:pathLst>
              <a:path w="8748" h="10000">
                <a:moveTo>
                  <a:pt x="8604" y="2"/>
                </a:moveTo>
                <a:cubicBezTo>
                  <a:pt x="8894" y="256"/>
                  <a:pt x="8958" y="744"/>
                  <a:pt x="8748" y="1093"/>
                </a:cubicBezTo>
                <a:lnTo>
                  <a:pt x="3570" y="9680"/>
                </a:lnTo>
                <a:cubicBezTo>
                  <a:pt x="3459" y="9866"/>
                  <a:pt x="3287" y="9980"/>
                  <a:pt x="3097" y="10000"/>
                </a:cubicBezTo>
                <a:cubicBezTo>
                  <a:pt x="2908" y="10018"/>
                  <a:pt x="2723" y="9935"/>
                  <a:pt x="2589" y="9773"/>
                </a:cubicBezTo>
                <a:lnTo>
                  <a:pt x="0" y="6650"/>
                </a:lnTo>
                <a:cubicBezTo>
                  <a:pt x="-253" y="6345"/>
                  <a:pt x="-253" y="5850"/>
                  <a:pt x="0" y="5545"/>
                </a:cubicBezTo>
                <a:cubicBezTo>
                  <a:pt x="253" y="5240"/>
                  <a:pt x="663" y="5240"/>
                  <a:pt x="916" y="5545"/>
                </a:cubicBezTo>
                <a:lnTo>
                  <a:pt x="2969" y="8021"/>
                </a:lnTo>
                <a:lnTo>
                  <a:pt x="7702" y="173"/>
                </a:lnTo>
                <a:cubicBezTo>
                  <a:pt x="7913" y="-176"/>
                  <a:pt x="8317" y="-254"/>
                  <a:pt x="8606" y="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" name="TextBox 12"/>
          <p:cNvSpPr txBox="1"/>
          <p:nvPr/>
        </p:nvSpPr>
        <p:spPr>
          <a:xfrm>
            <a:off x="3276609" y="4797237"/>
            <a:ext cx="298787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47556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支持自然语言查询，理解多种表达方式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109431" y="5181666"/>
            <a:ext cx="103707" cy="118552"/>
          </a:xfrm>
          <a:custGeom>
            <a:avLst/>
            <a:gdLst/>
            <a:ahLst/>
            <a:cxnLst/>
            <a:rect l="l" t="t" r="r" b="b"/>
            <a:pathLst>
              <a:path w="8748" h="10000">
                <a:moveTo>
                  <a:pt x="8604" y="2"/>
                </a:moveTo>
                <a:cubicBezTo>
                  <a:pt x="8894" y="256"/>
                  <a:pt x="8958" y="744"/>
                  <a:pt x="8748" y="1093"/>
                </a:cubicBezTo>
                <a:lnTo>
                  <a:pt x="3570" y="9680"/>
                </a:lnTo>
                <a:cubicBezTo>
                  <a:pt x="3459" y="9866"/>
                  <a:pt x="3287" y="9980"/>
                  <a:pt x="3097" y="10000"/>
                </a:cubicBezTo>
                <a:cubicBezTo>
                  <a:pt x="2908" y="10018"/>
                  <a:pt x="2723" y="9935"/>
                  <a:pt x="2589" y="9773"/>
                </a:cubicBezTo>
                <a:lnTo>
                  <a:pt x="0" y="6650"/>
                </a:lnTo>
                <a:cubicBezTo>
                  <a:pt x="-253" y="6345"/>
                  <a:pt x="-253" y="5850"/>
                  <a:pt x="0" y="5545"/>
                </a:cubicBezTo>
                <a:cubicBezTo>
                  <a:pt x="253" y="5240"/>
                  <a:pt x="663" y="5240"/>
                  <a:pt x="916" y="5545"/>
                </a:cubicBezTo>
                <a:lnTo>
                  <a:pt x="2969" y="8021"/>
                </a:lnTo>
                <a:lnTo>
                  <a:pt x="7702" y="173"/>
                </a:lnTo>
                <a:cubicBezTo>
                  <a:pt x="7913" y="-176"/>
                  <a:pt x="8317" y="-254"/>
                  <a:pt x="8606" y="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3297564" y="5148868"/>
            <a:ext cx="298787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47556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基于 MCP-Skill 架构实现意图识别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124036" y="5571397"/>
            <a:ext cx="103707" cy="118552"/>
          </a:xfrm>
          <a:custGeom>
            <a:avLst/>
            <a:gdLst/>
            <a:ahLst/>
            <a:cxnLst/>
            <a:rect l="l" t="t" r="r" b="b"/>
            <a:pathLst>
              <a:path w="8748" h="10000">
                <a:moveTo>
                  <a:pt x="8604" y="2"/>
                </a:moveTo>
                <a:cubicBezTo>
                  <a:pt x="8894" y="256"/>
                  <a:pt x="8958" y="744"/>
                  <a:pt x="8748" y="1093"/>
                </a:cubicBezTo>
                <a:lnTo>
                  <a:pt x="3570" y="9680"/>
                </a:lnTo>
                <a:cubicBezTo>
                  <a:pt x="3459" y="9866"/>
                  <a:pt x="3287" y="9980"/>
                  <a:pt x="3097" y="10000"/>
                </a:cubicBezTo>
                <a:cubicBezTo>
                  <a:pt x="2908" y="10018"/>
                  <a:pt x="2723" y="9935"/>
                  <a:pt x="2589" y="9773"/>
                </a:cubicBezTo>
                <a:lnTo>
                  <a:pt x="0" y="6650"/>
                </a:lnTo>
                <a:cubicBezTo>
                  <a:pt x="-253" y="6345"/>
                  <a:pt x="-253" y="5850"/>
                  <a:pt x="0" y="5545"/>
                </a:cubicBezTo>
                <a:cubicBezTo>
                  <a:pt x="253" y="5240"/>
                  <a:pt x="663" y="5240"/>
                  <a:pt x="916" y="5545"/>
                </a:cubicBezTo>
                <a:lnTo>
                  <a:pt x="2969" y="8021"/>
                </a:lnTo>
                <a:lnTo>
                  <a:pt x="7702" y="173"/>
                </a:lnTo>
                <a:cubicBezTo>
                  <a:pt x="7913" y="-176"/>
                  <a:pt x="8317" y="-254"/>
                  <a:pt x="8606" y="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3297564" y="5548760"/>
            <a:ext cx="298787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47556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覆盖余额查询、交易记录等核心场景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35700" y="1447800"/>
            <a:ext cx="2567940" cy="4813935"/>
          </a:xfrm>
          <a:prstGeom prst="roundRect">
            <a:avLst>
              <a:gd name="adj" fmla="val 80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>
            <a:off x="6355128" y="4266982"/>
            <a:ext cx="57136" cy="57150"/>
          </a:xfrm>
          <a:prstGeom prst="ellipse">
            <a:avLst/>
          </a:pr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6549404" y="4193957"/>
            <a:ext cx="307268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29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消费分析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39888" y="4800662"/>
            <a:ext cx="103707" cy="92207"/>
          </a:xfrm>
          <a:custGeom>
            <a:avLst/>
            <a:gdLst/>
            <a:ahLst/>
            <a:cxnLst/>
            <a:rect l="l" t="t" r="r" b="b"/>
            <a:pathLst>
              <a:path w="11247" h="10000">
                <a:moveTo>
                  <a:pt x="10018" y="4666"/>
                </a:moveTo>
                <a:lnTo>
                  <a:pt x="6345" y="4666"/>
                </a:lnTo>
                <a:cubicBezTo>
                  <a:pt x="5975" y="4666"/>
                  <a:pt x="5677" y="4385"/>
                  <a:pt x="5677" y="4038"/>
                </a:cubicBezTo>
                <a:lnTo>
                  <a:pt x="5677" y="586"/>
                </a:lnTo>
                <a:cubicBezTo>
                  <a:pt x="5677" y="239"/>
                  <a:pt x="5977" y="-45"/>
                  <a:pt x="6342" y="0"/>
                </a:cubicBezTo>
                <a:cubicBezTo>
                  <a:pt x="8576" y="278"/>
                  <a:pt x="10345" y="1942"/>
                  <a:pt x="10642" y="4040"/>
                </a:cubicBezTo>
                <a:cubicBezTo>
                  <a:pt x="10690" y="4383"/>
                  <a:pt x="10387" y="4666"/>
                  <a:pt x="10018" y="4666"/>
                </a:cubicBezTo>
                <a:close/>
                <a:moveTo>
                  <a:pt x="3970" y="688"/>
                </a:moveTo>
                <a:cubicBezTo>
                  <a:pt x="4347" y="614"/>
                  <a:pt x="4675" y="904"/>
                  <a:pt x="4675" y="1267"/>
                </a:cubicBezTo>
                <a:lnTo>
                  <a:pt x="4675" y="5136"/>
                </a:lnTo>
                <a:cubicBezTo>
                  <a:pt x="4675" y="5246"/>
                  <a:pt x="4717" y="5352"/>
                  <a:pt x="4790" y="5436"/>
                </a:cubicBezTo>
                <a:lnTo>
                  <a:pt x="7547" y="8562"/>
                </a:lnTo>
                <a:cubicBezTo>
                  <a:pt x="7791" y="8839"/>
                  <a:pt x="7739" y="9257"/>
                  <a:pt x="7403" y="9427"/>
                </a:cubicBezTo>
                <a:cubicBezTo>
                  <a:pt x="6691" y="9792"/>
                  <a:pt x="5875" y="10000"/>
                  <a:pt x="5009" y="10000"/>
                </a:cubicBezTo>
                <a:cubicBezTo>
                  <a:pt x="2244" y="10000"/>
                  <a:pt x="0" y="7892"/>
                  <a:pt x="0" y="5293"/>
                </a:cubicBezTo>
                <a:cubicBezTo>
                  <a:pt x="0" y="3028"/>
                  <a:pt x="1701" y="1137"/>
                  <a:pt x="3970" y="688"/>
                </a:cubicBezTo>
                <a:close/>
                <a:moveTo>
                  <a:pt x="9296" y="5607"/>
                </a:moveTo>
                <a:lnTo>
                  <a:pt x="10631" y="5607"/>
                </a:lnTo>
                <a:cubicBezTo>
                  <a:pt x="11017" y="5607"/>
                  <a:pt x="11326" y="5915"/>
                  <a:pt x="11247" y="6270"/>
                </a:cubicBezTo>
                <a:cubicBezTo>
                  <a:pt x="11034" y="7219"/>
                  <a:pt x="10517" y="8062"/>
                  <a:pt x="9794" y="8706"/>
                </a:cubicBezTo>
                <a:cubicBezTo>
                  <a:pt x="9538" y="8935"/>
                  <a:pt x="9135" y="8886"/>
                  <a:pt x="8910" y="8629"/>
                </a:cubicBezTo>
                <a:lnTo>
                  <a:pt x="7148" y="6635"/>
                </a:lnTo>
                <a:cubicBezTo>
                  <a:pt x="6787" y="6225"/>
                  <a:pt x="7098" y="5607"/>
                  <a:pt x="7661" y="5607"/>
                </a:cubicBezTo>
                <a:lnTo>
                  <a:pt x="9294" y="5607"/>
                </a:lnTo>
                <a:close/>
              </a:path>
            </a:pathLst>
          </a:cu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6634066" y="4771837"/>
            <a:ext cx="298801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47556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支持 10 类以上消费分类统计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5128" y="5150832"/>
            <a:ext cx="103707" cy="138311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1250" y="0"/>
                </a:moveTo>
                <a:cubicBezTo>
                  <a:pt x="560" y="0"/>
                  <a:pt x="0" y="561"/>
                  <a:pt x="0" y="1250"/>
                </a:cubicBezTo>
                <a:lnTo>
                  <a:pt x="0" y="8750"/>
                </a:lnTo>
                <a:cubicBezTo>
                  <a:pt x="0" y="9439"/>
                  <a:pt x="560" y="10000"/>
                  <a:pt x="1250" y="10000"/>
                </a:cubicBezTo>
                <a:lnTo>
                  <a:pt x="6248" y="10000"/>
                </a:lnTo>
                <a:cubicBezTo>
                  <a:pt x="6938" y="10000"/>
                  <a:pt x="7498" y="9439"/>
                  <a:pt x="7498" y="8750"/>
                </a:cubicBezTo>
                <a:lnTo>
                  <a:pt x="7498" y="3330"/>
                </a:lnTo>
                <a:cubicBezTo>
                  <a:pt x="7498" y="2998"/>
                  <a:pt x="7367" y="2680"/>
                  <a:pt x="7133" y="2445"/>
                </a:cubicBezTo>
                <a:lnTo>
                  <a:pt x="5051" y="365"/>
                </a:lnTo>
                <a:cubicBezTo>
                  <a:pt x="4817" y="131"/>
                  <a:pt x="4501" y="0"/>
                  <a:pt x="4169" y="0"/>
                </a:cubicBezTo>
                <a:lnTo>
                  <a:pt x="1250" y="0"/>
                </a:lnTo>
                <a:close/>
                <a:moveTo>
                  <a:pt x="6356" y="3438"/>
                </a:moveTo>
                <a:lnTo>
                  <a:pt x="4530" y="3438"/>
                </a:lnTo>
                <a:cubicBezTo>
                  <a:pt x="4270" y="3438"/>
                  <a:pt x="4061" y="3229"/>
                  <a:pt x="4061" y="2969"/>
                </a:cubicBezTo>
                <a:lnTo>
                  <a:pt x="4061" y="1143"/>
                </a:lnTo>
                <a:lnTo>
                  <a:pt x="6356" y="3438"/>
                </a:lnTo>
                <a:close/>
                <a:moveTo>
                  <a:pt x="1250" y="7500"/>
                </a:moveTo>
                <a:lnTo>
                  <a:pt x="1250" y="6250"/>
                </a:lnTo>
                <a:cubicBezTo>
                  <a:pt x="1250" y="5904"/>
                  <a:pt x="1529" y="5625"/>
                  <a:pt x="1875" y="5625"/>
                </a:cubicBezTo>
                <a:lnTo>
                  <a:pt x="5624" y="5625"/>
                </a:lnTo>
                <a:cubicBezTo>
                  <a:pt x="5969" y="5625"/>
                  <a:pt x="6248" y="5904"/>
                  <a:pt x="6248" y="6250"/>
                </a:cubicBezTo>
                <a:lnTo>
                  <a:pt x="6248" y="7500"/>
                </a:lnTo>
                <a:cubicBezTo>
                  <a:pt x="6248" y="7846"/>
                  <a:pt x="5969" y="8125"/>
                  <a:pt x="5624" y="8125"/>
                </a:cubicBezTo>
                <a:lnTo>
                  <a:pt x="1875" y="8125"/>
                </a:lnTo>
                <a:cubicBezTo>
                  <a:pt x="1529" y="8125"/>
                  <a:pt x="1250" y="7846"/>
                  <a:pt x="1250" y="7500"/>
                </a:cubicBezTo>
                <a:close/>
                <a:moveTo>
                  <a:pt x="1718" y="1250"/>
                </a:moveTo>
                <a:lnTo>
                  <a:pt x="2656" y="1250"/>
                </a:lnTo>
                <a:cubicBezTo>
                  <a:pt x="2915" y="1250"/>
                  <a:pt x="3124" y="1459"/>
                  <a:pt x="3124" y="1719"/>
                </a:cubicBezTo>
                <a:cubicBezTo>
                  <a:pt x="3124" y="1977"/>
                  <a:pt x="2914" y="2188"/>
                  <a:pt x="2656" y="2188"/>
                </a:cubicBezTo>
                <a:lnTo>
                  <a:pt x="1718" y="2188"/>
                </a:lnTo>
                <a:cubicBezTo>
                  <a:pt x="1459" y="2188"/>
                  <a:pt x="1250" y="1979"/>
                  <a:pt x="1250" y="1719"/>
                </a:cubicBezTo>
                <a:cubicBezTo>
                  <a:pt x="1250" y="1460"/>
                  <a:pt x="1460" y="1250"/>
                  <a:pt x="1718" y="1250"/>
                </a:cubicBezTo>
                <a:close/>
                <a:moveTo>
                  <a:pt x="1718" y="3125"/>
                </a:moveTo>
                <a:lnTo>
                  <a:pt x="2656" y="3125"/>
                </a:lnTo>
                <a:cubicBezTo>
                  <a:pt x="2915" y="3125"/>
                  <a:pt x="3124" y="3334"/>
                  <a:pt x="3124" y="3594"/>
                </a:cubicBezTo>
                <a:cubicBezTo>
                  <a:pt x="3124" y="3852"/>
                  <a:pt x="2914" y="4063"/>
                  <a:pt x="2656" y="4063"/>
                </a:cubicBezTo>
                <a:lnTo>
                  <a:pt x="1718" y="4063"/>
                </a:lnTo>
                <a:cubicBezTo>
                  <a:pt x="1459" y="4063"/>
                  <a:pt x="1250" y="3854"/>
                  <a:pt x="1250" y="3594"/>
                </a:cubicBezTo>
                <a:cubicBezTo>
                  <a:pt x="1250" y="3335"/>
                  <a:pt x="1460" y="3125"/>
                  <a:pt x="1718" y="3125"/>
                </a:cubicBezTo>
                <a:close/>
              </a:path>
            </a:pathLst>
          </a:cu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6634066" y="5138708"/>
            <a:ext cx="298801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47556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自动生成月度消费报表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5128" y="5571678"/>
            <a:ext cx="103707" cy="138311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5719" y="7273"/>
                </a:moveTo>
                <a:cubicBezTo>
                  <a:pt x="5862" y="6850"/>
                  <a:pt x="6147" y="6468"/>
                  <a:pt x="6469" y="6138"/>
                </a:cubicBezTo>
                <a:cubicBezTo>
                  <a:pt x="7107" y="5487"/>
                  <a:pt x="7498" y="4606"/>
                  <a:pt x="7498" y="3636"/>
                </a:cubicBezTo>
                <a:cubicBezTo>
                  <a:pt x="7498" y="1629"/>
                  <a:pt x="5819" y="0"/>
                  <a:pt x="3749" y="0"/>
                </a:cubicBezTo>
                <a:cubicBezTo>
                  <a:pt x="1678" y="0"/>
                  <a:pt x="0" y="1628"/>
                  <a:pt x="0" y="3636"/>
                </a:cubicBezTo>
                <a:cubicBezTo>
                  <a:pt x="0" y="4606"/>
                  <a:pt x="391" y="5487"/>
                  <a:pt x="1029" y="6138"/>
                </a:cubicBezTo>
                <a:cubicBezTo>
                  <a:pt x="1351" y="6468"/>
                  <a:pt x="1638" y="6850"/>
                  <a:pt x="1779" y="7273"/>
                </a:cubicBezTo>
                <a:lnTo>
                  <a:pt x="5717" y="7273"/>
                </a:lnTo>
                <a:close/>
                <a:moveTo>
                  <a:pt x="5624" y="8182"/>
                </a:moveTo>
                <a:lnTo>
                  <a:pt x="1874" y="8182"/>
                </a:lnTo>
                <a:lnTo>
                  <a:pt x="1874" y="8485"/>
                </a:lnTo>
                <a:cubicBezTo>
                  <a:pt x="1874" y="9322"/>
                  <a:pt x="2574" y="10000"/>
                  <a:pt x="3437" y="10000"/>
                </a:cubicBezTo>
                <a:lnTo>
                  <a:pt x="4061" y="10000"/>
                </a:lnTo>
                <a:cubicBezTo>
                  <a:pt x="4924" y="10000"/>
                  <a:pt x="5624" y="9322"/>
                  <a:pt x="5624" y="8485"/>
                </a:cubicBezTo>
                <a:lnTo>
                  <a:pt x="5624" y="8182"/>
                </a:lnTo>
                <a:close/>
                <a:moveTo>
                  <a:pt x="3593" y="2121"/>
                </a:moveTo>
                <a:cubicBezTo>
                  <a:pt x="2816" y="2121"/>
                  <a:pt x="2187" y="2731"/>
                  <a:pt x="2187" y="3485"/>
                </a:cubicBezTo>
                <a:cubicBezTo>
                  <a:pt x="2187" y="3737"/>
                  <a:pt x="1978" y="3939"/>
                  <a:pt x="1718" y="3939"/>
                </a:cubicBezTo>
                <a:cubicBezTo>
                  <a:pt x="1460" y="3939"/>
                  <a:pt x="1250" y="3736"/>
                  <a:pt x="1250" y="3485"/>
                </a:cubicBezTo>
                <a:cubicBezTo>
                  <a:pt x="1250" y="2229"/>
                  <a:pt x="2298" y="1212"/>
                  <a:pt x="3593" y="1212"/>
                </a:cubicBezTo>
                <a:cubicBezTo>
                  <a:pt x="3852" y="1212"/>
                  <a:pt x="4061" y="1415"/>
                  <a:pt x="4061" y="1667"/>
                </a:cubicBezTo>
                <a:cubicBezTo>
                  <a:pt x="4061" y="1918"/>
                  <a:pt x="3851" y="2121"/>
                  <a:pt x="3593" y="2121"/>
                </a:cubicBezTo>
                <a:close/>
              </a:path>
            </a:pathLst>
          </a:cu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6634066" y="5522725"/>
            <a:ext cx="298801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47556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洞察引擎提供消费建议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144000" y="1522730"/>
            <a:ext cx="2682240" cy="4741545"/>
          </a:xfrm>
          <a:prstGeom prst="roundRect">
            <a:avLst>
              <a:gd name="adj" fmla="val 80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>
            <a:off x="9219974" y="4266982"/>
            <a:ext cx="57136" cy="57150"/>
          </a:xfrm>
          <a:prstGeom prst="ellipse">
            <a:avLst/>
          </a:prstGeom>
          <a:solidFill>
            <a:srgbClr val="10B98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9448540" y="4156492"/>
            <a:ext cx="307268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29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安全转账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219974" y="4800615"/>
            <a:ext cx="103707" cy="103734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7" y="0"/>
                </a:moveTo>
                <a:cubicBezTo>
                  <a:pt x="5093" y="0"/>
                  <a:pt x="5189" y="20"/>
                  <a:pt x="5276" y="58"/>
                </a:cubicBezTo>
                <a:lnTo>
                  <a:pt x="9200" y="1645"/>
                </a:lnTo>
                <a:cubicBezTo>
                  <a:pt x="9658" y="1830"/>
                  <a:pt x="10000" y="2262"/>
                  <a:pt x="9998" y="2782"/>
                </a:cubicBezTo>
                <a:cubicBezTo>
                  <a:pt x="9988" y="4754"/>
                  <a:pt x="9138" y="8360"/>
                  <a:pt x="5549" y="10000"/>
                </a:cubicBezTo>
                <a:cubicBezTo>
                  <a:pt x="5201" y="10159"/>
                  <a:pt x="4797" y="10159"/>
                  <a:pt x="4449" y="10000"/>
                </a:cubicBezTo>
                <a:cubicBezTo>
                  <a:pt x="858" y="8360"/>
                  <a:pt x="10" y="4754"/>
                  <a:pt x="0" y="2782"/>
                </a:cubicBezTo>
                <a:cubicBezTo>
                  <a:pt x="-2" y="2262"/>
                  <a:pt x="340" y="1830"/>
                  <a:pt x="798" y="1645"/>
                </a:cubicBezTo>
                <a:lnTo>
                  <a:pt x="4720" y="58"/>
                </a:lnTo>
                <a:cubicBezTo>
                  <a:pt x="4807" y="20"/>
                  <a:pt x="4901" y="0"/>
                  <a:pt x="4997" y="0"/>
                </a:cubicBezTo>
                <a:close/>
                <a:moveTo>
                  <a:pt x="4997" y="1328"/>
                </a:moveTo>
                <a:lnTo>
                  <a:pt x="4997" y="8841"/>
                </a:lnTo>
                <a:cubicBezTo>
                  <a:pt x="7871" y="7514"/>
                  <a:pt x="8644" y="4573"/>
                  <a:pt x="8663" y="2812"/>
                </a:cubicBezTo>
                <a:lnTo>
                  <a:pt x="4997" y="1329"/>
                </a:lnTo>
                <a:lnTo>
                  <a:pt x="4997" y="1329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2" name="TextBox 32"/>
          <p:cNvSpPr txBox="1"/>
          <p:nvPr/>
        </p:nvSpPr>
        <p:spPr>
          <a:xfrm>
            <a:off x="9372547" y="4745167"/>
            <a:ext cx="298801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47556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完整的身份认证流程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219974" y="5200997"/>
            <a:ext cx="103707" cy="138311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2499" y="2353"/>
                </a:moveTo>
                <a:lnTo>
                  <a:pt x="2499" y="3529"/>
                </a:lnTo>
                <a:lnTo>
                  <a:pt x="4999" y="3529"/>
                </a:lnTo>
                <a:lnTo>
                  <a:pt x="4999" y="2353"/>
                </a:lnTo>
                <a:cubicBezTo>
                  <a:pt x="4999" y="1704"/>
                  <a:pt x="4438" y="1176"/>
                  <a:pt x="3749" y="1176"/>
                </a:cubicBezTo>
                <a:cubicBezTo>
                  <a:pt x="3059" y="1176"/>
                  <a:pt x="2499" y="1704"/>
                  <a:pt x="2499" y="2353"/>
                </a:cubicBezTo>
                <a:close/>
                <a:moveTo>
                  <a:pt x="1250" y="3529"/>
                </a:moveTo>
                <a:lnTo>
                  <a:pt x="1250" y="2353"/>
                </a:lnTo>
                <a:cubicBezTo>
                  <a:pt x="1250" y="1053"/>
                  <a:pt x="2369" y="0"/>
                  <a:pt x="3749" y="0"/>
                </a:cubicBezTo>
                <a:cubicBezTo>
                  <a:pt x="5128" y="0"/>
                  <a:pt x="6248" y="1054"/>
                  <a:pt x="6248" y="2353"/>
                </a:cubicBezTo>
                <a:lnTo>
                  <a:pt x="6248" y="3529"/>
                </a:lnTo>
                <a:cubicBezTo>
                  <a:pt x="6938" y="3529"/>
                  <a:pt x="7498" y="4057"/>
                  <a:pt x="7498" y="4706"/>
                </a:cubicBezTo>
                <a:lnTo>
                  <a:pt x="7498" y="8824"/>
                </a:lnTo>
                <a:cubicBezTo>
                  <a:pt x="7498" y="9472"/>
                  <a:pt x="6938" y="10000"/>
                  <a:pt x="6248" y="10000"/>
                </a:cubicBezTo>
                <a:lnTo>
                  <a:pt x="1250" y="10000"/>
                </a:lnTo>
                <a:cubicBezTo>
                  <a:pt x="560" y="10000"/>
                  <a:pt x="0" y="9472"/>
                  <a:pt x="0" y="8824"/>
                </a:cubicBezTo>
                <a:lnTo>
                  <a:pt x="0" y="4706"/>
                </a:lnTo>
                <a:cubicBezTo>
                  <a:pt x="0" y="4057"/>
                  <a:pt x="560" y="3529"/>
                  <a:pt x="1250" y="3529"/>
                </a:cubicBezTo>
                <a:close/>
              </a:path>
            </a:pathLst>
          </a:custGeom>
          <a:solidFill>
            <a:srgbClr val="10B98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4" name="TextBox 34"/>
          <p:cNvSpPr txBox="1"/>
          <p:nvPr/>
        </p:nvSpPr>
        <p:spPr>
          <a:xfrm>
            <a:off x="9372547" y="5147598"/>
            <a:ext cx="298801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47556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数据加密保护 (bcrypt+AES)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219974" y="5616955"/>
            <a:ext cx="103707" cy="92207"/>
          </a:xfrm>
          <a:custGeom>
            <a:avLst/>
            <a:gdLst/>
            <a:ahLst/>
            <a:cxnLst/>
            <a:rect l="l" t="t" r="r" b="b"/>
            <a:pathLst>
              <a:path w="11247" h="10000">
                <a:moveTo>
                  <a:pt x="4177" y="4477"/>
                </a:moveTo>
                <a:cubicBezTo>
                  <a:pt x="5508" y="4477"/>
                  <a:pt x="6588" y="3474"/>
                  <a:pt x="6588" y="2238"/>
                </a:cubicBezTo>
                <a:cubicBezTo>
                  <a:pt x="6588" y="1003"/>
                  <a:pt x="5508" y="0"/>
                  <a:pt x="4177" y="0"/>
                </a:cubicBezTo>
                <a:cubicBezTo>
                  <a:pt x="2847" y="0"/>
                  <a:pt x="1767" y="1003"/>
                  <a:pt x="1767" y="2238"/>
                </a:cubicBezTo>
                <a:cubicBezTo>
                  <a:pt x="1767" y="3474"/>
                  <a:pt x="2847" y="4477"/>
                  <a:pt x="4177" y="4477"/>
                </a:cubicBezTo>
                <a:close/>
                <a:moveTo>
                  <a:pt x="3581" y="5521"/>
                </a:moveTo>
                <a:cubicBezTo>
                  <a:pt x="1603" y="5521"/>
                  <a:pt x="0" y="7010"/>
                  <a:pt x="0" y="8847"/>
                </a:cubicBezTo>
                <a:cubicBezTo>
                  <a:pt x="0" y="9153"/>
                  <a:pt x="267" y="9401"/>
                  <a:pt x="596" y="9401"/>
                </a:cubicBezTo>
                <a:lnTo>
                  <a:pt x="5648" y="9401"/>
                </a:lnTo>
                <a:cubicBezTo>
                  <a:pt x="4921" y="8607"/>
                  <a:pt x="4499" y="7583"/>
                  <a:pt x="4499" y="6499"/>
                </a:cubicBezTo>
                <a:lnTo>
                  <a:pt x="4499" y="5919"/>
                </a:lnTo>
                <a:cubicBezTo>
                  <a:pt x="4499" y="5783"/>
                  <a:pt x="4519" y="5648"/>
                  <a:pt x="4557" y="5521"/>
                </a:cubicBezTo>
                <a:lnTo>
                  <a:pt x="3581" y="5521"/>
                </a:lnTo>
                <a:close/>
                <a:moveTo>
                  <a:pt x="8622" y="8963"/>
                </a:moveTo>
                <a:lnTo>
                  <a:pt x="8355" y="9080"/>
                </a:lnTo>
                <a:lnTo>
                  <a:pt x="8355" y="5572"/>
                </a:lnTo>
                <a:lnTo>
                  <a:pt x="10283" y="6169"/>
                </a:lnTo>
                <a:lnTo>
                  <a:pt x="10283" y="6534"/>
                </a:lnTo>
                <a:cubicBezTo>
                  <a:pt x="10283" y="7575"/>
                  <a:pt x="9636" y="8521"/>
                  <a:pt x="8622" y="8965"/>
                </a:cubicBezTo>
                <a:close/>
                <a:moveTo>
                  <a:pt x="8152" y="4691"/>
                </a:moveTo>
                <a:lnTo>
                  <a:pt x="5903" y="5387"/>
                </a:lnTo>
                <a:cubicBezTo>
                  <a:pt x="5640" y="5469"/>
                  <a:pt x="5463" y="5697"/>
                  <a:pt x="5463" y="5954"/>
                </a:cubicBezTo>
                <a:lnTo>
                  <a:pt x="5463" y="6534"/>
                </a:lnTo>
                <a:cubicBezTo>
                  <a:pt x="5463" y="7922"/>
                  <a:pt x="6326" y="9185"/>
                  <a:pt x="7676" y="9774"/>
                </a:cubicBezTo>
                <a:lnTo>
                  <a:pt x="8048" y="9937"/>
                </a:lnTo>
                <a:cubicBezTo>
                  <a:pt x="8144" y="9978"/>
                  <a:pt x="8248" y="10000"/>
                  <a:pt x="8353" y="10000"/>
                </a:cubicBezTo>
                <a:cubicBezTo>
                  <a:pt x="8458" y="10000"/>
                  <a:pt x="8563" y="9978"/>
                  <a:pt x="8658" y="9937"/>
                </a:cubicBezTo>
                <a:lnTo>
                  <a:pt x="9030" y="9774"/>
                </a:lnTo>
                <a:cubicBezTo>
                  <a:pt x="10383" y="9183"/>
                  <a:pt x="11247" y="7920"/>
                  <a:pt x="11247" y="6532"/>
                </a:cubicBezTo>
                <a:lnTo>
                  <a:pt x="11247" y="5952"/>
                </a:lnTo>
                <a:cubicBezTo>
                  <a:pt x="11247" y="5695"/>
                  <a:pt x="11070" y="5467"/>
                  <a:pt x="10807" y="5385"/>
                </a:cubicBezTo>
                <a:lnTo>
                  <a:pt x="8558" y="4689"/>
                </a:lnTo>
                <a:cubicBezTo>
                  <a:pt x="8425" y="4648"/>
                  <a:pt x="8283" y="4648"/>
                  <a:pt x="8152" y="4689"/>
                </a:cubicBezTo>
                <a:close/>
              </a:path>
            </a:pathLst>
          </a:custGeom>
          <a:solidFill>
            <a:srgbClr val="10B98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6" name="TextBox 36"/>
          <p:cNvSpPr txBox="1"/>
          <p:nvPr/>
        </p:nvSpPr>
        <p:spPr>
          <a:xfrm>
            <a:off x="9448747" y="5562730"/>
            <a:ext cx="298801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47556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防攻击机制 (锁定 +30s 防重复)</a:t>
            </a:r>
            <a:endParaRPr lang="en-US" sz="1100"/>
          </a:p>
        </p:txBody>
      </p:sp>
      <p:pic>
        <p:nvPicPr>
          <p:cNvPr id="37" name="Image 0" descr="F:\code\bank\bank\screenshots\ai-transaction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124200" y="1678305"/>
            <a:ext cx="2047240" cy="2543175"/>
          </a:xfrm>
          <a:prstGeom prst="rect">
            <a:avLst/>
          </a:prstGeom>
        </p:spPr>
      </p:pic>
      <p:pic>
        <p:nvPicPr>
          <p:cNvPr id="38" name="Image 1" descr="F:\code\bank\bank\screenshots\consumption-analysis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324600" y="1676400"/>
            <a:ext cx="1995805" cy="2478405"/>
          </a:xfrm>
          <a:prstGeom prst="rect">
            <a:avLst/>
          </a:prstGeom>
        </p:spPr>
      </p:pic>
      <p:pic>
        <p:nvPicPr>
          <p:cNvPr id="39" name="Image 2" descr="F:\code\bank\bank\screenshots\ai-transfer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220200" y="1624330"/>
            <a:ext cx="1983740" cy="2463165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391285"/>
            <a:ext cx="2204085" cy="4624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AutoShape 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>
            <a:off x="457086" y="457200"/>
            <a:ext cx="947203" cy="266700"/>
          </a:xfrm>
          <a:prstGeom prst="roundRect">
            <a:avLst>
              <a:gd name="adj" fmla="val 4898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7" name="TextBox 7"/>
          <p:cNvSpPr txBox="1"/>
          <p:nvPr/>
        </p:nvSpPr>
        <p:spPr>
          <a:xfrm>
            <a:off x="571358" y="514350"/>
            <a:ext cx="83293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核心发现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457086" y="819150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认知拐点：从代码优先到文档先行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086" y="1457325"/>
            <a:ext cx="5485028" cy="4943475"/>
          </a:xfrm>
          <a:prstGeom prst="roundRect">
            <a:avLst>
              <a:gd name="adj" fmla="val 428"/>
            </a:avLst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695151" y="1695450"/>
            <a:ext cx="380905" cy="381000"/>
          </a:xfrm>
          <a:prstGeom prst="ellipse">
            <a:avLst/>
          </a:prstGeom>
          <a:solidFill>
            <a:srgbClr val="FEE2E2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826237" y="1833232"/>
            <a:ext cx="118586" cy="105437"/>
          </a:xfrm>
          <a:custGeom>
            <a:avLst/>
            <a:gdLst/>
            <a:ahLst/>
            <a:cxnLst/>
            <a:rect l="l" t="t" r="r" b="b"/>
            <a:pathLst>
              <a:path w="11247" h="10000">
                <a:moveTo>
                  <a:pt x="7092" y="0"/>
                </a:moveTo>
                <a:cubicBezTo>
                  <a:pt x="6749" y="-96"/>
                  <a:pt x="6391" y="98"/>
                  <a:pt x="6293" y="432"/>
                </a:cubicBezTo>
                <a:lnTo>
                  <a:pt x="3709" y="9223"/>
                </a:lnTo>
                <a:cubicBezTo>
                  <a:pt x="3610" y="9557"/>
                  <a:pt x="3810" y="9904"/>
                  <a:pt x="4153" y="10000"/>
                </a:cubicBezTo>
                <a:cubicBezTo>
                  <a:pt x="4497" y="10095"/>
                  <a:pt x="4854" y="9902"/>
                  <a:pt x="4952" y="9568"/>
                </a:cubicBezTo>
                <a:lnTo>
                  <a:pt x="7536" y="777"/>
                </a:lnTo>
                <a:cubicBezTo>
                  <a:pt x="7635" y="443"/>
                  <a:pt x="7435" y="96"/>
                  <a:pt x="7092" y="0"/>
                </a:cubicBezTo>
                <a:close/>
                <a:moveTo>
                  <a:pt x="8395" y="2671"/>
                </a:moveTo>
                <a:cubicBezTo>
                  <a:pt x="8143" y="2916"/>
                  <a:pt x="8143" y="3314"/>
                  <a:pt x="8395" y="3560"/>
                </a:cubicBezTo>
                <a:lnTo>
                  <a:pt x="9877" y="5000"/>
                </a:lnTo>
                <a:lnTo>
                  <a:pt x="8395" y="6440"/>
                </a:lnTo>
                <a:cubicBezTo>
                  <a:pt x="8143" y="6686"/>
                  <a:pt x="8143" y="7084"/>
                  <a:pt x="8395" y="7329"/>
                </a:cubicBezTo>
                <a:cubicBezTo>
                  <a:pt x="8648" y="7575"/>
                  <a:pt x="9057" y="7575"/>
                  <a:pt x="9310" y="7329"/>
                </a:cubicBezTo>
                <a:lnTo>
                  <a:pt x="11247" y="5445"/>
                </a:lnTo>
                <a:cubicBezTo>
                  <a:pt x="11499" y="5200"/>
                  <a:pt x="11499" y="4802"/>
                  <a:pt x="11247" y="4557"/>
                </a:cubicBezTo>
                <a:lnTo>
                  <a:pt x="9310" y="2673"/>
                </a:lnTo>
                <a:cubicBezTo>
                  <a:pt x="9057" y="2427"/>
                  <a:pt x="8648" y="2427"/>
                  <a:pt x="8395" y="2673"/>
                </a:cubicBezTo>
                <a:close/>
                <a:moveTo>
                  <a:pt x="2852" y="2673"/>
                </a:moveTo>
                <a:cubicBezTo>
                  <a:pt x="2599" y="2427"/>
                  <a:pt x="2190" y="2427"/>
                  <a:pt x="1937" y="2673"/>
                </a:cubicBezTo>
                <a:lnTo>
                  <a:pt x="0" y="4557"/>
                </a:lnTo>
                <a:cubicBezTo>
                  <a:pt x="-252" y="4802"/>
                  <a:pt x="-252" y="5200"/>
                  <a:pt x="0" y="5445"/>
                </a:cubicBezTo>
                <a:lnTo>
                  <a:pt x="1937" y="7329"/>
                </a:lnTo>
                <a:cubicBezTo>
                  <a:pt x="2190" y="7575"/>
                  <a:pt x="2599" y="7575"/>
                  <a:pt x="2852" y="7329"/>
                </a:cubicBezTo>
                <a:cubicBezTo>
                  <a:pt x="3104" y="7084"/>
                  <a:pt x="3104" y="6686"/>
                  <a:pt x="2852" y="6440"/>
                </a:cubicBezTo>
                <a:lnTo>
                  <a:pt x="1370" y="5000"/>
                </a:lnTo>
                <a:lnTo>
                  <a:pt x="2850" y="3560"/>
                </a:lnTo>
                <a:cubicBezTo>
                  <a:pt x="3102" y="3314"/>
                  <a:pt x="3102" y="2916"/>
                  <a:pt x="2850" y="2671"/>
                </a:cubicBezTo>
                <a:close/>
              </a:path>
            </a:pathLst>
          </a:custGeom>
          <a:solidFill>
            <a:srgbClr val="DC262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" name="TextBox 12"/>
          <p:cNvSpPr txBox="1"/>
          <p:nvPr/>
        </p:nvSpPr>
        <p:spPr>
          <a:xfrm>
            <a:off x="1190328" y="1752600"/>
            <a:ext cx="451372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Before：代码优先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5151" y="2228850"/>
            <a:ext cx="5008898" cy="895350"/>
          </a:xfrm>
          <a:prstGeom prst="roundRect">
            <a:avLst>
              <a:gd name="adj" fmla="val 8669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>
            <a:off x="818946" y="2445767"/>
            <a:ext cx="118586" cy="118615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2240" y="10000"/>
                  <a:pt x="0" y="7760"/>
                  <a:pt x="0" y="5000"/>
                </a:cubicBezTo>
                <a:cubicBezTo>
                  <a:pt x="0" y="2240"/>
                  <a:pt x="2240" y="0"/>
                  <a:pt x="4999" y="0"/>
                </a:cubicBezTo>
                <a:cubicBezTo>
                  <a:pt x="7758" y="0"/>
                  <a:pt x="9998" y="2240"/>
                  <a:pt x="9998" y="5000"/>
                </a:cubicBezTo>
                <a:cubicBezTo>
                  <a:pt x="9998" y="7760"/>
                  <a:pt x="7758" y="10000"/>
                  <a:pt x="4999" y="10000"/>
                </a:cubicBezTo>
                <a:close/>
                <a:moveTo>
                  <a:pt x="4999" y="6250"/>
                </a:moveTo>
                <a:cubicBezTo>
                  <a:pt x="4654" y="6250"/>
                  <a:pt x="4374" y="6530"/>
                  <a:pt x="4374" y="6875"/>
                </a:cubicBezTo>
                <a:cubicBezTo>
                  <a:pt x="4374" y="7220"/>
                  <a:pt x="4654" y="7500"/>
                  <a:pt x="4999" y="7500"/>
                </a:cubicBezTo>
                <a:cubicBezTo>
                  <a:pt x="5344" y="7500"/>
                  <a:pt x="5624" y="7220"/>
                  <a:pt x="5624" y="6875"/>
                </a:cubicBezTo>
                <a:cubicBezTo>
                  <a:pt x="5624" y="6530"/>
                  <a:pt x="5344" y="6250"/>
                  <a:pt x="4999" y="6250"/>
                </a:cubicBezTo>
                <a:close/>
                <a:moveTo>
                  <a:pt x="4999" y="2500"/>
                </a:moveTo>
                <a:cubicBezTo>
                  <a:pt x="4644" y="2500"/>
                  <a:pt x="4360" y="2803"/>
                  <a:pt x="4386" y="3158"/>
                </a:cubicBezTo>
                <a:lnTo>
                  <a:pt x="4530" y="5189"/>
                </a:lnTo>
                <a:cubicBezTo>
                  <a:pt x="4548" y="5436"/>
                  <a:pt x="4753" y="5625"/>
                  <a:pt x="4997" y="5625"/>
                </a:cubicBezTo>
                <a:cubicBezTo>
                  <a:pt x="5243" y="5625"/>
                  <a:pt x="5446" y="5436"/>
                  <a:pt x="5464" y="5189"/>
                </a:cubicBezTo>
                <a:lnTo>
                  <a:pt x="5608" y="3158"/>
                </a:lnTo>
                <a:cubicBezTo>
                  <a:pt x="5634" y="2803"/>
                  <a:pt x="5352" y="2500"/>
                  <a:pt x="4995" y="2500"/>
                </a:cubicBezTo>
                <a:close/>
              </a:path>
            </a:pathLst>
          </a:custGeom>
          <a:solidFill>
            <a:srgbClr val="EF4444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5" name="TextBox 15"/>
          <p:cNvSpPr txBox="1"/>
          <p:nvPr/>
        </p:nvSpPr>
        <p:spPr>
          <a:xfrm>
            <a:off x="1051803" y="2371725"/>
            <a:ext cx="465224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拿到需求 → 让 AI 写代码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95151" y="3240881"/>
            <a:ext cx="5008898" cy="895350"/>
          </a:xfrm>
          <a:prstGeom prst="roundRect">
            <a:avLst>
              <a:gd name="adj" fmla="val 8669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818946" y="3464389"/>
            <a:ext cx="118586" cy="105437"/>
          </a:xfrm>
          <a:custGeom>
            <a:avLst/>
            <a:gdLst/>
            <a:ahLst/>
            <a:cxnLst/>
            <a:rect l="l" t="t" r="r" b="b"/>
            <a:pathLst>
              <a:path w="11247" h="10000">
                <a:moveTo>
                  <a:pt x="3748" y="1882"/>
                </a:moveTo>
                <a:cubicBezTo>
                  <a:pt x="3748" y="843"/>
                  <a:pt x="4588" y="0"/>
                  <a:pt x="5623" y="0"/>
                </a:cubicBezTo>
                <a:cubicBezTo>
                  <a:pt x="6657" y="0"/>
                  <a:pt x="7497" y="843"/>
                  <a:pt x="7497" y="1882"/>
                </a:cubicBezTo>
                <a:lnTo>
                  <a:pt x="7497" y="1952"/>
                </a:lnTo>
                <a:cubicBezTo>
                  <a:pt x="7497" y="2260"/>
                  <a:pt x="7249" y="2509"/>
                  <a:pt x="6942" y="2509"/>
                </a:cubicBezTo>
                <a:lnTo>
                  <a:pt x="4305" y="2509"/>
                </a:lnTo>
                <a:cubicBezTo>
                  <a:pt x="3998" y="2509"/>
                  <a:pt x="3750" y="2260"/>
                  <a:pt x="3750" y="1952"/>
                </a:cubicBezTo>
                <a:lnTo>
                  <a:pt x="3750" y="1882"/>
                </a:lnTo>
                <a:close/>
                <a:moveTo>
                  <a:pt x="10497" y="2132"/>
                </a:moveTo>
                <a:cubicBezTo>
                  <a:pt x="10704" y="2409"/>
                  <a:pt x="10648" y="2803"/>
                  <a:pt x="10372" y="3011"/>
                </a:cubicBezTo>
                <a:lnTo>
                  <a:pt x="8463" y="4447"/>
                </a:lnTo>
                <a:cubicBezTo>
                  <a:pt x="8567" y="4622"/>
                  <a:pt x="8645" y="4814"/>
                  <a:pt x="8693" y="5018"/>
                </a:cubicBezTo>
                <a:lnTo>
                  <a:pt x="10622" y="5018"/>
                </a:lnTo>
                <a:cubicBezTo>
                  <a:pt x="10968" y="5018"/>
                  <a:pt x="11247" y="5298"/>
                  <a:pt x="11247" y="5645"/>
                </a:cubicBezTo>
                <a:cubicBezTo>
                  <a:pt x="11247" y="5991"/>
                  <a:pt x="10967" y="6272"/>
                  <a:pt x="10622" y="6272"/>
                </a:cubicBezTo>
                <a:lnTo>
                  <a:pt x="8748" y="6272"/>
                </a:lnTo>
                <a:lnTo>
                  <a:pt x="8748" y="6899"/>
                </a:lnTo>
                <a:cubicBezTo>
                  <a:pt x="8748" y="6950"/>
                  <a:pt x="8746" y="7003"/>
                  <a:pt x="8744" y="7054"/>
                </a:cubicBezTo>
                <a:lnTo>
                  <a:pt x="10372" y="8279"/>
                </a:lnTo>
                <a:cubicBezTo>
                  <a:pt x="10648" y="8487"/>
                  <a:pt x="10704" y="8881"/>
                  <a:pt x="10497" y="9157"/>
                </a:cubicBezTo>
                <a:cubicBezTo>
                  <a:pt x="10290" y="9434"/>
                  <a:pt x="9899" y="9490"/>
                  <a:pt x="9623" y="9283"/>
                </a:cubicBezTo>
                <a:lnTo>
                  <a:pt x="8391" y="8356"/>
                </a:lnTo>
                <a:cubicBezTo>
                  <a:pt x="7938" y="9222"/>
                  <a:pt x="7093" y="9849"/>
                  <a:pt x="6093" y="10000"/>
                </a:cubicBezTo>
                <a:lnTo>
                  <a:pt x="6091" y="5488"/>
                </a:lnTo>
                <a:cubicBezTo>
                  <a:pt x="6091" y="5227"/>
                  <a:pt x="5882" y="5018"/>
                  <a:pt x="5623" y="5018"/>
                </a:cubicBezTo>
                <a:cubicBezTo>
                  <a:pt x="5364" y="5018"/>
                  <a:pt x="5154" y="5228"/>
                  <a:pt x="5154" y="5488"/>
                </a:cubicBezTo>
                <a:lnTo>
                  <a:pt x="5154" y="10000"/>
                </a:lnTo>
                <a:cubicBezTo>
                  <a:pt x="4154" y="9849"/>
                  <a:pt x="3309" y="9222"/>
                  <a:pt x="2856" y="8356"/>
                </a:cubicBezTo>
                <a:lnTo>
                  <a:pt x="1624" y="9283"/>
                </a:lnTo>
                <a:cubicBezTo>
                  <a:pt x="1349" y="9490"/>
                  <a:pt x="957" y="9434"/>
                  <a:pt x="750" y="9157"/>
                </a:cubicBezTo>
                <a:cubicBezTo>
                  <a:pt x="543" y="8880"/>
                  <a:pt x="599" y="8487"/>
                  <a:pt x="875" y="8279"/>
                </a:cubicBezTo>
                <a:lnTo>
                  <a:pt x="2503" y="7054"/>
                </a:lnTo>
                <a:cubicBezTo>
                  <a:pt x="2501" y="7003"/>
                  <a:pt x="2499" y="6952"/>
                  <a:pt x="2499" y="6899"/>
                </a:cubicBezTo>
                <a:lnTo>
                  <a:pt x="2499" y="6272"/>
                </a:lnTo>
                <a:lnTo>
                  <a:pt x="625" y="6272"/>
                </a:lnTo>
                <a:cubicBezTo>
                  <a:pt x="279" y="6272"/>
                  <a:pt x="0" y="5992"/>
                  <a:pt x="0" y="5645"/>
                </a:cubicBezTo>
                <a:cubicBezTo>
                  <a:pt x="0" y="5298"/>
                  <a:pt x="280" y="5018"/>
                  <a:pt x="625" y="5018"/>
                </a:cubicBezTo>
                <a:lnTo>
                  <a:pt x="2554" y="5018"/>
                </a:lnTo>
                <a:cubicBezTo>
                  <a:pt x="2602" y="4814"/>
                  <a:pt x="2680" y="4622"/>
                  <a:pt x="2784" y="4447"/>
                </a:cubicBezTo>
                <a:lnTo>
                  <a:pt x="875" y="3011"/>
                </a:lnTo>
                <a:cubicBezTo>
                  <a:pt x="599" y="2803"/>
                  <a:pt x="543" y="2409"/>
                  <a:pt x="750" y="2132"/>
                </a:cubicBezTo>
                <a:cubicBezTo>
                  <a:pt x="957" y="1855"/>
                  <a:pt x="1348" y="1799"/>
                  <a:pt x="1624" y="2007"/>
                </a:cubicBezTo>
                <a:lnTo>
                  <a:pt x="3748" y="3606"/>
                </a:lnTo>
                <a:cubicBezTo>
                  <a:pt x="3988" y="3506"/>
                  <a:pt x="4252" y="3450"/>
                  <a:pt x="4529" y="3450"/>
                </a:cubicBezTo>
                <a:lnTo>
                  <a:pt x="6716" y="3450"/>
                </a:lnTo>
                <a:cubicBezTo>
                  <a:pt x="6993" y="3450"/>
                  <a:pt x="7257" y="3505"/>
                  <a:pt x="7497" y="3606"/>
                </a:cubicBezTo>
                <a:lnTo>
                  <a:pt x="9621" y="2007"/>
                </a:lnTo>
                <a:cubicBezTo>
                  <a:pt x="9896" y="1799"/>
                  <a:pt x="10288" y="1856"/>
                  <a:pt x="10495" y="2132"/>
                </a:cubicBezTo>
                <a:close/>
              </a:path>
            </a:pathLst>
          </a:custGeom>
          <a:solidFill>
            <a:srgbClr val="EF4444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1051803" y="3383756"/>
            <a:ext cx="465224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 BUG → 直接改代码修复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95151" y="4252912"/>
            <a:ext cx="5008898" cy="895350"/>
          </a:xfrm>
          <a:prstGeom prst="roundRect">
            <a:avLst>
              <a:gd name="adj" fmla="val 8669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818946" y="4469830"/>
            <a:ext cx="118586" cy="118615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8275" y="1709"/>
                </a:moveTo>
                <a:lnTo>
                  <a:pt x="8534" y="1954"/>
                </a:lnTo>
                <a:lnTo>
                  <a:pt x="8534" y="732"/>
                </a:lnTo>
                <a:cubicBezTo>
                  <a:pt x="8534" y="327"/>
                  <a:pt x="8861" y="0"/>
                  <a:pt x="9266" y="0"/>
                </a:cubicBezTo>
                <a:cubicBezTo>
                  <a:pt x="9670" y="0"/>
                  <a:pt x="9998" y="328"/>
                  <a:pt x="9998" y="732"/>
                </a:cubicBezTo>
                <a:lnTo>
                  <a:pt x="9998" y="3661"/>
                </a:lnTo>
                <a:cubicBezTo>
                  <a:pt x="9998" y="4066"/>
                  <a:pt x="9671" y="4394"/>
                  <a:pt x="9266" y="4394"/>
                </a:cubicBezTo>
                <a:lnTo>
                  <a:pt x="6337" y="4394"/>
                </a:lnTo>
                <a:cubicBezTo>
                  <a:pt x="5932" y="4394"/>
                  <a:pt x="5605" y="4066"/>
                  <a:pt x="5605" y="3661"/>
                </a:cubicBezTo>
                <a:cubicBezTo>
                  <a:pt x="5605" y="3257"/>
                  <a:pt x="5933" y="2929"/>
                  <a:pt x="6337" y="2929"/>
                </a:cubicBezTo>
                <a:lnTo>
                  <a:pt x="7433" y="2929"/>
                </a:lnTo>
                <a:lnTo>
                  <a:pt x="7259" y="2764"/>
                </a:lnTo>
                <a:cubicBezTo>
                  <a:pt x="7255" y="2760"/>
                  <a:pt x="7250" y="2755"/>
                  <a:pt x="7246" y="2751"/>
                </a:cubicBezTo>
                <a:cubicBezTo>
                  <a:pt x="5530" y="1034"/>
                  <a:pt x="2750" y="1034"/>
                  <a:pt x="1034" y="2751"/>
                </a:cubicBezTo>
                <a:cubicBezTo>
                  <a:pt x="-681" y="4466"/>
                  <a:pt x="-681" y="7248"/>
                  <a:pt x="1034" y="8963"/>
                </a:cubicBezTo>
                <a:cubicBezTo>
                  <a:pt x="2749" y="10679"/>
                  <a:pt x="5530" y="10679"/>
                  <a:pt x="7246" y="8963"/>
                </a:cubicBezTo>
                <a:cubicBezTo>
                  <a:pt x="7433" y="8776"/>
                  <a:pt x="7600" y="8577"/>
                  <a:pt x="7747" y="8366"/>
                </a:cubicBezTo>
                <a:cubicBezTo>
                  <a:pt x="7978" y="8034"/>
                  <a:pt x="8435" y="7954"/>
                  <a:pt x="8767" y="8185"/>
                </a:cubicBezTo>
                <a:cubicBezTo>
                  <a:pt x="9099" y="8417"/>
                  <a:pt x="9180" y="8874"/>
                  <a:pt x="8948" y="9206"/>
                </a:cubicBezTo>
                <a:cubicBezTo>
                  <a:pt x="8753" y="9485"/>
                  <a:pt x="8531" y="9751"/>
                  <a:pt x="8282" y="10000"/>
                </a:cubicBezTo>
                <a:cubicBezTo>
                  <a:pt x="5994" y="12288"/>
                  <a:pt x="2286" y="12288"/>
                  <a:pt x="0" y="10000"/>
                </a:cubicBezTo>
                <a:cubicBezTo>
                  <a:pt x="-2287" y="7713"/>
                  <a:pt x="-2287" y="4004"/>
                  <a:pt x="0" y="1716"/>
                </a:cubicBezTo>
                <a:cubicBezTo>
                  <a:pt x="2286" y="-570"/>
                  <a:pt x="5987" y="-572"/>
                  <a:pt x="8275" y="1709"/>
                </a:cubicBezTo>
                <a:close/>
              </a:path>
            </a:pathLst>
          </a:custGeom>
          <a:solidFill>
            <a:srgbClr val="EF4444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1051803" y="4395788"/>
            <a:ext cx="465224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新需求 → AI 重新生成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95151" y="5264944"/>
            <a:ext cx="5008898" cy="895350"/>
          </a:xfrm>
          <a:prstGeom prst="roundRect">
            <a:avLst>
              <a:gd name="adj" fmla="val 8669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3" name="AutoShape 23"/>
          <p:cNvSpPr/>
          <p:nvPr/>
        </p:nvSpPr>
        <p:spPr>
          <a:xfrm>
            <a:off x="818946" y="5481861"/>
            <a:ext cx="118586" cy="118615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0"/>
                </a:moveTo>
                <a:cubicBezTo>
                  <a:pt x="5292" y="0"/>
                  <a:pt x="5560" y="169"/>
                  <a:pt x="5699" y="438"/>
                </a:cubicBezTo>
                <a:lnTo>
                  <a:pt x="9998" y="8771"/>
                </a:lnTo>
                <a:cubicBezTo>
                  <a:pt x="10131" y="9029"/>
                  <a:pt x="10125" y="9342"/>
                  <a:pt x="9982" y="9594"/>
                </a:cubicBezTo>
                <a:cubicBezTo>
                  <a:pt x="9838" y="9846"/>
                  <a:pt x="9578" y="10001"/>
                  <a:pt x="9298" y="10000"/>
                </a:cubicBezTo>
                <a:lnTo>
                  <a:pt x="700" y="10000"/>
                </a:lnTo>
                <a:cubicBezTo>
                  <a:pt x="420" y="10000"/>
                  <a:pt x="159" y="9846"/>
                  <a:pt x="16" y="9594"/>
                </a:cubicBezTo>
                <a:cubicBezTo>
                  <a:pt x="-128" y="9342"/>
                  <a:pt x="-134" y="9029"/>
                  <a:pt x="0" y="8771"/>
                </a:cubicBezTo>
                <a:lnTo>
                  <a:pt x="4299" y="438"/>
                </a:lnTo>
                <a:cubicBezTo>
                  <a:pt x="4438" y="169"/>
                  <a:pt x="4706" y="0"/>
                  <a:pt x="4999" y="0"/>
                </a:cubicBezTo>
                <a:close/>
                <a:moveTo>
                  <a:pt x="4999" y="7333"/>
                </a:moveTo>
                <a:cubicBezTo>
                  <a:pt x="4648" y="7333"/>
                  <a:pt x="4362" y="7632"/>
                  <a:pt x="4362" y="8000"/>
                </a:cubicBezTo>
                <a:cubicBezTo>
                  <a:pt x="4362" y="8368"/>
                  <a:pt x="4648" y="8667"/>
                  <a:pt x="4999" y="8667"/>
                </a:cubicBezTo>
                <a:cubicBezTo>
                  <a:pt x="5350" y="8667"/>
                  <a:pt x="5636" y="8368"/>
                  <a:pt x="5636" y="8000"/>
                </a:cubicBezTo>
                <a:cubicBezTo>
                  <a:pt x="5636" y="7632"/>
                  <a:pt x="5350" y="7333"/>
                  <a:pt x="4999" y="7333"/>
                </a:cubicBezTo>
                <a:close/>
                <a:moveTo>
                  <a:pt x="4999" y="3333"/>
                </a:moveTo>
                <a:cubicBezTo>
                  <a:pt x="4637" y="3333"/>
                  <a:pt x="4348" y="3656"/>
                  <a:pt x="4374" y="4035"/>
                </a:cubicBezTo>
                <a:lnTo>
                  <a:pt x="4521" y="6202"/>
                </a:lnTo>
                <a:cubicBezTo>
                  <a:pt x="4539" y="6462"/>
                  <a:pt x="4748" y="6667"/>
                  <a:pt x="4997" y="6667"/>
                </a:cubicBezTo>
                <a:cubicBezTo>
                  <a:pt x="5248" y="6667"/>
                  <a:pt x="5455" y="6465"/>
                  <a:pt x="5473" y="6202"/>
                </a:cubicBezTo>
                <a:lnTo>
                  <a:pt x="5620" y="4035"/>
                </a:lnTo>
                <a:cubicBezTo>
                  <a:pt x="5646" y="3656"/>
                  <a:pt x="5359" y="3333"/>
                  <a:pt x="4995" y="3333"/>
                </a:cubicBezTo>
                <a:close/>
              </a:path>
            </a:pathLst>
          </a:custGeom>
          <a:solidFill>
            <a:srgbClr val="EF4444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1051803" y="5407819"/>
            <a:ext cx="465224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 BUG 再现——因为文档没有同步修改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46838" y="1457325"/>
            <a:ext cx="5485028" cy="4943475"/>
          </a:xfrm>
          <a:prstGeom prst="roundRect">
            <a:avLst>
              <a:gd name="adj" fmla="val 428"/>
            </a:avLst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6" name="AutoShape 26"/>
          <p:cNvSpPr/>
          <p:nvPr/>
        </p:nvSpPr>
        <p:spPr>
          <a:xfrm>
            <a:off x="6484903" y="1695450"/>
            <a:ext cx="380905" cy="381000"/>
          </a:xfrm>
          <a:prstGeom prst="ellipse">
            <a:avLst/>
          </a:prstGeom>
          <a:solidFill>
            <a:srgbClr val="D1FAE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>
            <a:off x="6615989" y="1806872"/>
            <a:ext cx="118586" cy="158154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0" y="1250"/>
                </a:moveTo>
                <a:cubicBezTo>
                  <a:pt x="0" y="561"/>
                  <a:pt x="560" y="0"/>
                  <a:pt x="1250" y="0"/>
                </a:cubicBezTo>
                <a:lnTo>
                  <a:pt x="4169" y="0"/>
                </a:lnTo>
                <a:cubicBezTo>
                  <a:pt x="4501" y="0"/>
                  <a:pt x="4819" y="131"/>
                  <a:pt x="5053" y="365"/>
                </a:cubicBezTo>
                <a:lnTo>
                  <a:pt x="7133" y="2447"/>
                </a:lnTo>
                <a:cubicBezTo>
                  <a:pt x="7367" y="2682"/>
                  <a:pt x="7498" y="3000"/>
                  <a:pt x="7498" y="3332"/>
                </a:cubicBezTo>
                <a:lnTo>
                  <a:pt x="7498" y="8750"/>
                </a:lnTo>
                <a:cubicBezTo>
                  <a:pt x="7498" y="9439"/>
                  <a:pt x="6938" y="10000"/>
                  <a:pt x="6248" y="10000"/>
                </a:cubicBezTo>
                <a:lnTo>
                  <a:pt x="1250" y="10000"/>
                </a:lnTo>
                <a:cubicBezTo>
                  <a:pt x="560" y="10000"/>
                  <a:pt x="0" y="9439"/>
                  <a:pt x="0" y="8750"/>
                </a:cubicBezTo>
                <a:lnTo>
                  <a:pt x="0" y="1250"/>
                </a:lnTo>
                <a:close/>
                <a:moveTo>
                  <a:pt x="4061" y="1143"/>
                </a:moveTo>
                <a:lnTo>
                  <a:pt x="4061" y="2969"/>
                </a:lnTo>
                <a:cubicBezTo>
                  <a:pt x="4061" y="3229"/>
                  <a:pt x="4270" y="3438"/>
                  <a:pt x="4530" y="3438"/>
                </a:cubicBezTo>
                <a:lnTo>
                  <a:pt x="6356" y="3438"/>
                </a:lnTo>
                <a:lnTo>
                  <a:pt x="4061" y="1143"/>
                </a:lnTo>
                <a:close/>
                <a:moveTo>
                  <a:pt x="2343" y="5000"/>
                </a:moveTo>
                <a:cubicBezTo>
                  <a:pt x="2083" y="5000"/>
                  <a:pt x="1875" y="5209"/>
                  <a:pt x="1875" y="5469"/>
                </a:cubicBezTo>
                <a:cubicBezTo>
                  <a:pt x="1875" y="5727"/>
                  <a:pt x="2084" y="5938"/>
                  <a:pt x="2343" y="5938"/>
                </a:cubicBezTo>
                <a:lnTo>
                  <a:pt x="5155" y="5938"/>
                </a:lnTo>
                <a:cubicBezTo>
                  <a:pt x="5415" y="5938"/>
                  <a:pt x="5624" y="5729"/>
                  <a:pt x="5624" y="5469"/>
                </a:cubicBezTo>
                <a:cubicBezTo>
                  <a:pt x="5624" y="5210"/>
                  <a:pt x="5414" y="5000"/>
                  <a:pt x="5155" y="5000"/>
                </a:cubicBezTo>
                <a:lnTo>
                  <a:pt x="2343" y="5000"/>
                </a:lnTo>
                <a:close/>
                <a:moveTo>
                  <a:pt x="2343" y="6875"/>
                </a:moveTo>
                <a:cubicBezTo>
                  <a:pt x="2083" y="6875"/>
                  <a:pt x="1875" y="7084"/>
                  <a:pt x="1875" y="7344"/>
                </a:cubicBezTo>
                <a:cubicBezTo>
                  <a:pt x="1875" y="7602"/>
                  <a:pt x="2084" y="7813"/>
                  <a:pt x="2343" y="7813"/>
                </a:cubicBezTo>
                <a:lnTo>
                  <a:pt x="5155" y="7813"/>
                </a:lnTo>
                <a:cubicBezTo>
                  <a:pt x="5415" y="7813"/>
                  <a:pt x="5624" y="7604"/>
                  <a:pt x="5624" y="7344"/>
                </a:cubicBezTo>
                <a:cubicBezTo>
                  <a:pt x="5624" y="7085"/>
                  <a:pt x="5414" y="6875"/>
                  <a:pt x="5155" y="6875"/>
                </a:cubicBezTo>
                <a:lnTo>
                  <a:pt x="2343" y="6875"/>
                </a:lnTo>
                <a:close/>
              </a:path>
            </a:pathLst>
          </a:custGeom>
          <a:solidFill>
            <a:srgbClr val="05966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8" name="TextBox 28"/>
          <p:cNvSpPr txBox="1"/>
          <p:nvPr/>
        </p:nvSpPr>
        <p:spPr>
          <a:xfrm>
            <a:off x="6980080" y="1752600"/>
            <a:ext cx="451372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After：文档先行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84903" y="2228850"/>
            <a:ext cx="5008898" cy="714375"/>
          </a:xfrm>
          <a:prstGeom prst="roundRect">
            <a:avLst>
              <a:gd name="adj" fmla="val 13728"/>
            </a:avLst>
          </a:prstGeom>
          <a:blipFill rotWithShape="1">
            <a:blip r:embed="rId5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6608698" y="2419350"/>
            <a:ext cx="488510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5966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6892441" y="2371725"/>
            <a:ext cx="460135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拿到需求 → 先修改文档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84903" y="3034605"/>
            <a:ext cx="5008898" cy="714375"/>
          </a:xfrm>
          <a:prstGeom prst="roundRect">
            <a:avLst>
              <a:gd name="adj" fmla="val 13725"/>
            </a:avLst>
          </a:prstGeom>
          <a:blipFill rotWithShape="1">
            <a:blip r:embed="rId6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3" name="TextBox 33"/>
          <p:cNvSpPr txBox="1"/>
          <p:nvPr/>
        </p:nvSpPr>
        <p:spPr>
          <a:xfrm>
            <a:off x="6608698" y="3225105"/>
            <a:ext cx="488510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5966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6892441" y="3177480"/>
            <a:ext cx="460135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AI 按新文档生成代码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484903" y="3840509"/>
            <a:ext cx="5008898" cy="714375"/>
          </a:xfrm>
          <a:prstGeom prst="roundRect">
            <a:avLst>
              <a:gd name="adj" fmla="val 13728"/>
            </a:avLst>
          </a:prstGeom>
          <a:blipFill rotWithShape="1">
            <a:blip r:embed="rId5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6" name="TextBox 36"/>
          <p:cNvSpPr txBox="1"/>
          <p:nvPr/>
        </p:nvSpPr>
        <p:spPr>
          <a:xfrm>
            <a:off x="6608698" y="4031009"/>
            <a:ext cx="488510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5966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6892441" y="3983384"/>
            <a:ext cx="460135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Review → 发现语义偏差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484903" y="4646266"/>
            <a:ext cx="5008898" cy="714375"/>
          </a:xfrm>
          <a:prstGeom prst="roundRect">
            <a:avLst>
              <a:gd name="adj" fmla="val 13725"/>
            </a:avLst>
          </a:prstGeom>
          <a:blipFill rotWithShape="1">
            <a:blip r:embed="rId6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9" name="TextBox 39"/>
          <p:cNvSpPr txBox="1"/>
          <p:nvPr/>
        </p:nvSpPr>
        <p:spPr>
          <a:xfrm>
            <a:off x="6608698" y="4836766"/>
            <a:ext cx="488510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05966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6892441" y="4789141"/>
            <a:ext cx="4601359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回头修改文档描述 → 再生成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484903" y="5452170"/>
            <a:ext cx="5008898" cy="714375"/>
          </a:xfrm>
          <a:prstGeom prst="roundRect">
            <a:avLst>
              <a:gd name="adj" fmla="val 13728"/>
            </a:avLst>
          </a:prstGeom>
          <a:blipFill rotWithShape="1">
            <a:blip r:embed="rId7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42" name="AutoShape 42"/>
          <p:cNvSpPr/>
          <p:nvPr/>
        </p:nvSpPr>
        <p:spPr>
          <a:xfrm>
            <a:off x="6608698" y="5675676"/>
            <a:ext cx="118586" cy="105437"/>
          </a:xfrm>
          <a:custGeom>
            <a:avLst/>
            <a:gdLst/>
            <a:ahLst/>
            <a:cxnLst/>
            <a:rect l="l" t="t" r="r" b="b"/>
            <a:pathLst>
              <a:path w="11247" h="10000">
                <a:moveTo>
                  <a:pt x="6065" y="250"/>
                </a:moveTo>
                <a:cubicBezTo>
                  <a:pt x="5981" y="98"/>
                  <a:pt x="5810" y="0"/>
                  <a:pt x="5626" y="0"/>
                </a:cubicBezTo>
                <a:cubicBezTo>
                  <a:pt x="5440" y="0"/>
                  <a:pt x="5270" y="97"/>
                  <a:pt x="5186" y="250"/>
                </a:cubicBezTo>
                <a:lnTo>
                  <a:pt x="3675" y="3008"/>
                </a:lnTo>
                <a:lnTo>
                  <a:pt x="392" y="3493"/>
                </a:lnTo>
                <a:cubicBezTo>
                  <a:pt x="209" y="3520"/>
                  <a:pt x="57" y="3641"/>
                  <a:pt x="0" y="3805"/>
                </a:cubicBezTo>
                <a:cubicBezTo>
                  <a:pt x="-57" y="3969"/>
                  <a:pt x="-11" y="4149"/>
                  <a:pt x="119" y="4272"/>
                </a:cubicBezTo>
                <a:lnTo>
                  <a:pt x="2468" y="6461"/>
                </a:lnTo>
                <a:lnTo>
                  <a:pt x="1950" y="9518"/>
                </a:lnTo>
                <a:cubicBezTo>
                  <a:pt x="1922" y="9688"/>
                  <a:pt x="1998" y="9860"/>
                  <a:pt x="2148" y="9962"/>
                </a:cubicBezTo>
                <a:cubicBezTo>
                  <a:pt x="2297" y="10063"/>
                  <a:pt x="2496" y="10078"/>
                  <a:pt x="2661" y="10000"/>
                </a:cubicBezTo>
                <a:lnTo>
                  <a:pt x="5626" y="8597"/>
                </a:lnTo>
                <a:lnTo>
                  <a:pt x="8588" y="10000"/>
                </a:lnTo>
                <a:cubicBezTo>
                  <a:pt x="8752" y="10078"/>
                  <a:pt x="8952" y="10063"/>
                  <a:pt x="9101" y="9962"/>
                </a:cubicBezTo>
                <a:cubicBezTo>
                  <a:pt x="9252" y="9860"/>
                  <a:pt x="9328" y="9689"/>
                  <a:pt x="9299" y="9518"/>
                </a:cubicBezTo>
                <a:lnTo>
                  <a:pt x="8779" y="6461"/>
                </a:lnTo>
                <a:lnTo>
                  <a:pt x="11128" y="4272"/>
                </a:lnTo>
                <a:cubicBezTo>
                  <a:pt x="11259" y="4149"/>
                  <a:pt x="11304" y="3969"/>
                  <a:pt x="11247" y="3805"/>
                </a:cubicBezTo>
                <a:cubicBezTo>
                  <a:pt x="11190" y="3641"/>
                  <a:pt x="11038" y="3520"/>
                  <a:pt x="10855" y="3493"/>
                </a:cubicBezTo>
                <a:lnTo>
                  <a:pt x="7574" y="3008"/>
                </a:lnTo>
                <a:lnTo>
                  <a:pt x="6065" y="250"/>
                </a:lnTo>
                <a:close/>
              </a:path>
            </a:pathLst>
          </a:custGeom>
          <a:solidFill>
            <a:srgbClr val="04785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3" name="TextBox 43"/>
          <p:cNvSpPr txBox="1"/>
          <p:nvPr/>
        </p:nvSpPr>
        <p:spPr>
          <a:xfrm>
            <a:off x="6841555" y="5595045"/>
            <a:ext cx="4652246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代码变更是文档变更的'编译结果'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10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AutoShape 5"/>
          <p:cNvSpPr/>
          <p:nvPr/>
        </p:nvSpPr>
        <p:spPr>
          <a:xfrm>
            <a:off x="914171" y="914400"/>
            <a:ext cx="853911" cy="266700"/>
          </a:xfrm>
          <a:prstGeom prst="roundRect">
            <a:avLst>
              <a:gd name="adj" fmla="val 2449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1028442" y="971550"/>
            <a:ext cx="73963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方法论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20444" y="1042988"/>
            <a:ext cx="9354336" cy="9525"/>
          </a:xfrm>
          <a:prstGeom prst="rect">
            <a:avLst/>
          </a:prstGeom>
          <a:solidFill>
            <a:srgbClr val="BFDBF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914171" y="1276350"/>
            <a:ext cx="1036060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文档驱动闭环：以文档为中心的迭代方法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171" y="1914525"/>
            <a:ext cx="10360609" cy="142875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1142714" y="2202359"/>
            <a:ext cx="148196" cy="148233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1209"/>
                </a:moveTo>
                <a:cubicBezTo>
                  <a:pt x="-249" y="875"/>
                  <a:pt x="-249" y="334"/>
                  <a:pt x="0" y="0"/>
                </a:cubicBezTo>
                <a:cubicBezTo>
                  <a:pt x="249" y="-334"/>
                  <a:pt x="652" y="-334"/>
                  <a:pt x="901" y="0"/>
                </a:cubicBezTo>
                <a:lnTo>
                  <a:pt x="4084" y="4270"/>
                </a:lnTo>
                <a:cubicBezTo>
                  <a:pt x="4333" y="4604"/>
                  <a:pt x="4333" y="5145"/>
                  <a:pt x="4084" y="5479"/>
                </a:cubicBezTo>
                <a:lnTo>
                  <a:pt x="901" y="9749"/>
                </a:lnTo>
                <a:cubicBezTo>
                  <a:pt x="652" y="10083"/>
                  <a:pt x="249" y="10083"/>
                  <a:pt x="0" y="9749"/>
                </a:cubicBezTo>
                <a:cubicBezTo>
                  <a:pt x="-249" y="9415"/>
                  <a:pt x="-249" y="8874"/>
                  <a:pt x="0" y="8540"/>
                </a:cubicBezTo>
                <a:lnTo>
                  <a:pt x="2731" y="4876"/>
                </a:lnTo>
                <a:lnTo>
                  <a:pt x="0" y="1209"/>
                </a:lnTo>
                <a:close/>
                <a:moveTo>
                  <a:pt x="4269" y="8292"/>
                </a:moveTo>
                <a:lnTo>
                  <a:pt x="9361" y="8292"/>
                </a:lnTo>
                <a:cubicBezTo>
                  <a:pt x="9714" y="8292"/>
                  <a:pt x="9998" y="8674"/>
                  <a:pt x="9998" y="9146"/>
                </a:cubicBezTo>
                <a:cubicBezTo>
                  <a:pt x="9998" y="9617"/>
                  <a:pt x="9713" y="10000"/>
                  <a:pt x="9361" y="10000"/>
                </a:cubicBezTo>
                <a:lnTo>
                  <a:pt x="4269" y="10000"/>
                </a:lnTo>
                <a:cubicBezTo>
                  <a:pt x="3917" y="10000"/>
                  <a:pt x="3632" y="9618"/>
                  <a:pt x="3632" y="9146"/>
                </a:cubicBezTo>
                <a:cubicBezTo>
                  <a:pt x="3632" y="8675"/>
                  <a:pt x="3918" y="8292"/>
                  <a:pt x="4269" y="8292"/>
                </a:cubicBezTo>
                <a:close/>
              </a:path>
            </a:pathLst>
          </a:cu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1405181" y="2143125"/>
            <a:ext cx="967914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调教日志节选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405181" y="2409825"/>
            <a:ext cx="9674981" cy="742950"/>
          </a:xfrm>
          <a:prstGeom prst="roundRect">
            <a:avLst>
              <a:gd name="adj" fmla="val 6312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1528976" y="2571750"/>
            <a:ext cx="9745805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ui-monospace"/>
                <a:ea typeface="ui-monospace"/>
                <a:cs typeface="ui-monospace"/>
              </a:rPr>
              <a:t>[2026-04-25] 需求 F-TRAMS-003 | 交易金额方向符号 | 文档从'支出存正数'改为'支出存负数 (amount.negate())' | AI 代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ui-monospace"/>
                <a:ea typeface="ui-monospace"/>
                <a:cs typeface="ui-monospace"/>
              </a:rPr>
              <a:t>码立即正确</a:t>
            </a:r>
            <a:endParaRPr sz="1200" b="0" i="0" strike="noStrike">
              <a:solidFill>
                <a:srgbClr val="374151">
                  <a:alpha val="100000"/>
                </a:srgbClr>
              </a:solidFill>
              <a:latin typeface="ui-monospace"/>
              <a:ea typeface="ui-monospace"/>
              <a:cs typeface="ui-monospace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14171" y="3571875"/>
            <a:ext cx="5066033" cy="685800"/>
          </a:xfrm>
          <a:prstGeom prst="roundRect">
            <a:avLst>
              <a:gd name="adj" fmla="val 14748"/>
            </a:avLst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>
            <a:off x="1114147" y="3621137"/>
            <a:ext cx="304724" cy="304800"/>
          </a:xfrm>
          <a:prstGeom prst="ellipse">
            <a:avLst/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1114147" y="3621137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533141" y="3678287"/>
            <a:ext cx="424708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文档先行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533141" y="4021187"/>
            <a:ext cx="424708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先改文档再改代码，文档是</a:t>
            </a:r>
            <a:r>
              <a:rPr sz="12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“调教参数”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，代码是输出。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4171" y="4413200"/>
            <a:ext cx="5066033" cy="685800"/>
          </a:xfrm>
          <a:prstGeom prst="roundRect">
            <a:avLst>
              <a:gd name="adj" fmla="val 14744"/>
            </a:avLst>
          </a:prstGeom>
          <a:blipFill rotWithShape="1">
            <a:blip r:embed="rId5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1114147" y="4462462"/>
            <a:ext cx="304724" cy="304800"/>
          </a:xfrm>
          <a:prstGeom prst="ellipse">
            <a:avLst/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1114147" y="4462462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533141" y="4519612"/>
            <a:ext cx="424708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增量变更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533141" y="4862512"/>
            <a:ext cx="424708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改一处生成一处，不全量覆盖，保持系统</a:t>
            </a:r>
            <a:r>
              <a:rPr sz="12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14171" y="5254675"/>
            <a:ext cx="5066033" cy="685800"/>
          </a:xfrm>
          <a:prstGeom prst="roundRect">
            <a:avLst>
              <a:gd name="adj" fmla="val 14748"/>
            </a:avLst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>
            <a:off x="1114147" y="5303937"/>
            <a:ext cx="304724" cy="304800"/>
          </a:xfrm>
          <a:prstGeom prst="ellipse">
            <a:avLst/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1114147" y="5303937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533141" y="5361087"/>
            <a:ext cx="424708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不改旧代码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533141" y="5703987"/>
            <a:ext cx="424708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已调好的逻辑不动，只通过</a:t>
            </a:r>
            <a:r>
              <a:rPr sz="12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改文档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触发新生成。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08747" y="3571875"/>
            <a:ext cx="5066033" cy="1114425"/>
          </a:xfrm>
          <a:prstGeom prst="roundRect">
            <a:avLst>
              <a:gd name="adj" fmla="val 5634"/>
            </a:avLst>
          </a:prstGeom>
          <a:blipFill rotWithShape="1">
            <a:blip r:embed="rId6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0" name="AutoShape 30"/>
          <p:cNvSpPr/>
          <p:nvPr/>
        </p:nvSpPr>
        <p:spPr>
          <a:xfrm>
            <a:off x="6408722" y="3726656"/>
            <a:ext cx="304724" cy="304800"/>
          </a:xfrm>
          <a:prstGeom prst="ellipse">
            <a:avLst/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TextBox 31"/>
          <p:cNvSpPr txBox="1"/>
          <p:nvPr/>
        </p:nvSpPr>
        <p:spPr>
          <a:xfrm>
            <a:off x="6408722" y="3726656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827718" y="3783806"/>
            <a:ext cx="424708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记录变更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6827718" y="4126706"/>
            <a:ext cx="4247088" cy="3714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每次调教记录：</a:t>
            </a:r>
            <a:r>
              <a:rPr sz="12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改了啥 → 为什么 → 结果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，形成可追溯的演进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史。</a:t>
            </a:r>
            <a:endParaRPr sz="1200" b="0" i="0" strike="noStrike">
              <a:solidFill>
                <a:srgbClr val="37415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6208747" y="4833938"/>
            <a:ext cx="5066033" cy="1114425"/>
          </a:xfrm>
          <a:prstGeom prst="roundRect">
            <a:avLst>
              <a:gd name="adj" fmla="val 5634"/>
            </a:avLst>
          </a:prstGeom>
          <a:blipFill rotWithShape="1">
            <a:blip r:embed="rId6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5" name="AutoShape 35"/>
          <p:cNvSpPr/>
          <p:nvPr/>
        </p:nvSpPr>
        <p:spPr>
          <a:xfrm>
            <a:off x="6408722" y="5093494"/>
            <a:ext cx="304724" cy="304800"/>
          </a:xfrm>
          <a:prstGeom prst="ellipse">
            <a:avLst/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6" name="TextBox 36"/>
          <p:cNvSpPr txBox="1"/>
          <p:nvPr/>
        </p:nvSpPr>
        <p:spPr>
          <a:xfrm>
            <a:off x="6408722" y="5093494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6827718" y="5150644"/>
            <a:ext cx="424708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同步更新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6827718" y="5493544"/>
            <a:ext cx="4247088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调教中沉淀的规则</a:t>
            </a:r>
            <a:r>
              <a:rPr sz="12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即时写回文档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，形成知识闭环。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AutoShape 5"/>
          <p:cNvSpPr/>
          <p:nvPr/>
        </p:nvSpPr>
        <p:spPr>
          <a:xfrm>
            <a:off x="533171" y="228600"/>
            <a:ext cx="853911" cy="266700"/>
          </a:xfrm>
          <a:prstGeom prst="roundRect">
            <a:avLst>
              <a:gd name="adj" fmla="val 2449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3175" y="15240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TextBox 5"/>
          <p:cNvSpPr txBox="1"/>
          <p:nvPr/>
        </p:nvSpPr>
        <p:spPr>
          <a:xfrm>
            <a:off x="457086" y="447675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传统研发与 AI 原生研发的本质差异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533311" y="238125"/>
            <a:ext cx="959999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方法论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6448" y="838200"/>
            <a:ext cx="11255736" cy="581025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10" name="TextBox 10"/>
          <p:cNvSpPr txBox="1"/>
          <p:nvPr/>
        </p:nvSpPr>
        <p:spPr>
          <a:xfrm>
            <a:off x="609426" y="979170"/>
            <a:ext cx="10798650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研发模式对比分析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725" y="5905500"/>
            <a:ext cx="11264900" cy="632460"/>
          </a:xfrm>
          <a:prstGeom prst="rect">
            <a:avLst/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15" name="AutoShape 7"/>
          <p:cNvSpPr/>
          <p:nvPr/>
        </p:nvSpPr>
        <p:spPr>
          <a:xfrm>
            <a:off x="2362200" y="6096000"/>
            <a:ext cx="7635240" cy="413385"/>
          </a:xfrm>
          <a:prstGeom prst="rect">
            <a:avLst/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  <p:txBody>
          <a:bodyPr/>
          <a:p>
            <a:pPr algn="l">
              <a:defRPr/>
            </a:pPr>
            <a:r>
              <a:rPr lang="en-US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核心洞察：AI 原生研发将人的价值从</a:t>
            </a:r>
            <a:r>
              <a:rPr b="1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编码速度</a:t>
            </a:r>
            <a:r>
              <a:rPr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转变为</a:t>
            </a:r>
            <a:r>
              <a:rPr b="1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规格表达能力</a:t>
            </a:r>
            <a:endParaRPr lang="zh-CN" altLang="en-US"/>
          </a:p>
        </p:txBody>
      </p:sp>
      <p:sp>
        <p:nvSpPr>
          <p:cNvPr id="18" name="AutoShape 8"/>
          <p:cNvSpPr/>
          <p:nvPr/>
        </p:nvSpPr>
        <p:spPr>
          <a:xfrm>
            <a:off x="2666938" y="6019701"/>
            <a:ext cx="133466" cy="177998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5719" y="7273"/>
                </a:moveTo>
                <a:cubicBezTo>
                  <a:pt x="5862" y="6850"/>
                  <a:pt x="6147" y="6468"/>
                  <a:pt x="6469" y="6138"/>
                </a:cubicBezTo>
                <a:cubicBezTo>
                  <a:pt x="7107" y="5487"/>
                  <a:pt x="7498" y="4606"/>
                  <a:pt x="7498" y="3636"/>
                </a:cubicBezTo>
                <a:cubicBezTo>
                  <a:pt x="7498" y="1629"/>
                  <a:pt x="5819" y="0"/>
                  <a:pt x="3749" y="0"/>
                </a:cubicBezTo>
                <a:cubicBezTo>
                  <a:pt x="1678" y="0"/>
                  <a:pt x="0" y="1628"/>
                  <a:pt x="0" y="3636"/>
                </a:cubicBezTo>
                <a:cubicBezTo>
                  <a:pt x="0" y="4606"/>
                  <a:pt x="391" y="5487"/>
                  <a:pt x="1029" y="6138"/>
                </a:cubicBezTo>
                <a:cubicBezTo>
                  <a:pt x="1351" y="6468"/>
                  <a:pt x="1638" y="6850"/>
                  <a:pt x="1779" y="7273"/>
                </a:cubicBezTo>
                <a:lnTo>
                  <a:pt x="5717" y="7273"/>
                </a:lnTo>
                <a:close/>
                <a:moveTo>
                  <a:pt x="5624" y="8182"/>
                </a:moveTo>
                <a:lnTo>
                  <a:pt x="1874" y="8182"/>
                </a:lnTo>
                <a:lnTo>
                  <a:pt x="1874" y="8485"/>
                </a:lnTo>
                <a:cubicBezTo>
                  <a:pt x="1874" y="9322"/>
                  <a:pt x="2574" y="10000"/>
                  <a:pt x="3437" y="10000"/>
                </a:cubicBezTo>
                <a:lnTo>
                  <a:pt x="4061" y="10000"/>
                </a:lnTo>
                <a:cubicBezTo>
                  <a:pt x="4924" y="10000"/>
                  <a:pt x="5624" y="9322"/>
                  <a:pt x="5624" y="8485"/>
                </a:cubicBezTo>
                <a:lnTo>
                  <a:pt x="5624" y="8182"/>
                </a:lnTo>
                <a:close/>
                <a:moveTo>
                  <a:pt x="3593" y="2121"/>
                </a:moveTo>
                <a:cubicBezTo>
                  <a:pt x="2816" y="2121"/>
                  <a:pt x="2187" y="2731"/>
                  <a:pt x="2187" y="3485"/>
                </a:cubicBezTo>
                <a:cubicBezTo>
                  <a:pt x="2187" y="3737"/>
                  <a:pt x="1978" y="3939"/>
                  <a:pt x="1718" y="3939"/>
                </a:cubicBezTo>
                <a:cubicBezTo>
                  <a:pt x="1460" y="3939"/>
                  <a:pt x="1250" y="3736"/>
                  <a:pt x="1250" y="3485"/>
                </a:cubicBezTo>
                <a:cubicBezTo>
                  <a:pt x="1250" y="2229"/>
                  <a:pt x="2298" y="1212"/>
                  <a:pt x="3593" y="1212"/>
                </a:cubicBezTo>
                <a:cubicBezTo>
                  <a:pt x="3852" y="1212"/>
                  <a:pt x="4061" y="1415"/>
                  <a:pt x="4061" y="1667"/>
                </a:cubicBezTo>
                <a:cubicBezTo>
                  <a:pt x="4061" y="1918"/>
                  <a:pt x="3851" y="2121"/>
                  <a:pt x="3593" y="2121"/>
                </a:cubicBezTo>
                <a:close/>
              </a:path>
            </a:pathLst>
          </a:cu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1" name="Shape 4"/>
          <p:cNvSpPr/>
          <p:nvPr/>
        </p:nvSpPr>
        <p:spPr>
          <a:xfrm>
            <a:off x="609600" y="1295400"/>
            <a:ext cx="2286000" cy="457200"/>
          </a:xfrm>
          <a:prstGeom prst="roundRect">
            <a:avLst/>
          </a:prstGeom>
          <a:solidFill>
            <a:srgbClr val="2C3E50"/>
          </a:solidFill>
        </p:spPr>
      </p:sp>
      <p:sp>
        <p:nvSpPr>
          <p:cNvPr id="62" name="Text 5"/>
          <p:cNvSpPr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维度</a:t>
            </a:r>
            <a:endParaRPr lang="en-US" sz="1300" dirty="0"/>
          </a:p>
        </p:txBody>
      </p:sp>
      <p:sp>
        <p:nvSpPr>
          <p:cNvPr id="63" name="Shape 6"/>
          <p:cNvSpPr/>
          <p:nvPr/>
        </p:nvSpPr>
        <p:spPr>
          <a:xfrm>
            <a:off x="3124200" y="1219200"/>
            <a:ext cx="3474720" cy="457200"/>
          </a:xfrm>
          <a:prstGeom prst="roundRect">
            <a:avLst/>
          </a:prstGeom>
          <a:solidFill>
            <a:srgbClr val="95A5A6"/>
          </a:solidFill>
        </p:spPr>
      </p:sp>
      <p:sp>
        <p:nvSpPr>
          <p:cNvPr id="64" name="Text 7"/>
          <p:cNvSpPr/>
          <p:nvPr/>
        </p:nvSpPr>
        <p:spPr>
          <a:xfrm>
            <a:off x="3200400" y="129540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传统研发</a:t>
            </a:r>
            <a:endParaRPr lang="en-US" sz="1300" dirty="0"/>
          </a:p>
        </p:txBody>
      </p:sp>
      <p:sp>
        <p:nvSpPr>
          <p:cNvPr id="65" name="Shape 8"/>
          <p:cNvSpPr/>
          <p:nvPr/>
        </p:nvSpPr>
        <p:spPr>
          <a:xfrm>
            <a:off x="6858000" y="1219200"/>
            <a:ext cx="4572000" cy="457200"/>
          </a:xfrm>
          <a:prstGeom prst="roundRect">
            <a:avLst/>
          </a:prstGeom>
          <a:solidFill>
            <a:srgbClr val="4A90E2"/>
          </a:solidFill>
        </p:spPr>
      </p:sp>
      <p:sp>
        <p:nvSpPr>
          <p:cNvPr id="66" name="Text 9"/>
          <p:cNvSpPr/>
          <p:nvPr/>
        </p:nvSpPr>
        <p:spPr>
          <a:xfrm>
            <a:off x="6858000" y="118872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AI原生研发</a:t>
            </a:r>
            <a:endParaRPr lang="en-US" sz="1300" dirty="0"/>
          </a:p>
        </p:txBody>
      </p:sp>
      <p:sp>
        <p:nvSpPr>
          <p:cNvPr id="67" name="Shape 10"/>
          <p:cNvSpPr/>
          <p:nvPr/>
        </p:nvSpPr>
        <p:spPr>
          <a:xfrm>
            <a:off x="609600" y="182880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68" name="Text 11"/>
          <p:cNvSpPr/>
          <p:nvPr/>
        </p:nvSpPr>
        <p:spPr>
          <a:xfrm>
            <a:off x="731520" y="178308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核心产物</a:t>
            </a:r>
            <a:endParaRPr lang="en-US" sz="1100" dirty="0"/>
          </a:p>
        </p:txBody>
      </p:sp>
      <p:sp>
        <p:nvSpPr>
          <p:cNvPr id="69" name="Shape 12"/>
          <p:cNvSpPr/>
          <p:nvPr/>
        </p:nvSpPr>
        <p:spPr>
          <a:xfrm>
            <a:off x="3124200" y="182880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70" name="Text 13"/>
          <p:cNvSpPr/>
          <p:nvPr/>
        </p:nvSpPr>
        <p:spPr>
          <a:xfrm>
            <a:off x="3200400" y="182880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49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代码</a:t>
            </a:r>
            <a:endParaRPr lang="en-US" sz="1100" dirty="0"/>
          </a:p>
        </p:txBody>
      </p:sp>
      <p:sp>
        <p:nvSpPr>
          <p:cNvPr id="71" name="Shape 14"/>
          <p:cNvSpPr/>
          <p:nvPr/>
        </p:nvSpPr>
        <p:spPr>
          <a:xfrm>
            <a:off x="6858000" y="182880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72" name="Text 15"/>
          <p:cNvSpPr/>
          <p:nvPr/>
        </p:nvSpPr>
        <p:spPr>
          <a:xfrm>
            <a:off x="6858000" y="178308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49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文档（代码是编译结果）</a:t>
            </a:r>
            <a:endParaRPr lang="en-US" sz="1100" dirty="0"/>
          </a:p>
        </p:txBody>
      </p:sp>
      <p:sp>
        <p:nvSpPr>
          <p:cNvPr id="73" name="Shape 16"/>
          <p:cNvSpPr/>
          <p:nvPr/>
        </p:nvSpPr>
        <p:spPr>
          <a:xfrm>
            <a:off x="609600" y="243840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74" name="Text 17"/>
          <p:cNvSpPr/>
          <p:nvPr/>
        </p:nvSpPr>
        <p:spPr>
          <a:xfrm>
            <a:off x="731520" y="242316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人的角色</a:t>
            </a:r>
            <a:endParaRPr lang="en-US" sz="1100" dirty="0"/>
          </a:p>
        </p:txBody>
      </p:sp>
      <p:sp>
        <p:nvSpPr>
          <p:cNvPr id="75" name="Shape 18"/>
          <p:cNvSpPr/>
          <p:nvPr/>
        </p:nvSpPr>
        <p:spPr>
          <a:xfrm>
            <a:off x="3200400" y="243840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76" name="Text 19"/>
          <p:cNvSpPr/>
          <p:nvPr/>
        </p:nvSpPr>
        <p:spPr>
          <a:xfrm>
            <a:off x="3200400" y="242316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49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编码者</a:t>
            </a:r>
            <a:endParaRPr lang="en-US" sz="1100" dirty="0"/>
          </a:p>
        </p:txBody>
      </p:sp>
      <p:sp>
        <p:nvSpPr>
          <p:cNvPr id="77" name="Shape 20"/>
          <p:cNvSpPr/>
          <p:nvPr/>
        </p:nvSpPr>
        <p:spPr>
          <a:xfrm>
            <a:off x="6858000" y="243840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78" name="Text 21"/>
          <p:cNvSpPr/>
          <p:nvPr/>
        </p:nvSpPr>
        <p:spPr>
          <a:xfrm>
            <a:off x="6858000" y="251460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49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规格工程师</a:t>
            </a:r>
            <a:endParaRPr lang="en-US" sz="1100" dirty="0"/>
          </a:p>
        </p:txBody>
      </p:sp>
      <p:sp>
        <p:nvSpPr>
          <p:cNvPr id="79" name="Shape 22"/>
          <p:cNvSpPr/>
          <p:nvPr/>
        </p:nvSpPr>
        <p:spPr>
          <a:xfrm>
            <a:off x="609600" y="306324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80" name="Text 23"/>
          <p:cNvSpPr/>
          <p:nvPr/>
        </p:nvSpPr>
        <p:spPr>
          <a:xfrm>
            <a:off x="731520" y="306324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Debug对象</a:t>
            </a:r>
            <a:endParaRPr lang="en-US" sz="1100" dirty="0"/>
          </a:p>
        </p:txBody>
      </p:sp>
      <p:sp>
        <p:nvSpPr>
          <p:cNvPr id="81" name="Shape 24"/>
          <p:cNvSpPr/>
          <p:nvPr/>
        </p:nvSpPr>
        <p:spPr>
          <a:xfrm>
            <a:off x="3200400" y="306324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82" name="Text 25"/>
          <p:cNvSpPr/>
          <p:nvPr/>
        </p:nvSpPr>
        <p:spPr>
          <a:xfrm>
            <a:off x="3200400" y="306324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49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语法错误 / 逻辑BUG</a:t>
            </a:r>
            <a:endParaRPr lang="en-US" sz="1100" dirty="0"/>
          </a:p>
        </p:txBody>
      </p:sp>
      <p:sp>
        <p:nvSpPr>
          <p:cNvPr id="83" name="Shape 26"/>
          <p:cNvSpPr/>
          <p:nvPr/>
        </p:nvSpPr>
        <p:spPr>
          <a:xfrm>
            <a:off x="6858000" y="306324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84" name="Text 27"/>
          <p:cNvSpPr/>
          <p:nvPr/>
        </p:nvSpPr>
        <p:spPr>
          <a:xfrm>
            <a:off x="6858000" y="306324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49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语义歧义 / AI理解偏差</a:t>
            </a:r>
            <a:endParaRPr lang="en-US" sz="1100" dirty="0"/>
          </a:p>
        </p:txBody>
      </p:sp>
      <p:sp>
        <p:nvSpPr>
          <p:cNvPr id="85" name="Shape 28"/>
          <p:cNvSpPr/>
          <p:nvPr/>
        </p:nvSpPr>
        <p:spPr>
          <a:xfrm>
            <a:off x="609600" y="373380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86" name="Text 29"/>
          <p:cNvSpPr/>
          <p:nvPr/>
        </p:nvSpPr>
        <p:spPr>
          <a:xfrm>
            <a:off x="731520" y="370332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变更方式</a:t>
            </a:r>
            <a:endParaRPr lang="en-US" sz="1100" dirty="0"/>
          </a:p>
        </p:txBody>
      </p:sp>
      <p:sp>
        <p:nvSpPr>
          <p:cNvPr id="87" name="Shape 30"/>
          <p:cNvSpPr/>
          <p:nvPr/>
        </p:nvSpPr>
        <p:spPr>
          <a:xfrm>
            <a:off x="3200400" y="370332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88" name="Text 31"/>
          <p:cNvSpPr/>
          <p:nvPr/>
        </p:nvSpPr>
        <p:spPr>
          <a:xfrm>
            <a:off x="3200400" y="373380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49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改代码 → 补文档</a:t>
            </a:r>
            <a:endParaRPr lang="en-US" sz="1100" dirty="0"/>
          </a:p>
        </p:txBody>
      </p:sp>
      <p:sp>
        <p:nvSpPr>
          <p:cNvPr id="89" name="Shape 32"/>
          <p:cNvSpPr/>
          <p:nvPr/>
        </p:nvSpPr>
        <p:spPr>
          <a:xfrm>
            <a:off x="6858000" y="370332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90" name="Text 33"/>
          <p:cNvSpPr/>
          <p:nvPr/>
        </p:nvSpPr>
        <p:spPr>
          <a:xfrm>
            <a:off x="6858000" y="370332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495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改文档 → 再生代码</a:t>
            </a:r>
            <a:endParaRPr lang="en-US" sz="1100" dirty="0"/>
          </a:p>
        </p:txBody>
      </p:sp>
      <p:sp>
        <p:nvSpPr>
          <p:cNvPr id="91" name="Shape 34"/>
          <p:cNvSpPr/>
          <p:nvPr/>
        </p:nvSpPr>
        <p:spPr>
          <a:xfrm>
            <a:off x="609600" y="4434840"/>
            <a:ext cx="2286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92" name="Text 35"/>
          <p:cNvSpPr/>
          <p:nvPr/>
        </p:nvSpPr>
        <p:spPr>
          <a:xfrm>
            <a:off x="731520" y="434340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执行风险</a:t>
            </a:r>
            <a:endParaRPr lang="en-US" sz="1100" dirty="0"/>
          </a:p>
        </p:txBody>
      </p:sp>
      <p:sp>
        <p:nvSpPr>
          <p:cNvPr id="93" name="Shape 36"/>
          <p:cNvSpPr/>
          <p:nvPr/>
        </p:nvSpPr>
        <p:spPr>
          <a:xfrm>
            <a:off x="3200400" y="4434840"/>
            <a:ext cx="347472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94" name="Text 37"/>
          <p:cNvSpPr/>
          <p:nvPr/>
        </p:nvSpPr>
        <p:spPr>
          <a:xfrm>
            <a:off x="3200400" y="434340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高（能不能跑通）</a:t>
            </a:r>
            <a:endParaRPr lang="en-US" sz="1100" dirty="0"/>
          </a:p>
        </p:txBody>
      </p:sp>
      <p:sp>
        <p:nvSpPr>
          <p:cNvPr id="95" name="Shape 38"/>
          <p:cNvSpPr/>
          <p:nvPr/>
        </p:nvSpPr>
        <p:spPr>
          <a:xfrm>
            <a:off x="6858000" y="4434840"/>
            <a:ext cx="4572000" cy="548640"/>
          </a:xfrm>
          <a:prstGeom prst="roundRect">
            <a:avLst/>
          </a:prstGeom>
          <a:solidFill>
            <a:srgbClr val="FFFFFF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96" name="Text 39"/>
          <p:cNvSpPr/>
          <p:nvPr/>
        </p:nvSpPr>
        <p:spPr>
          <a:xfrm>
            <a:off x="6858000" y="434340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低（AI写的语法一定对）</a:t>
            </a:r>
            <a:endParaRPr lang="en-US" sz="1100" dirty="0"/>
          </a:p>
        </p:txBody>
      </p:sp>
      <p:sp>
        <p:nvSpPr>
          <p:cNvPr id="97" name="Shape 40"/>
          <p:cNvSpPr/>
          <p:nvPr/>
        </p:nvSpPr>
        <p:spPr>
          <a:xfrm>
            <a:off x="609600" y="5105400"/>
            <a:ext cx="2286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98" name="Text 41"/>
          <p:cNvSpPr/>
          <p:nvPr/>
        </p:nvSpPr>
        <p:spPr>
          <a:xfrm>
            <a:off x="731520" y="498348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设计风险</a:t>
            </a:r>
            <a:endParaRPr lang="en-US" sz="1100" dirty="0"/>
          </a:p>
        </p:txBody>
      </p:sp>
      <p:sp>
        <p:nvSpPr>
          <p:cNvPr id="99" name="Shape 42"/>
          <p:cNvSpPr/>
          <p:nvPr/>
        </p:nvSpPr>
        <p:spPr>
          <a:xfrm>
            <a:off x="3200400" y="5105400"/>
            <a:ext cx="347472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00" name="Text 43"/>
          <p:cNvSpPr/>
          <p:nvPr/>
        </p:nvSpPr>
        <p:spPr>
          <a:xfrm>
            <a:off x="3200400" y="4983480"/>
            <a:ext cx="3474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低（要做什么很清楚）</a:t>
            </a:r>
            <a:endParaRPr lang="en-US" sz="1100" dirty="0"/>
          </a:p>
        </p:txBody>
      </p:sp>
      <p:sp>
        <p:nvSpPr>
          <p:cNvPr id="101" name="Shape 44"/>
          <p:cNvSpPr/>
          <p:nvPr/>
        </p:nvSpPr>
        <p:spPr>
          <a:xfrm>
            <a:off x="6858000" y="5105400"/>
            <a:ext cx="4572000" cy="548640"/>
          </a:xfrm>
          <a:prstGeom prst="roundRect">
            <a:avLst/>
          </a:prstGeom>
          <a:solidFill>
            <a:srgbClr val="EBF5FB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02" name="Text 45"/>
          <p:cNvSpPr/>
          <p:nvPr/>
        </p:nvSpPr>
        <p:spPr>
          <a:xfrm>
            <a:off x="6858000" y="4983480"/>
            <a:ext cx="4572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高（最难是精确告诉AI）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10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TextBox 9"/>
          <p:cNvSpPr txBox="1"/>
          <p:nvPr/>
        </p:nvSpPr>
        <p:spPr>
          <a:xfrm>
            <a:off x="466611" y="810260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E29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技术架构：六层系统设计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086" y="1249680"/>
            <a:ext cx="9522" cy="266700"/>
          </a:xfrm>
          <a:prstGeom prst="line">
            <a:avLst/>
          </a:prstGeom>
          <a:ln w="38100">
            <a:solidFill>
              <a:srgbClr val="3B82F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533237" y="1249680"/>
            <a:ext cx="1108432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47556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MCP-Skill = 自研 AI 能力封装框架：意图推理与业务执行解耦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893876" y="1571625"/>
            <a:ext cx="1218895" cy="1219200"/>
          </a:xfrm>
          <a:prstGeom prst="ellipse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>
            <a:off x="6399200" y="2322463"/>
            <a:ext cx="304724" cy="304800"/>
          </a:xfrm>
          <a:prstGeom prst="roundRect">
            <a:avLst>
              <a:gd name="adj" fmla="val 50000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6399200" y="2322463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300" b="1" i="0" strike="noStrike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6818196" y="2370088"/>
            <a:ext cx="4723219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意图推理层</a:t>
            </a:r>
            <a:endParaRPr lang="en-US" sz="1100"/>
          </a:p>
        </p:txBody>
      </p:sp>
      <p:sp>
        <p:nvSpPr>
          <p:cNvPr id="43" name="AutoShape 9"/>
          <p:cNvSpPr/>
          <p:nvPr>
            <p:custDataLst>
              <p:tags r:id="rId4"/>
            </p:custDataLst>
          </p:nvPr>
        </p:nvSpPr>
        <p:spPr>
          <a:xfrm>
            <a:off x="5149803" y="1552575"/>
            <a:ext cx="6580129" cy="714375"/>
          </a:xfrm>
          <a:prstGeom prst="roundRect">
            <a:avLst>
              <a:gd name="adj" fmla="val 13685"/>
            </a:avLst>
          </a:prstGeom>
          <a:blipFill rotWithShape="1">
            <a:blip r:embed="rId5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44" name="TextBox 10"/>
          <p:cNvSpPr txBox="1"/>
          <p:nvPr>
            <p:custDataLst>
              <p:tags r:id="rId6"/>
            </p:custDataLst>
          </p:nvPr>
        </p:nvSpPr>
        <p:spPr>
          <a:xfrm>
            <a:off x="5416436" y="1656457"/>
            <a:ext cx="608688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基础设施层</a:t>
            </a:r>
            <a:endParaRPr lang="en-US" sz="1100"/>
          </a:p>
        </p:txBody>
      </p:sp>
      <p:sp>
        <p:nvSpPr>
          <p:cNvPr id="45" name="TextBox 11"/>
          <p:cNvSpPr txBox="1"/>
          <p:nvPr>
            <p:custDataLst>
              <p:tags r:id="rId7"/>
            </p:custDataLst>
          </p:nvPr>
        </p:nvSpPr>
        <p:spPr>
          <a:xfrm>
            <a:off x="5416436" y="1970782"/>
            <a:ext cx="608688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容器化部署，确保环境一致性与弹性伸缩</a:t>
            </a:r>
            <a:endParaRPr lang="en-US" sz="1100"/>
          </a:p>
        </p:txBody>
      </p:sp>
      <p:sp>
        <p:nvSpPr>
          <p:cNvPr id="46" name="AutoShape 12"/>
          <p:cNvSpPr/>
          <p:nvPr>
            <p:custDataLst>
              <p:tags r:id="rId8"/>
            </p:custDataLst>
          </p:nvPr>
        </p:nvSpPr>
        <p:spPr>
          <a:xfrm>
            <a:off x="5149803" y="2379613"/>
            <a:ext cx="6580129" cy="714375"/>
          </a:xfrm>
          <a:prstGeom prst="roundRect">
            <a:avLst>
              <a:gd name="adj" fmla="val 13682"/>
            </a:avLst>
          </a:prstGeom>
          <a:blipFill rotWithShape="1">
            <a:blip r:embed="rId9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47" name="TextBox 13"/>
          <p:cNvSpPr txBox="1"/>
          <p:nvPr>
            <p:custDataLst>
              <p:tags r:id="rId10"/>
            </p:custDataLst>
          </p:nvPr>
        </p:nvSpPr>
        <p:spPr>
          <a:xfrm>
            <a:off x="5416436" y="2483644"/>
            <a:ext cx="608688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数据持久层</a:t>
            </a:r>
            <a:endParaRPr lang="en-US" sz="1100"/>
          </a:p>
        </p:txBody>
      </p:sp>
      <p:sp>
        <p:nvSpPr>
          <p:cNvPr id="48" name="TextBox 14"/>
          <p:cNvSpPr txBox="1"/>
          <p:nvPr>
            <p:custDataLst>
              <p:tags r:id="rId11"/>
            </p:custDataLst>
          </p:nvPr>
        </p:nvSpPr>
        <p:spPr>
          <a:xfrm>
            <a:off x="5416436" y="2797969"/>
            <a:ext cx="608688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MyBatis-Plus + MySQL，高效 ORM 映射与数据存储</a:t>
            </a:r>
            <a:endParaRPr lang="en-US" sz="1100"/>
          </a:p>
        </p:txBody>
      </p:sp>
      <p:sp>
        <p:nvSpPr>
          <p:cNvPr id="49" name="AutoShape 15"/>
          <p:cNvSpPr/>
          <p:nvPr>
            <p:custDataLst>
              <p:tags r:id="rId12"/>
            </p:custDataLst>
          </p:nvPr>
        </p:nvSpPr>
        <p:spPr>
          <a:xfrm>
            <a:off x="5149803" y="3206800"/>
            <a:ext cx="6580129" cy="714375"/>
          </a:xfrm>
          <a:prstGeom prst="roundRect">
            <a:avLst>
              <a:gd name="adj" fmla="val 13685"/>
            </a:avLst>
          </a:prstGeom>
          <a:blipFill rotWithShape="1">
            <a:blip r:embed="rId1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50" name="TextBox 16"/>
          <p:cNvSpPr txBox="1"/>
          <p:nvPr>
            <p:custDataLst>
              <p:tags r:id="rId14"/>
            </p:custDataLst>
          </p:nvPr>
        </p:nvSpPr>
        <p:spPr>
          <a:xfrm>
            <a:off x="5416436" y="3310682"/>
            <a:ext cx="608688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业务服务层</a:t>
            </a:r>
            <a:endParaRPr lang="en-US" sz="1100"/>
          </a:p>
        </p:txBody>
      </p:sp>
      <p:sp>
        <p:nvSpPr>
          <p:cNvPr id="51" name="TextBox 17"/>
          <p:cNvSpPr txBox="1"/>
          <p:nvPr>
            <p:custDataLst>
              <p:tags r:id="rId15"/>
            </p:custDataLst>
          </p:nvPr>
        </p:nvSpPr>
        <p:spPr>
          <a:xfrm>
            <a:off x="5416436" y="3625007"/>
            <a:ext cx="608688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大核心 Service 模块，支撑复杂银行业务逻辑</a:t>
            </a:r>
            <a:endParaRPr lang="en-US" sz="1100"/>
          </a:p>
        </p:txBody>
      </p:sp>
      <p:sp>
        <p:nvSpPr>
          <p:cNvPr id="52" name="AutoShape 18"/>
          <p:cNvSpPr/>
          <p:nvPr>
            <p:custDataLst>
              <p:tags r:id="rId16"/>
            </p:custDataLst>
          </p:nvPr>
        </p:nvSpPr>
        <p:spPr>
          <a:xfrm>
            <a:off x="5149803" y="4033838"/>
            <a:ext cx="6580129" cy="714375"/>
          </a:xfrm>
          <a:prstGeom prst="roundRect">
            <a:avLst>
              <a:gd name="adj" fmla="val 13682"/>
            </a:avLst>
          </a:prstGeom>
          <a:blipFill rotWithShape="1">
            <a:blip r:embed="rId17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53" name="TextBox 19"/>
          <p:cNvSpPr txBox="1"/>
          <p:nvPr>
            <p:custDataLst>
              <p:tags r:id="rId18"/>
            </p:custDataLst>
          </p:nvPr>
        </p:nvSpPr>
        <p:spPr>
          <a:xfrm>
            <a:off x="5416436" y="4137868"/>
            <a:ext cx="608688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MCP-SKill层</a:t>
            </a:r>
            <a:endParaRPr lang="en-US" sz="1100"/>
          </a:p>
        </p:txBody>
      </p:sp>
      <p:sp>
        <p:nvSpPr>
          <p:cNvPr id="54" name="TextBox 20"/>
          <p:cNvSpPr txBox="1"/>
          <p:nvPr>
            <p:custDataLst>
              <p:tags r:id="rId19"/>
            </p:custDataLst>
          </p:nvPr>
        </p:nvSpPr>
        <p:spPr>
          <a:xfrm>
            <a:off x="5416436" y="4452193"/>
            <a:ext cx="608688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意图识别(大模型多Provider路由(MiMo/OpenAI) · 规则匹配兜底机制)</a:t>
            </a:r>
            <a:endParaRPr lang="en-US" sz="1300"/>
          </a:p>
          <a:p>
            <a:pPr algn="l">
              <a:defRPr/>
            </a:pPr>
            <a:r>
              <a:rPr lang="en-US" sz="130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→ Skill匹配 → 能力单元路由</a:t>
            </a:r>
            <a:endParaRPr lang="en-US" sz="1100"/>
          </a:p>
        </p:txBody>
      </p:sp>
      <p:sp>
        <p:nvSpPr>
          <p:cNvPr id="55" name="AutoShape 21"/>
          <p:cNvSpPr/>
          <p:nvPr>
            <p:custDataLst>
              <p:tags r:id="rId20"/>
            </p:custDataLst>
          </p:nvPr>
        </p:nvSpPr>
        <p:spPr>
          <a:xfrm>
            <a:off x="5149803" y="4861024"/>
            <a:ext cx="6580129" cy="714375"/>
          </a:xfrm>
          <a:prstGeom prst="roundRect">
            <a:avLst>
              <a:gd name="adj" fmla="val 13685"/>
            </a:avLst>
          </a:prstGeom>
          <a:blipFill rotWithShape="1">
            <a:blip r:embed="rId2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56" name="TextBox 22"/>
          <p:cNvSpPr txBox="1"/>
          <p:nvPr>
            <p:custDataLst>
              <p:tags r:id="rId22"/>
            </p:custDataLst>
          </p:nvPr>
        </p:nvSpPr>
        <p:spPr>
          <a:xfrm>
            <a:off x="5416436" y="4964906"/>
            <a:ext cx="608688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接入层</a:t>
            </a:r>
            <a:endParaRPr lang="en-US" sz="1100"/>
          </a:p>
        </p:txBody>
      </p:sp>
      <p:sp>
        <p:nvSpPr>
          <p:cNvPr id="57" name="TextBox 23"/>
          <p:cNvSpPr txBox="1"/>
          <p:nvPr>
            <p:custDataLst>
              <p:tags r:id="rId23"/>
            </p:custDataLst>
          </p:nvPr>
        </p:nvSpPr>
        <p:spPr>
          <a:xfrm>
            <a:off x="5416436" y="5279231"/>
            <a:ext cx="608688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 JWT 统一校验，保障系统访问安全</a:t>
            </a:r>
            <a:endParaRPr lang="en-US" sz="1100"/>
          </a:p>
        </p:txBody>
      </p:sp>
      <p:sp>
        <p:nvSpPr>
          <p:cNvPr id="58" name="AutoShape 24"/>
          <p:cNvSpPr/>
          <p:nvPr>
            <p:custDataLst>
              <p:tags r:id="rId24"/>
            </p:custDataLst>
          </p:nvPr>
        </p:nvSpPr>
        <p:spPr>
          <a:xfrm>
            <a:off x="5149803" y="5688062"/>
            <a:ext cx="6580129" cy="714375"/>
          </a:xfrm>
          <a:prstGeom prst="roundRect">
            <a:avLst>
              <a:gd name="adj" fmla="val 13685"/>
            </a:avLst>
          </a:prstGeom>
          <a:blipFill rotWithShape="1">
            <a:blip r:embed="rId25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59" name="TextBox 25"/>
          <p:cNvSpPr txBox="1"/>
          <p:nvPr>
            <p:custDataLst>
              <p:tags r:id="rId26"/>
            </p:custDataLst>
          </p:nvPr>
        </p:nvSpPr>
        <p:spPr>
          <a:xfrm>
            <a:off x="5416436" y="5791944"/>
            <a:ext cx="608688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客户端层</a:t>
            </a:r>
            <a:endParaRPr lang="en-US" sz="1100"/>
          </a:p>
        </p:txBody>
      </p:sp>
      <p:sp>
        <p:nvSpPr>
          <p:cNvPr id="60" name="TextBox 26"/>
          <p:cNvSpPr txBox="1"/>
          <p:nvPr>
            <p:custDataLst>
              <p:tags r:id="rId27"/>
            </p:custDataLst>
          </p:nvPr>
        </p:nvSpPr>
        <p:spPr>
          <a:xfrm>
            <a:off x="5416436" y="6106269"/>
            <a:ext cx="608688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Vue2 + Vant2，构建流畅的用户交互界面</a:t>
            </a:r>
            <a:endParaRPr lang="en-US" sz="1100"/>
          </a:p>
        </p:txBody>
      </p:sp>
      <p:pic>
        <p:nvPicPr>
          <p:cNvPr id="61" name="Picture 7"/>
          <p:cNvPicPr>
            <a:picLocks noChangeAspect="1"/>
          </p:cNvPicPr>
          <p:nvPr/>
        </p:nvPicPr>
        <p:blipFill>
          <a:blip r:embed="rId28">
            <a:alphaModFix amt="100000"/>
          </a:blip>
          <a:srcRect/>
          <a:stretch>
            <a:fillRect/>
          </a:stretch>
        </p:blipFill>
        <p:spPr>
          <a:xfrm>
            <a:off x="380883" y="1565275"/>
            <a:ext cx="4368947" cy="4524375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2" name="TextBox 8"/>
          <p:cNvSpPr txBox="1"/>
          <p:nvPr/>
        </p:nvSpPr>
        <p:spPr>
          <a:xfrm>
            <a:off x="457086" y="6210300"/>
            <a:ext cx="4387994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1000" b="0" i="0" strike="noStrike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六层系统架构全景图</a:t>
            </a:r>
            <a:endParaRPr lang="en-US" sz="1100"/>
          </a:p>
        </p:txBody>
      </p:sp>
      <p:sp>
        <p:nvSpPr>
          <p:cNvPr id="63" name="TextBox 4"/>
          <p:cNvSpPr txBox="1"/>
          <p:nvPr/>
        </p:nvSpPr>
        <p:spPr>
          <a:xfrm>
            <a:off x="457086" y="495300"/>
            <a:ext cx="1127478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技术架构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10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TextBox 4"/>
          <p:cNvSpPr txBox="1"/>
          <p:nvPr/>
        </p:nvSpPr>
        <p:spPr>
          <a:xfrm>
            <a:off x="457086" y="495300"/>
            <a:ext cx="1127478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04 技术架构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57086" y="819150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E3A8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MCP-Skill 核心特性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57086" y="1533525"/>
            <a:ext cx="3609072" cy="4867275"/>
          </a:xfrm>
          <a:prstGeom prst="roundRect">
            <a:avLst>
              <a:gd name="adj" fmla="val 803"/>
            </a:avLst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>
            <a:off x="685629" y="1800225"/>
            <a:ext cx="380905" cy="381000"/>
          </a:xfrm>
          <a:prstGeom prst="ellipse">
            <a:avLst/>
          </a:prstGeom>
          <a:solidFill>
            <a:srgbClr val="DBEAF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809273" y="1923975"/>
            <a:ext cx="133466" cy="133499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540" y="0"/>
                </a:moveTo>
                <a:cubicBezTo>
                  <a:pt x="4831" y="-138"/>
                  <a:pt x="5167" y="-138"/>
                  <a:pt x="5458" y="0"/>
                </a:cubicBezTo>
                <a:lnTo>
                  <a:pt x="9727" y="2014"/>
                </a:lnTo>
                <a:cubicBezTo>
                  <a:pt x="9893" y="2091"/>
                  <a:pt x="9998" y="2261"/>
                  <a:pt x="9998" y="2448"/>
                </a:cubicBezTo>
                <a:cubicBezTo>
                  <a:pt x="9998" y="2635"/>
                  <a:pt x="9892" y="2804"/>
                  <a:pt x="9727" y="2883"/>
                </a:cubicBezTo>
                <a:lnTo>
                  <a:pt x="5458" y="4896"/>
                </a:lnTo>
                <a:cubicBezTo>
                  <a:pt x="5167" y="5034"/>
                  <a:pt x="4831" y="5034"/>
                  <a:pt x="4540" y="4896"/>
                </a:cubicBezTo>
                <a:lnTo>
                  <a:pt x="271" y="2883"/>
                </a:lnTo>
                <a:cubicBezTo>
                  <a:pt x="105" y="2803"/>
                  <a:pt x="0" y="2634"/>
                  <a:pt x="0" y="2448"/>
                </a:cubicBezTo>
                <a:cubicBezTo>
                  <a:pt x="0" y="2262"/>
                  <a:pt x="106" y="2092"/>
                  <a:pt x="271" y="2014"/>
                </a:cubicBezTo>
                <a:lnTo>
                  <a:pt x="4540" y="0"/>
                </a:lnTo>
                <a:close/>
                <a:moveTo>
                  <a:pt x="939" y="4250"/>
                </a:moveTo>
                <a:lnTo>
                  <a:pt x="4148" y="5764"/>
                </a:lnTo>
                <a:cubicBezTo>
                  <a:pt x="4689" y="6019"/>
                  <a:pt x="5311" y="6019"/>
                  <a:pt x="5852" y="5764"/>
                </a:cubicBezTo>
                <a:lnTo>
                  <a:pt x="9061" y="4250"/>
                </a:lnTo>
                <a:lnTo>
                  <a:pt x="9727" y="4565"/>
                </a:lnTo>
                <a:cubicBezTo>
                  <a:pt x="9893" y="4643"/>
                  <a:pt x="9998" y="4813"/>
                  <a:pt x="9998" y="5000"/>
                </a:cubicBezTo>
                <a:cubicBezTo>
                  <a:pt x="9998" y="5186"/>
                  <a:pt x="9892" y="5356"/>
                  <a:pt x="9727" y="5435"/>
                </a:cubicBezTo>
                <a:lnTo>
                  <a:pt x="5458" y="7448"/>
                </a:lnTo>
                <a:cubicBezTo>
                  <a:pt x="5167" y="7586"/>
                  <a:pt x="4831" y="7586"/>
                  <a:pt x="4540" y="7448"/>
                </a:cubicBezTo>
                <a:lnTo>
                  <a:pt x="271" y="5435"/>
                </a:lnTo>
                <a:cubicBezTo>
                  <a:pt x="105" y="5355"/>
                  <a:pt x="0" y="5185"/>
                  <a:pt x="0" y="5000"/>
                </a:cubicBezTo>
                <a:cubicBezTo>
                  <a:pt x="0" y="4814"/>
                  <a:pt x="106" y="4644"/>
                  <a:pt x="271" y="4565"/>
                </a:cubicBezTo>
                <a:lnTo>
                  <a:pt x="937" y="4250"/>
                </a:lnTo>
                <a:close/>
                <a:moveTo>
                  <a:pt x="271" y="7117"/>
                </a:moveTo>
                <a:lnTo>
                  <a:pt x="937" y="6802"/>
                </a:lnTo>
                <a:lnTo>
                  <a:pt x="4146" y="8315"/>
                </a:lnTo>
                <a:cubicBezTo>
                  <a:pt x="4687" y="8571"/>
                  <a:pt x="5309" y="8571"/>
                  <a:pt x="5850" y="8315"/>
                </a:cubicBezTo>
                <a:lnTo>
                  <a:pt x="9059" y="6802"/>
                </a:lnTo>
                <a:lnTo>
                  <a:pt x="9725" y="7117"/>
                </a:lnTo>
                <a:cubicBezTo>
                  <a:pt x="9891" y="7195"/>
                  <a:pt x="9996" y="7364"/>
                  <a:pt x="9996" y="7552"/>
                </a:cubicBezTo>
                <a:cubicBezTo>
                  <a:pt x="9996" y="7738"/>
                  <a:pt x="9890" y="7908"/>
                  <a:pt x="9725" y="7986"/>
                </a:cubicBezTo>
                <a:lnTo>
                  <a:pt x="5456" y="10000"/>
                </a:lnTo>
                <a:cubicBezTo>
                  <a:pt x="5165" y="10138"/>
                  <a:pt x="4829" y="10138"/>
                  <a:pt x="4538" y="10000"/>
                </a:cubicBezTo>
                <a:lnTo>
                  <a:pt x="271" y="7986"/>
                </a:lnTo>
                <a:cubicBezTo>
                  <a:pt x="105" y="7907"/>
                  <a:pt x="0" y="7737"/>
                  <a:pt x="0" y="7552"/>
                </a:cubicBezTo>
                <a:cubicBezTo>
                  <a:pt x="0" y="7365"/>
                  <a:pt x="106" y="7196"/>
                  <a:pt x="271" y="7117"/>
                </a:cubicBezTo>
                <a:close/>
              </a:path>
            </a:pathLst>
          </a:cu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1"/>
          <p:nvPr/>
        </p:nvSpPr>
        <p:spPr>
          <a:xfrm>
            <a:off x="1180804" y="1885950"/>
            <a:ext cx="265353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核心特性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85629" y="2426749"/>
            <a:ext cx="103707" cy="118552"/>
          </a:xfrm>
          <a:custGeom>
            <a:avLst/>
            <a:gdLst/>
            <a:ahLst/>
            <a:cxnLst/>
            <a:rect l="l" t="t" r="r" b="b"/>
            <a:pathLst>
              <a:path w="8748" h="10000">
                <a:moveTo>
                  <a:pt x="8604" y="2"/>
                </a:moveTo>
                <a:cubicBezTo>
                  <a:pt x="8894" y="256"/>
                  <a:pt x="8958" y="744"/>
                  <a:pt x="8748" y="1093"/>
                </a:cubicBezTo>
                <a:lnTo>
                  <a:pt x="3570" y="9680"/>
                </a:lnTo>
                <a:cubicBezTo>
                  <a:pt x="3459" y="9866"/>
                  <a:pt x="3287" y="9980"/>
                  <a:pt x="3097" y="10000"/>
                </a:cubicBezTo>
                <a:cubicBezTo>
                  <a:pt x="2908" y="10018"/>
                  <a:pt x="2723" y="9935"/>
                  <a:pt x="2589" y="9773"/>
                </a:cubicBezTo>
                <a:lnTo>
                  <a:pt x="0" y="6650"/>
                </a:lnTo>
                <a:cubicBezTo>
                  <a:pt x="-253" y="6345"/>
                  <a:pt x="-253" y="5850"/>
                  <a:pt x="0" y="5545"/>
                </a:cubicBezTo>
                <a:cubicBezTo>
                  <a:pt x="253" y="5240"/>
                  <a:pt x="663" y="5240"/>
                  <a:pt x="916" y="5545"/>
                </a:cubicBezTo>
                <a:lnTo>
                  <a:pt x="2969" y="8021"/>
                </a:lnTo>
                <a:lnTo>
                  <a:pt x="7702" y="173"/>
                </a:lnTo>
                <a:cubicBezTo>
                  <a:pt x="7913" y="-176"/>
                  <a:pt x="8317" y="-254"/>
                  <a:pt x="8606" y="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903608" y="2352675"/>
            <a:ext cx="2930735" cy="3714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标准化接口 + 动态注册：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所有 Skill 遵循统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一接口规范</a:t>
            </a:r>
            <a:endParaRPr sz="1200" b="0" i="0" strike="noStrike">
              <a:solidFill>
                <a:srgbClr val="374151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85629" y="3414968"/>
            <a:ext cx="103707" cy="118552"/>
          </a:xfrm>
          <a:custGeom>
            <a:avLst/>
            <a:gdLst/>
            <a:ahLst/>
            <a:cxnLst/>
            <a:rect l="l" t="t" r="r" b="b"/>
            <a:pathLst>
              <a:path w="8748" h="10000">
                <a:moveTo>
                  <a:pt x="8604" y="2"/>
                </a:moveTo>
                <a:cubicBezTo>
                  <a:pt x="8894" y="256"/>
                  <a:pt x="8958" y="744"/>
                  <a:pt x="8748" y="1093"/>
                </a:cubicBezTo>
                <a:lnTo>
                  <a:pt x="3570" y="9680"/>
                </a:lnTo>
                <a:cubicBezTo>
                  <a:pt x="3459" y="9866"/>
                  <a:pt x="3287" y="9980"/>
                  <a:pt x="3097" y="10000"/>
                </a:cubicBezTo>
                <a:cubicBezTo>
                  <a:pt x="2908" y="10018"/>
                  <a:pt x="2723" y="9935"/>
                  <a:pt x="2589" y="9773"/>
                </a:cubicBezTo>
                <a:lnTo>
                  <a:pt x="0" y="6650"/>
                </a:lnTo>
                <a:cubicBezTo>
                  <a:pt x="-253" y="6345"/>
                  <a:pt x="-253" y="5850"/>
                  <a:pt x="0" y="5545"/>
                </a:cubicBezTo>
                <a:cubicBezTo>
                  <a:pt x="253" y="5240"/>
                  <a:pt x="663" y="5240"/>
                  <a:pt x="916" y="5545"/>
                </a:cubicBezTo>
                <a:lnTo>
                  <a:pt x="2969" y="8021"/>
                </a:lnTo>
                <a:lnTo>
                  <a:pt x="7702" y="173"/>
                </a:lnTo>
                <a:cubicBezTo>
                  <a:pt x="7913" y="-176"/>
                  <a:pt x="8317" y="-254"/>
                  <a:pt x="8606" y="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TextBox 13"/>
          <p:cNvSpPr txBox="1"/>
          <p:nvPr/>
        </p:nvSpPr>
        <p:spPr>
          <a:xfrm>
            <a:off x="903608" y="3340894"/>
            <a:ext cx="293073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安全分级：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QUERY/执行两阶段设计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85629" y="4403187"/>
            <a:ext cx="103707" cy="118552"/>
          </a:xfrm>
          <a:custGeom>
            <a:avLst/>
            <a:gdLst/>
            <a:ahLst/>
            <a:cxnLst/>
            <a:rect l="l" t="t" r="r" b="b"/>
            <a:pathLst>
              <a:path w="8748" h="10000">
                <a:moveTo>
                  <a:pt x="8604" y="2"/>
                </a:moveTo>
                <a:cubicBezTo>
                  <a:pt x="8894" y="256"/>
                  <a:pt x="8958" y="744"/>
                  <a:pt x="8748" y="1093"/>
                </a:cubicBezTo>
                <a:lnTo>
                  <a:pt x="3570" y="9680"/>
                </a:lnTo>
                <a:cubicBezTo>
                  <a:pt x="3459" y="9866"/>
                  <a:pt x="3287" y="9980"/>
                  <a:pt x="3097" y="10000"/>
                </a:cubicBezTo>
                <a:cubicBezTo>
                  <a:pt x="2908" y="10018"/>
                  <a:pt x="2723" y="9935"/>
                  <a:pt x="2589" y="9773"/>
                </a:cubicBezTo>
                <a:lnTo>
                  <a:pt x="0" y="6650"/>
                </a:lnTo>
                <a:cubicBezTo>
                  <a:pt x="-253" y="6345"/>
                  <a:pt x="-253" y="5850"/>
                  <a:pt x="0" y="5545"/>
                </a:cubicBezTo>
                <a:cubicBezTo>
                  <a:pt x="253" y="5240"/>
                  <a:pt x="663" y="5240"/>
                  <a:pt x="916" y="5545"/>
                </a:cubicBezTo>
                <a:lnTo>
                  <a:pt x="2969" y="8021"/>
                </a:lnTo>
                <a:lnTo>
                  <a:pt x="7702" y="173"/>
                </a:lnTo>
                <a:cubicBezTo>
                  <a:pt x="7913" y="-176"/>
                  <a:pt x="8317" y="-254"/>
                  <a:pt x="8606" y="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5" name="TextBox 15"/>
          <p:cNvSpPr txBox="1"/>
          <p:nvPr/>
        </p:nvSpPr>
        <p:spPr>
          <a:xfrm>
            <a:off x="903608" y="4329112"/>
            <a:ext cx="293073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结构化返回：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回复 + 数据 + 导航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5629" y="5391405"/>
            <a:ext cx="103707" cy="118552"/>
          </a:xfrm>
          <a:custGeom>
            <a:avLst/>
            <a:gdLst/>
            <a:ahLst/>
            <a:cxnLst/>
            <a:rect l="l" t="t" r="r" b="b"/>
            <a:pathLst>
              <a:path w="8748" h="10000">
                <a:moveTo>
                  <a:pt x="8604" y="2"/>
                </a:moveTo>
                <a:cubicBezTo>
                  <a:pt x="8894" y="256"/>
                  <a:pt x="8958" y="744"/>
                  <a:pt x="8748" y="1093"/>
                </a:cubicBezTo>
                <a:lnTo>
                  <a:pt x="3570" y="9680"/>
                </a:lnTo>
                <a:cubicBezTo>
                  <a:pt x="3459" y="9866"/>
                  <a:pt x="3287" y="9980"/>
                  <a:pt x="3097" y="10000"/>
                </a:cubicBezTo>
                <a:cubicBezTo>
                  <a:pt x="2908" y="10018"/>
                  <a:pt x="2723" y="9935"/>
                  <a:pt x="2589" y="9773"/>
                </a:cubicBezTo>
                <a:lnTo>
                  <a:pt x="0" y="6650"/>
                </a:lnTo>
                <a:cubicBezTo>
                  <a:pt x="-253" y="6345"/>
                  <a:pt x="-253" y="5850"/>
                  <a:pt x="0" y="5545"/>
                </a:cubicBezTo>
                <a:cubicBezTo>
                  <a:pt x="253" y="5240"/>
                  <a:pt x="663" y="5240"/>
                  <a:pt x="916" y="5545"/>
                </a:cubicBezTo>
                <a:lnTo>
                  <a:pt x="2969" y="8021"/>
                </a:lnTo>
                <a:lnTo>
                  <a:pt x="7702" y="173"/>
                </a:lnTo>
                <a:cubicBezTo>
                  <a:pt x="7913" y="-176"/>
                  <a:pt x="8317" y="-254"/>
                  <a:pt x="8606" y="0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1"/>
          <p:nvPr/>
        </p:nvSpPr>
        <p:spPr>
          <a:xfrm>
            <a:off x="903608" y="5317331"/>
            <a:ext cx="293073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LLM 无关设计：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当前规则，未来可切 LLM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291428" y="1533525"/>
            <a:ext cx="3609072" cy="4867275"/>
          </a:xfrm>
          <a:prstGeom prst="roundRect">
            <a:avLst>
              <a:gd name="adj" fmla="val 80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>
            <a:off x="4519971" y="1800225"/>
            <a:ext cx="380905" cy="381000"/>
          </a:xfrm>
          <a:prstGeom prst="ellipse">
            <a:avLst/>
          </a:prstGeom>
          <a:solidFill>
            <a:srgbClr val="FFEDD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4643615" y="1923975"/>
            <a:ext cx="133466" cy="133499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7" y="0"/>
                </a:moveTo>
                <a:cubicBezTo>
                  <a:pt x="5093" y="0"/>
                  <a:pt x="5189" y="20"/>
                  <a:pt x="5276" y="58"/>
                </a:cubicBezTo>
                <a:lnTo>
                  <a:pt x="9200" y="1645"/>
                </a:lnTo>
                <a:cubicBezTo>
                  <a:pt x="9658" y="1830"/>
                  <a:pt x="10000" y="2262"/>
                  <a:pt x="9998" y="2782"/>
                </a:cubicBezTo>
                <a:cubicBezTo>
                  <a:pt x="9988" y="4754"/>
                  <a:pt x="9138" y="8360"/>
                  <a:pt x="5549" y="10000"/>
                </a:cubicBezTo>
                <a:cubicBezTo>
                  <a:pt x="5201" y="10159"/>
                  <a:pt x="4797" y="10159"/>
                  <a:pt x="4449" y="10000"/>
                </a:cubicBezTo>
                <a:cubicBezTo>
                  <a:pt x="858" y="8360"/>
                  <a:pt x="10" y="4754"/>
                  <a:pt x="0" y="2782"/>
                </a:cubicBezTo>
                <a:cubicBezTo>
                  <a:pt x="-2" y="2262"/>
                  <a:pt x="340" y="1830"/>
                  <a:pt x="798" y="1645"/>
                </a:cubicBezTo>
                <a:lnTo>
                  <a:pt x="4720" y="58"/>
                </a:lnTo>
                <a:cubicBezTo>
                  <a:pt x="4807" y="20"/>
                  <a:pt x="4901" y="0"/>
                  <a:pt x="4997" y="0"/>
                </a:cubicBezTo>
                <a:close/>
                <a:moveTo>
                  <a:pt x="4997" y="1328"/>
                </a:moveTo>
                <a:lnTo>
                  <a:pt x="4997" y="8841"/>
                </a:lnTo>
                <a:cubicBezTo>
                  <a:pt x="7871" y="7514"/>
                  <a:pt x="8644" y="4573"/>
                  <a:pt x="8663" y="2812"/>
                </a:cubicBezTo>
                <a:lnTo>
                  <a:pt x="4997" y="1329"/>
                </a:lnTo>
                <a:lnTo>
                  <a:pt x="4997" y="1329"/>
                </a:lnTo>
                <a:close/>
              </a:path>
            </a:pathLst>
          </a:custGeom>
          <a:solidFill>
            <a:srgbClr val="EA580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1"/>
          <p:nvPr/>
        </p:nvSpPr>
        <p:spPr>
          <a:xfrm>
            <a:off x="5015146" y="1885950"/>
            <a:ext cx="265368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安全保护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519971" y="2416870"/>
            <a:ext cx="103707" cy="138311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2499" y="2353"/>
                </a:moveTo>
                <a:lnTo>
                  <a:pt x="2499" y="3529"/>
                </a:lnTo>
                <a:lnTo>
                  <a:pt x="4999" y="3529"/>
                </a:lnTo>
                <a:lnTo>
                  <a:pt x="4999" y="2353"/>
                </a:lnTo>
                <a:cubicBezTo>
                  <a:pt x="4999" y="1704"/>
                  <a:pt x="4438" y="1176"/>
                  <a:pt x="3749" y="1176"/>
                </a:cubicBezTo>
                <a:cubicBezTo>
                  <a:pt x="3059" y="1176"/>
                  <a:pt x="2499" y="1704"/>
                  <a:pt x="2499" y="2353"/>
                </a:cubicBezTo>
                <a:close/>
                <a:moveTo>
                  <a:pt x="1250" y="3529"/>
                </a:moveTo>
                <a:lnTo>
                  <a:pt x="1250" y="2353"/>
                </a:lnTo>
                <a:cubicBezTo>
                  <a:pt x="1250" y="1053"/>
                  <a:pt x="2369" y="0"/>
                  <a:pt x="3749" y="0"/>
                </a:cubicBezTo>
                <a:cubicBezTo>
                  <a:pt x="5128" y="0"/>
                  <a:pt x="6248" y="1054"/>
                  <a:pt x="6248" y="2353"/>
                </a:cubicBezTo>
                <a:lnTo>
                  <a:pt x="6248" y="3529"/>
                </a:lnTo>
                <a:cubicBezTo>
                  <a:pt x="6938" y="3529"/>
                  <a:pt x="7498" y="4057"/>
                  <a:pt x="7498" y="4706"/>
                </a:cubicBezTo>
                <a:lnTo>
                  <a:pt x="7498" y="8824"/>
                </a:lnTo>
                <a:cubicBezTo>
                  <a:pt x="7498" y="9472"/>
                  <a:pt x="6938" y="10000"/>
                  <a:pt x="6248" y="10000"/>
                </a:cubicBezTo>
                <a:lnTo>
                  <a:pt x="1250" y="10000"/>
                </a:lnTo>
                <a:cubicBezTo>
                  <a:pt x="560" y="10000"/>
                  <a:pt x="0" y="9472"/>
                  <a:pt x="0" y="8824"/>
                </a:cubicBezTo>
                <a:lnTo>
                  <a:pt x="0" y="4706"/>
                </a:lnTo>
                <a:cubicBezTo>
                  <a:pt x="0" y="4057"/>
                  <a:pt x="560" y="3529"/>
                  <a:pt x="1250" y="3529"/>
                </a:cubicBezTo>
                <a:close/>
              </a:path>
            </a:pathLst>
          </a:cu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1"/>
          <p:nvPr/>
        </p:nvSpPr>
        <p:spPr>
          <a:xfrm>
            <a:off x="4737950" y="2352675"/>
            <a:ext cx="293088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身份认证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19971" y="3405088"/>
            <a:ext cx="103707" cy="138311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2499" y="2353"/>
                </a:moveTo>
                <a:lnTo>
                  <a:pt x="2499" y="3529"/>
                </a:lnTo>
                <a:lnTo>
                  <a:pt x="4999" y="3529"/>
                </a:lnTo>
                <a:lnTo>
                  <a:pt x="4999" y="2353"/>
                </a:lnTo>
                <a:cubicBezTo>
                  <a:pt x="4999" y="1704"/>
                  <a:pt x="4438" y="1176"/>
                  <a:pt x="3749" y="1176"/>
                </a:cubicBezTo>
                <a:cubicBezTo>
                  <a:pt x="3059" y="1176"/>
                  <a:pt x="2499" y="1704"/>
                  <a:pt x="2499" y="2353"/>
                </a:cubicBezTo>
                <a:close/>
                <a:moveTo>
                  <a:pt x="1250" y="3529"/>
                </a:moveTo>
                <a:lnTo>
                  <a:pt x="1250" y="2353"/>
                </a:lnTo>
                <a:cubicBezTo>
                  <a:pt x="1250" y="1053"/>
                  <a:pt x="2369" y="0"/>
                  <a:pt x="3749" y="0"/>
                </a:cubicBezTo>
                <a:cubicBezTo>
                  <a:pt x="5128" y="0"/>
                  <a:pt x="6248" y="1054"/>
                  <a:pt x="6248" y="2353"/>
                </a:cubicBezTo>
                <a:lnTo>
                  <a:pt x="6248" y="3529"/>
                </a:lnTo>
                <a:cubicBezTo>
                  <a:pt x="6938" y="3529"/>
                  <a:pt x="7498" y="4057"/>
                  <a:pt x="7498" y="4706"/>
                </a:cubicBezTo>
                <a:lnTo>
                  <a:pt x="7498" y="8824"/>
                </a:lnTo>
                <a:cubicBezTo>
                  <a:pt x="7498" y="9472"/>
                  <a:pt x="6938" y="10000"/>
                  <a:pt x="6248" y="10000"/>
                </a:cubicBezTo>
                <a:lnTo>
                  <a:pt x="1250" y="10000"/>
                </a:lnTo>
                <a:cubicBezTo>
                  <a:pt x="560" y="10000"/>
                  <a:pt x="0" y="9472"/>
                  <a:pt x="0" y="8824"/>
                </a:cubicBezTo>
                <a:lnTo>
                  <a:pt x="0" y="4706"/>
                </a:lnTo>
                <a:cubicBezTo>
                  <a:pt x="0" y="4057"/>
                  <a:pt x="560" y="3529"/>
                  <a:pt x="1250" y="3529"/>
                </a:cubicBezTo>
                <a:close/>
              </a:path>
            </a:pathLst>
          </a:cu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5" name="TextBox 25"/>
          <p:cNvSpPr txBox="1"/>
          <p:nvPr/>
        </p:nvSpPr>
        <p:spPr>
          <a:xfrm>
            <a:off x="4737950" y="3340894"/>
            <a:ext cx="293088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数据加密：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(bcrypt+AES)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519971" y="4393307"/>
            <a:ext cx="103707" cy="138311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2499" y="2353"/>
                </a:moveTo>
                <a:lnTo>
                  <a:pt x="2499" y="3529"/>
                </a:lnTo>
                <a:lnTo>
                  <a:pt x="4999" y="3529"/>
                </a:lnTo>
                <a:lnTo>
                  <a:pt x="4999" y="2353"/>
                </a:lnTo>
                <a:cubicBezTo>
                  <a:pt x="4999" y="1704"/>
                  <a:pt x="4438" y="1176"/>
                  <a:pt x="3749" y="1176"/>
                </a:cubicBezTo>
                <a:cubicBezTo>
                  <a:pt x="3059" y="1176"/>
                  <a:pt x="2499" y="1704"/>
                  <a:pt x="2499" y="2353"/>
                </a:cubicBezTo>
                <a:close/>
                <a:moveTo>
                  <a:pt x="1250" y="3529"/>
                </a:moveTo>
                <a:lnTo>
                  <a:pt x="1250" y="2353"/>
                </a:lnTo>
                <a:cubicBezTo>
                  <a:pt x="1250" y="1053"/>
                  <a:pt x="2369" y="0"/>
                  <a:pt x="3749" y="0"/>
                </a:cubicBezTo>
                <a:cubicBezTo>
                  <a:pt x="5128" y="0"/>
                  <a:pt x="6248" y="1054"/>
                  <a:pt x="6248" y="2353"/>
                </a:cubicBezTo>
                <a:lnTo>
                  <a:pt x="6248" y="3529"/>
                </a:lnTo>
                <a:cubicBezTo>
                  <a:pt x="6938" y="3529"/>
                  <a:pt x="7498" y="4057"/>
                  <a:pt x="7498" y="4706"/>
                </a:cubicBezTo>
                <a:lnTo>
                  <a:pt x="7498" y="8824"/>
                </a:lnTo>
                <a:cubicBezTo>
                  <a:pt x="7498" y="9472"/>
                  <a:pt x="6938" y="10000"/>
                  <a:pt x="6248" y="10000"/>
                </a:cubicBezTo>
                <a:lnTo>
                  <a:pt x="1250" y="10000"/>
                </a:lnTo>
                <a:cubicBezTo>
                  <a:pt x="560" y="10000"/>
                  <a:pt x="0" y="9472"/>
                  <a:pt x="0" y="8824"/>
                </a:cubicBezTo>
                <a:lnTo>
                  <a:pt x="0" y="4706"/>
                </a:lnTo>
                <a:cubicBezTo>
                  <a:pt x="0" y="4057"/>
                  <a:pt x="560" y="3529"/>
                  <a:pt x="1250" y="3529"/>
                </a:cubicBezTo>
                <a:close/>
              </a:path>
            </a:pathLst>
          </a:cu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7" name="TextBox 27"/>
          <p:cNvSpPr txBox="1"/>
          <p:nvPr/>
        </p:nvSpPr>
        <p:spPr>
          <a:xfrm>
            <a:off x="4737950" y="4329112"/>
            <a:ext cx="293088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防攻击：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(锁定 +30s 防重复)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519971" y="5381526"/>
            <a:ext cx="103707" cy="138311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2499" y="2353"/>
                </a:moveTo>
                <a:lnTo>
                  <a:pt x="2499" y="3529"/>
                </a:lnTo>
                <a:lnTo>
                  <a:pt x="4999" y="3529"/>
                </a:lnTo>
                <a:lnTo>
                  <a:pt x="4999" y="2353"/>
                </a:lnTo>
                <a:cubicBezTo>
                  <a:pt x="4999" y="1704"/>
                  <a:pt x="4438" y="1176"/>
                  <a:pt x="3749" y="1176"/>
                </a:cubicBezTo>
                <a:cubicBezTo>
                  <a:pt x="3059" y="1176"/>
                  <a:pt x="2499" y="1704"/>
                  <a:pt x="2499" y="2353"/>
                </a:cubicBezTo>
                <a:close/>
                <a:moveTo>
                  <a:pt x="1250" y="3529"/>
                </a:moveTo>
                <a:lnTo>
                  <a:pt x="1250" y="2353"/>
                </a:lnTo>
                <a:cubicBezTo>
                  <a:pt x="1250" y="1053"/>
                  <a:pt x="2369" y="0"/>
                  <a:pt x="3749" y="0"/>
                </a:cubicBezTo>
                <a:cubicBezTo>
                  <a:pt x="5128" y="0"/>
                  <a:pt x="6248" y="1054"/>
                  <a:pt x="6248" y="2353"/>
                </a:cubicBezTo>
                <a:lnTo>
                  <a:pt x="6248" y="3529"/>
                </a:lnTo>
                <a:cubicBezTo>
                  <a:pt x="6938" y="3529"/>
                  <a:pt x="7498" y="4057"/>
                  <a:pt x="7498" y="4706"/>
                </a:cubicBezTo>
                <a:lnTo>
                  <a:pt x="7498" y="8824"/>
                </a:lnTo>
                <a:cubicBezTo>
                  <a:pt x="7498" y="9472"/>
                  <a:pt x="6938" y="10000"/>
                  <a:pt x="6248" y="10000"/>
                </a:cubicBezTo>
                <a:lnTo>
                  <a:pt x="1250" y="10000"/>
                </a:lnTo>
                <a:cubicBezTo>
                  <a:pt x="560" y="10000"/>
                  <a:pt x="0" y="9472"/>
                  <a:pt x="0" y="8824"/>
                </a:cubicBezTo>
                <a:lnTo>
                  <a:pt x="0" y="4706"/>
                </a:lnTo>
                <a:cubicBezTo>
                  <a:pt x="0" y="4057"/>
                  <a:pt x="560" y="3529"/>
                  <a:pt x="1250" y="3529"/>
                </a:cubicBezTo>
                <a:close/>
              </a:path>
            </a:pathLst>
          </a:cu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9" name="TextBox 29"/>
          <p:cNvSpPr txBox="1"/>
          <p:nvPr/>
        </p:nvSpPr>
        <p:spPr>
          <a:xfrm>
            <a:off x="4737950" y="5317331"/>
            <a:ext cx="293088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AOP 审计日志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125918" y="1533525"/>
            <a:ext cx="3609072" cy="4867275"/>
          </a:xfrm>
          <a:prstGeom prst="roundRect">
            <a:avLst>
              <a:gd name="adj" fmla="val 803"/>
            </a:avLst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1" name="AutoShape 31"/>
          <p:cNvSpPr/>
          <p:nvPr/>
        </p:nvSpPr>
        <p:spPr>
          <a:xfrm>
            <a:off x="8354461" y="1800225"/>
            <a:ext cx="380905" cy="381000"/>
          </a:xfrm>
          <a:prstGeom prst="ellipse">
            <a:avLst/>
          </a:prstGeom>
          <a:solidFill>
            <a:srgbClr val="D1FAE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2" name="AutoShape 32"/>
          <p:cNvSpPr/>
          <p:nvPr/>
        </p:nvSpPr>
        <p:spPr>
          <a:xfrm>
            <a:off x="8478106" y="1923975"/>
            <a:ext cx="133466" cy="133499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258" y="1094"/>
                </a:moveTo>
                <a:cubicBezTo>
                  <a:pt x="2258" y="490"/>
                  <a:pt x="2764" y="0"/>
                  <a:pt x="3386" y="0"/>
                </a:cubicBezTo>
                <a:lnTo>
                  <a:pt x="3870" y="0"/>
                </a:lnTo>
                <a:cubicBezTo>
                  <a:pt x="4227" y="0"/>
                  <a:pt x="4515" y="279"/>
                  <a:pt x="4515" y="625"/>
                </a:cubicBezTo>
                <a:lnTo>
                  <a:pt x="4515" y="9375"/>
                </a:lnTo>
                <a:cubicBezTo>
                  <a:pt x="4515" y="9721"/>
                  <a:pt x="4227" y="10000"/>
                  <a:pt x="3870" y="10000"/>
                </a:cubicBezTo>
                <a:lnTo>
                  <a:pt x="3225" y="10000"/>
                </a:lnTo>
                <a:cubicBezTo>
                  <a:pt x="2624" y="10000"/>
                  <a:pt x="2119" y="9602"/>
                  <a:pt x="1975" y="9063"/>
                </a:cubicBezTo>
                <a:cubicBezTo>
                  <a:pt x="1961" y="9063"/>
                  <a:pt x="1949" y="9063"/>
                  <a:pt x="1935" y="9063"/>
                </a:cubicBezTo>
                <a:cubicBezTo>
                  <a:pt x="1044" y="9063"/>
                  <a:pt x="323" y="8363"/>
                  <a:pt x="323" y="7500"/>
                </a:cubicBezTo>
                <a:cubicBezTo>
                  <a:pt x="323" y="7148"/>
                  <a:pt x="443" y="6824"/>
                  <a:pt x="645" y="6563"/>
                </a:cubicBezTo>
                <a:cubicBezTo>
                  <a:pt x="254" y="6277"/>
                  <a:pt x="0" y="5824"/>
                  <a:pt x="0" y="5313"/>
                </a:cubicBezTo>
                <a:cubicBezTo>
                  <a:pt x="0" y="4709"/>
                  <a:pt x="355" y="4184"/>
                  <a:pt x="871" y="3924"/>
                </a:cubicBezTo>
                <a:cubicBezTo>
                  <a:pt x="728" y="3689"/>
                  <a:pt x="645" y="3416"/>
                  <a:pt x="645" y="3125"/>
                </a:cubicBezTo>
                <a:cubicBezTo>
                  <a:pt x="645" y="2262"/>
                  <a:pt x="1367" y="1563"/>
                  <a:pt x="2258" y="1563"/>
                </a:cubicBezTo>
                <a:lnTo>
                  <a:pt x="2258" y="1094"/>
                </a:lnTo>
                <a:close/>
                <a:moveTo>
                  <a:pt x="7740" y="1094"/>
                </a:moveTo>
                <a:lnTo>
                  <a:pt x="7740" y="1563"/>
                </a:lnTo>
                <a:cubicBezTo>
                  <a:pt x="8631" y="1563"/>
                  <a:pt x="9353" y="2262"/>
                  <a:pt x="9353" y="3125"/>
                </a:cubicBezTo>
                <a:cubicBezTo>
                  <a:pt x="9353" y="3418"/>
                  <a:pt x="9270" y="3691"/>
                  <a:pt x="9127" y="3924"/>
                </a:cubicBezTo>
                <a:cubicBezTo>
                  <a:pt x="9645" y="4184"/>
                  <a:pt x="9998" y="4707"/>
                  <a:pt x="9998" y="5313"/>
                </a:cubicBezTo>
                <a:cubicBezTo>
                  <a:pt x="9998" y="5824"/>
                  <a:pt x="9744" y="6277"/>
                  <a:pt x="9353" y="6563"/>
                </a:cubicBezTo>
                <a:cubicBezTo>
                  <a:pt x="9555" y="6824"/>
                  <a:pt x="9675" y="7148"/>
                  <a:pt x="9675" y="7500"/>
                </a:cubicBezTo>
                <a:cubicBezTo>
                  <a:pt x="9675" y="8363"/>
                  <a:pt x="8954" y="9063"/>
                  <a:pt x="8063" y="9063"/>
                </a:cubicBezTo>
                <a:cubicBezTo>
                  <a:pt x="8049" y="9063"/>
                  <a:pt x="8037" y="9063"/>
                  <a:pt x="8023" y="9063"/>
                </a:cubicBezTo>
                <a:cubicBezTo>
                  <a:pt x="7879" y="9602"/>
                  <a:pt x="7374" y="10000"/>
                  <a:pt x="6773" y="10000"/>
                </a:cubicBezTo>
                <a:lnTo>
                  <a:pt x="6128" y="10000"/>
                </a:lnTo>
                <a:cubicBezTo>
                  <a:pt x="5771" y="10000"/>
                  <a:pt x="5483" y="9721"/>
                  <a:pt x="5483" y="9375"/>
                </a:cubicBezTo>
                <a:lnTo>
                  <a:pt x="5483" y="625"/>
                </a:lnTo>
                <a:cubicBezTo>
                  <a:pt x="5483" y="279"/>
                  <a:pt x="5771" y="0"/>
                  <a:pt x="6128" y="0"/>
                </a:cubicBezTo>
                <a:lnTo>
                  <a:pt x="6612" y="0"/>
                </a:lnTo>
                <a:cubicBezTo>
                  <a:pt x="7234" y="0"/>
                  <a:pt x="7740" y="490"/>
                  <a:pt x="7740" y="1094"/>
                </a:cubicBezTo>
                <a:close/>
              </a:path>
            </a:pathLst>
          </a:custGeom>
          <a:solidFill>
            <a:srgbClr val="05966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3" name="TextBox 33"/>
          <p:cNvSpPr txBox="1"/>
          <p:nvPr/>
        </p:nvSpPr>
        <p:spPr>
          <a:xfrm>
            <a:off x="8849637" y="1885950"/>
            <a:ext cx="265353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能力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354461" y="2444532"/>
            <a:ext cx="103707" cy="82987"/>
          </a:xfrm>
          <a:custGeom>
            <a:avLst/>
            <a:gdLst/>
            <a:ahLst/>
            <a:cxnLst/>
            <a:rect l="l" t="t" r="r" b="b"/>
            <a:pathLst>
              <a:path w="12497" h="10000">
                <a:moveTo>
                  <a:pt x="6873" y="625"/>
                </a:moveTo>
                <a:cubicBezTo>
                  <a:pt x="6873" y="279"/>
                  <a:pt x="6594" y="0"/>
                  <a:pt x="6249" y="0"/>
                </a:cubicBezTo>
                <a:cubicBezTo>
                  <a:pt x="5904" y="0"/>
                  <a:pt x="5624" y="280"/>
                  <a:pt x="5624" y="625"/>
                </a:cubicBezTo>
                <a:lnTo>
                  <a:pt x="5624" y="1875"/>
                </a:lnTo>
                <a:lnTo>
                  <a:pt x="3749" y="1875"/>
                </a:lnTo>
                <a:cubicBezTo>
                  <a:pt x="2714" y="1875"/>
                  <a:pt x="1875" y="2715"/>
                  <a:pt x="1875" y="3750"/>
                </a:cubicBezTo>
                <a:lnTo>
                  <a:pt x="1875" y="8125"/>
                </a:lnTo>
                <a:cubicBezTo>
                  <a:pt x="1875" y="9160"/>
                  <a:pt x="2714" y="10000"/>
                  <a:pt x="3749" y="10000"/>
                </a:cubicBezTo>
                <a:lnTo>
                  <a:pt x="8748" y="10000"/>
                </a:lnTo>
                <a:cubicBezTo>
                  <a:pt x="9783" y="10000"/>
                  <a:pt x="10622" y="9160"/>
                  <a:pt x="10622" y="8125"/>
                </a:cubicBezTo>
                <a:lnTo>
                  <a:pt x="10622" y="3750"/>
                </a:lnTo>
                <a:cubicBezTo>
                  <a:pt x="10622" y="2715"/>
                  <a:pt x="9783" y="1875"/>
                  <a:pt x="8748" y="1875"/>
                </a:cubicBezTo>
                <a:lnTo>
                  <a:pt x="6873" y="1875"/>
                </a:lnTo>
                <a:lnTo>
                  <a:pt x="6873" y="625"/>
                </a:lnTo>
                <a:close/>
                <a:moveTo>
                  <a:pt x="3124" y="7813"/>
                </a:moveTo>
                <a:cubicBezTo>
                  <a:pt x="3124" y="7553"/>
                  <a:pt x="3333" y="7344"/>
                  <a:pt x="3593" y="7344"/>
                </a:cubicBezTo>
                <a:lnTo>
                  <a:pt x="4218" y="7344"/>
                </a:lnTo>
                <a:cubicBezTo>
                  <a:pt x="4477" y="7344"/>
                  <a:pt x="4686" y="7553"/>
                  <a:pt x="4686" y="7813"/>
                </a:cubicBezTo>
                <a:cubicBezTo>
                  <a:pt x="4686" y="8071"/>
                  <a:pt x="4476" y="8281"/>
                  <a:pt x="4218" y="8281"/>
                </a:cubicBezTo>
                <a:lnTo>
                  <a:pt x="3593" y="8281"/>
                </a:lnTo>
                <a:cubicBezTo>
                  <a:pt x="3333" y="8281"/>
                  <a:pt x="3124" y="8072"/>
                  <a:pt x="3124" y="7813"/>
                </a:cubicBezTo>
                <a:close/>
                <a:moveTo>
                  <a:pt x="5467" y="7813"/>
                </a:moveTo>
                <a:cubicBezTo>
                  <a:pt x="5467" y="7553"/>
                  <a:pt x="5676" y="7344"/>
                  <a:pt x="5936" y="7344"/>
                </a:cubicBezTo>
                <a:lnTo>
                  <a:pt x="6561" y="7344"/>
                </a:lnTo>
                <a:cubicBezTo>
                  <a:pt x="6821" y="7344"/>
                  <a:pt x="7030" y="7553"/>
                  <a:pt x="7030" y="7813"/>
                </a:cubicBezTo>
                <a:cubicBezTo>
                  <a:pt x="7030" y="8071"/>
                  <a:pt x="6820" y="8281"/>
                  <a:pt x="6561" y="8281"/>
                </a:cubicBezTo>
                <a:lnTo>
                  <a:pt x="5936" y="8281"/>
                </a:lnTo>
                <a:cubicBezTo>
                  <a:pt x="5676" y="8281"/>
                  <a:pt x="5467" y="8072"/>
                  <a:pt x="5467" y="7813"/>
                </a:cubicBezTo>
                <a:close/>
                <a:moveTo>
                  <a:pt x="7811" y="7813"/>
                </a:moveTo>
                <a:cubicBezTo>
                  <a:pt x="7811" y="7553"/>
                  <a:pt x="8020" y="7344"/>
                  <a:pt x="8279" y="7344"/>
                </a:cubicBezTo>
                <a:lnTo>
                  <a:pt x="8904" y="7344"/>
                </a:lnTo>
                <a:cubicBezTo>
                  <a:pt x="9164" y="7344"/>
                  <a:pt x="9373" y="7553"/>
                  <a:pt x="9373" y="7813"/>
                </a:cubicBezTo>
                <a:cubicBezTo>
                  <a:pt x="9373" y="8071"/>
                  <a:pt x="9163" y="8281"/>
                  <a:pt x="8904" y="8281"/>
                </a:cubicBezTo>
                <a:lnTo>
                  <a:pt x="8279" y="8281"/>
                </a:lnTo>
                <a:cubicBezTo>
                  <a:pt x="8020" y="8281"/>
                  <a:pt x="7811" y="8072"/>
                  <a:pt x="7811" y="7813"/>
                </a:cubicBezTo>
                <a:close/>
                <a:moveTo>
                  <a:pt x="4374" y="4063"/>
                </a:moveTo>
                <a:cubicBezTo>
                  <a:pt x="4891" y="4063"/>
                  <a:pt x="5311" y="4483"/>
                  <a:pt x="5311" y="5000"/>
                </a:cubicBezTo>
                <a:cubicBezTo>
                  <a:pt x="5311" y="5517"/>
                  <a:pt x="4891" y="5938"/>
                  <a:pt x="4374" y="5938"/>
                </a:cubicBezTo>
                <a:cubicBezTo>
                  <a:pt x="3857" y="5938"/>
                  <a:pt x="3437" y="5517"/>
                  <a:pt x="3437" y="5000"/>
                </a:cubicBezTo>
                <a:cubicBezTo>
                  <a:pt x="3437" y="4483"/>
                  <a:pt x="3857" y="4063"/>
                  <a:pt x="4374" y="4063"/>
                </a:cubicBezTo>
                <a:close/>
                <a:moveTo>
                  <a:pt x="7186" y="5000"/>
                </a:moveTo>
                <a:cubicBezTo>
                  <a:pt x="7186" y="4483"/>
                  <a:pt x="7606" y="4063"/>
                  <a:pt x="8123" y="4063"/>
                </a:cubicBezTo>
                <a:cubicBezTo>
                  <a:pt x="8640" y="4063"/>
                  <a:pt x="9060" y="4483"/>
                  <a:pt x="9060" y="5000"/>
                </a:cubicBezTo>
                <a:cubicBezTo>
                  <a:pt x="9060" y="5517"/>
                  <a:pt x="8640" y="5938"/>
                  <a:pt x="8123" y="5938"/>
                </a:cubicBezTo>
                <a:cubicBezTo>
                  <a:pt x="7606" y="5938"/>
                  <a:pt x="7186" y="5517"/>
                  <a:pt x="7186" y="5000"/>
                </a:cubicBezTo>
                <a:close/>
                <a:moveTo>
                  <a:pt x="1250" y="5000"/>
                </a:moveTo>
                <a:cubicBezTo>
                  <a:pt x="1250" y="4654"/>
                  <a:pt x="970" y="4375"/>
                  <a:pt x="625" y="4375"/>
                </a:cubicBezTo>
                <a:cubicBezTo>
                  <a:pt x="280" y="4375"/>
                  <a:pt x="0" y="4655"/>
                  <a:pt x="0" y="5000"/>
                </a:cubicBezTo>
                <a:lnTo>
                  <a:pt x="0" y="6875"/>
                </a:lnTo>
                <a:cubicBezTo>
                  <a:pt x="0" y="7221"/>
                  <a:pt x="279" y="7500"/>
                  <a:pt x="625" y="7500"/>
                </a:cubicBezTo>
                <a:cubicBezTo>
                  <a:pt x="970" y="7500"/>
                  <a:pt x="1250" y="7220"/>
                  <a:pt x="1250" y="6875"/>
                </a:cubicBezTo>
                <a:lnTo>
                  <a:pt x="1250" y="5000"/>
                </a:lnTo>
                <a:close/>
                <a:moveTo>
                  <a:pt x="11872" y="4375"/>
                </a:moveTo>
                <a:cubicBezTo>
                  <a:pt x="11527" y="4375"/>
                  <a:pt x="11247" y="4654"/>
                  <a:pt x="11247" y="5000"/>
                </a:cubicBezTo>
                <a:lnTo>
                  <a:pt x="11247" y="6875"/>
                </a:lnTo>
                <a:cubicBezTo>
                  <a:pt x="11247" y="7221"/>
                  <a:pt x="11527" y="7500"/>
                  <a:pt x="11872" y="7500"/>
                </a:cubicBezTo>
                <a:cubicBezTo>
                  <a:pt x="12217" y="7500"/>
                  <a:pt x="12497" y="7220"/>
                  <a:pt x="12497" y="6875"/>
                </a:cubicBezTo>
                <a:lnTo>
                  <a:pt x="12497" y="5000"/>
                </a:lnTo>
                <a:cubicBezTo>
                  <a:pt x="12497" y="4654"/>
                  <a:pt x="12218" y="4375"/>
                  <a:pt x="11872" y="4375"/>
                </a:cubicBezTo>
                <a:close/>
              </a:path>
            </a:pathLst>
          </a:custGeom>
          <a:solidFill>
            <a:srgbClr val="10B98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5" name="TextBox 35"/>
          <p:cNvSpPr txBox="1"/>
          <p:nvPr/>
        </p:nvSpPr>
        <p:spPr>
          <a:xfrm>
            <a:off x="8572440" y="2352675"/>
            <a:ext cx="293073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智能客服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354461" y="3757497"/>
            <a:ext cx="103707" cy="92207"/>
          </a:xfrm>
          <a:custGeom>
            <a:avLst/>
            <a:gdLst/>
            <a:ahLst/>
            <a:cxnLst/>
            <a:rect l="l" t="t" r="r" b="b"/>
            <a:pathLst>
              <a:path w="11247" h="10000">
                <a:moveTo>
                  <a:pt x="10018" y="4666"/>
                </a:moveTo>
                <a:lnTo>
                  <a:pt x="6345" y="4666"/>
                </a:lnTo>
                <a:cubicBezTo>
                  <a:pt x="5975" y="4666"/>
                  <a:pt x="5677" y="4385"/>
                  <a:pt x="5677" y="4038"/>
                </a:cubicBezTo>
                <a:lnTo>
                  <a:pt x="5677" y="586"/>
                </a:lnTo>
                <a:cubicBezTo>
                  <a:pt x="5677" y="239"/>
                  <a:pt x="5977" y="-45"/>
                  <a:pt x="6342" y="0"/>
                </a:cubicBezTo>
                <a:cubicBezTo>
                  <a:pt x="8576" y="278"/>
                  <a:pt x="10345" y="1942"/>
                  <a:pt x="10642" y="4040"/>
                </a:cubicBezTo>
                <a:cubicBezTo>
                  <a:pt x="10690" y="4383"/>
                  <a:pt x="10387" y="4666"/>
                  <a:pt x="10018" y="4666"/>
                </a:cubicBezTo>
                <a:close/>
                <a:moveTo>
                  <a:pt x="3970" y="688"/>
                </a:moveTo>
                <a:cubicBezTo>
                  <a:pt x="4347" y="614"/>
                  <a:pt x="4675" y="904"/>
                  <a:pt x="4675" y="1267"/>
                </a:cubicBezTo>
                <a:lnTo>
                  <a:pt x="4675" y="5136"/>
                </a:lnTo>
                <a:cubicBezTo>
                  <a:pt x="4675" y="5246"/>
                  <a:pt x="4717" y="5352"/>
                  <a:pt x="4790" y="5436"/>
                </a:cubicBezTo>
                <a:lnTo>
                  <a:pt x="7547" y="8562"/>
                </a:lnTo>
                <a:cubicBezTo>
                  <a:pt x="7791" y="8839"/>
                  <a:pt x="7739" y="9257"/>
                  <a:pt x="7403" y="9427"/>
                </a:cubicBezTo>
                <a:cubicBezTo>
                  <a:pt x="6691" y="9792"/>
                  <a:pt x="5875" y="10000"/>
                  <a:pt x="5009" y="10000"/>
                </a:cubicBezTo>
                <a:cubicBezTo>
                  <a:pt x="2244" y="10000"/>
                  <a:pt x="0" y="7892"/>
                  <a:pt x="0" y="5293"/>
                </a:cubicBezTo>
                <a:cubicBezTo>
                  <a:pt x="0" y="3028"/>
                  <a:pt x="1701" y="1137"/>
                  <a:pt x="3970" y="688"/>
                </a:cubicBezTo>
                <a:close/>
                <a:moveTo>
                  <a:pt x="9296" y="5607"/>
                </a:moveTo>
                <a:lnTo>
                  <a:pt x="10631" y="5607"/>
                </a:lnTo>
                <a:cubicBezTo>
                  <a:pt x="11017" y="5607"/>
                  <a:pt x="11326" y="5915"/>
                  <a:pt x="11247" y="6270"/>
                </a:cubicBezTo>
                <a:cubicBezTo>
                  <a:pt x="11034" y="7219"/>
                  <a:pt x="10517" y="8062"/>
                  <a:pt x="9794" y="8706"/>
                </a:cubicBezTo>
                <a:cubicBezTo>
                  <a:pt x="9538" y="8935"/>
                  <a:pt x="9135" y="8886"/>
                  <a:pt x="8910" y="8629"/>
                </a:cubicBezTo>
                <a:lnTo>
                  <a:pt x="7148" y="6635"/>
                </a:lnTo>
                <a:cubicBezTo>
                  <a:pt x="6787" y="6225"/>
                  <a:pt x="7098" y="5607"/>
                  <a:pt x="7661" y="5607"/>
                </a:cubicBezTo>
                <a:lnTo>
                  <a:pt x="9294" y="5607"/>
                </a:lnTo>
                <a:close/>
              </a:path>
            </a:pathLst>
          </a:custGeom>
          <a:solidFill>
            <a:srgbClr val="10B98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7" name="TextBox 37"/>
          <p:cNvSpPr txBox="1"/>
          <p:nvPr/>
        </p:nvSpPr>
        <p:spPr>
          <a:xfrm>
            <a:off x="8572440" y="3670250"/>
            <a:ext cx="293073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消费分析：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(10 类 + 月报)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354461" y="5052169"/>
            <a:ext cx="103707" cy="138311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5719" y="7273"/>
                </a:moveTo>
                <a:cubicBezTo>
                  <a:pt x="5862" y="6850"/>
                  <a:pt x="6147" y="6468"/>
                  <a:pt x="6469" y="6138"/>
                </a:cubicBezTo>
                <a:cubicBezTo>
                  <a:pt x="7107" y="5487"/>
                  <a:pt x="7498" y="4606"/>
                  <a:pt x="7498" y="3636"/>
                </a:cubicBezTo>
                <a:cubicBezTo>
                  <a:pt x="7498" y="1629"/>
                  <a:pt x="5819" y="0"/>
                  <a:pt x="3749" y="0"/>
                </a:cubicBezTo>
                <a:cubicBezTo>
                  <a:pt x="1678" y="0"/>
                  <a:pt x="0" y="1628"/>
                  <a:pt x="0" y="3636"/>
                </a:cubicBezTo>
                <a:cubicBezTo>
                  <a:pt x="0" y="4606"/>
                  <a:pt x="391" y="5487"/>
                  <a:pt x="1029" y="6138"/>
                </a:cubicBezTo>
                <a:cubicBezTo>
                  <a:pt x="1351" y="6468"/>
                  <a:pt x="1638" y="6850"/>
                  <a:pt x="1779" y="7273"/>
                </a:cubicBezTo>
                <a:lnTo>
                  <a:pt x="5717" y="7273"/>
                </a:lnTo>
                <a:close/>
                <a:moveTo>
                  <a:pt x="5624" y="8182"/>
                </a:moveTo>
                <a:lnTo>
                  <a:pt x="1874" y="8182"/>
                </a:lnTo>
                <a:lnTo>
                  <a:pt x="1874" y="8485"/>
                </a:lnTo>
                <a:cubicBezTo>
                  <a:pt x="1874" y="9322"/>
                  <a:pt x="2574" y="10000"/>
                  <a:pt x="3437" y="10000"/>
                </a:cubicBezTo>
                <a:lnTo>
                  <a:pt x="4061" y="10000"/>
                </a:lnTo>
                <a:cubicBezTo>
                  <a:pt x="4924" y="10000"/>
                  <a:pt x="5624" y="9322"/>
                  <a:pt x="5624" y="8485"/>
                </a:cubicBezTo>
                <a:lnTo>
                  <a:pt x="5624" y="8182"/>
                </a:lnTo>
                <a:close/>
                <a:moveTo>
                  <a:pt x="3593" y="2121"/>
                </a:moveTo>
                <a:cubicBezTo>
                  <a:pt x="2816" y="2121"/>
                  <a:pt x="2187" y="2731"/>
                  <a:pt x="2187" y="3485"/>
                </a:cubicBezTo>
                <a:cubicBezTo>
                  <a:pt x="2187" y="3737"/>
                  <a:pt x="1978" y="3939"/>
                  <a:pt x="1718" y="3939"/>
                </a:cubicBezTo>
                <a:cubicBezTo>
                  <a:pt x="1460" y="3939"/>
                  <a:pt x="1250" y="3736"/>
                  <a:pt x="1250" y="3485"/>
                </a:cubicBezTo>
                <a:cubicBezTo>
                  <a:pt x="1250" y="2229"/>
                  <a:pt x="2298" y="1212"/>
                  <a:pt x="3593" y="1212"/>
                </a:cubicBezTo>
                <a:cubicBezTo>
                  <a:pt x="3852" y="1212"/>
                  <a:pt x="4061" y="1415"/>
                  <a:pt x="4061" y="1667"/>
                </a:cubicBezTo>
                <a:cubicBezTo>
                  <a:pt x="4061" y="1918"/>
                  <a:pt x="3851" y="2121"/>
                  <a:pt x="3593" y="2121"/>
                </a:cubicBezTo>
                <a:close/>
              </a:path>
            </a:pathLst>
          </a:custGeom>
          <a:solidFill>
            <a:srgbClr val="10B981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9" name="TextBox 39"/>
          <p:cNvSpPr txBox="1"/>
          <p:nvPr/>
        </p:nvSpPr>
        <p:spPr>
          <a:xfrm>
            <a:off x="8572440" y="4987975"/>
            <a:ext cx="2930735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1" i="0" strike="noStrike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 洞察引擎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AutoShape 5"/>
          <p:cNvSpPr/>
          <p:nvPr/>
        </p:nvSpPr>
        <p:spPr>
          <a:xfrm>
            <a:off x="457086" y="457200"/>
            <a:ext cx="947203" cy="266700"/>
          </a:xfrm>
          <a:prstGeom prst="roundRect">
            <a:avLst>
              <a:gd name="adj" fmla="val 4898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71358" y="514350"/>
            <a:ext cx="83293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挑战应对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56650" y="585788"/>
            <a:ext cx="10175216" cy="9525"/>
          </a:xfrm>
          <a:prstGeom prst="rect">
            <a:avLst/>
          </a:prstGeom>
          <a:solidFill>
            <a:srgbClr val="BFDBF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457086" y="819150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真实挑战 A：AI 意图识别精度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086" y="1457325"/>
            <a:ext cx="11274781" cy="571500"/>
          </a:xfrm>
          <a:prstGeom prst="roundRect">
            <a:avLst>
              <a:gd name="adj" fmla="val 21333"/>
            </a:avLst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647537" y="1676325"/>
            <a:ext cx="133466" cy="133499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2240" y="10000"/>
                  <a:pt x="0" y="7760"/>
                  <a:pt x="0" y="5000"/>
                </a:cubicBezTo>
                <a:cubicBezTo>
                  <a:pt x="0" y="2240"/>
                  <a:pt x="2240" y="0"/>
                  <a:pt x="4999" y="0"/>
                </a:cubicBezTo>
                <a:cubicBezTo>
                  <a:pt x="7758" y="0"/>
                  <a:pt x="9998" y="2240"/>
                  <a:pt x="9998" y="5000"/>
                </a:cubicBezTo>
                <a:cubicBezTo>
                  <a:pt x="9998" y="7760"/>
                  <a:pt x="7758" y="10000"/>
                  <a:pt x="4999" y="10000"/>
                </a:cubicBezTo>
                <a:close/>
                <a:moveTo>
                  <a:pt x="4999" y="6250"/>
                </a:moveTo>
                <a:cubicBezTo>
                  <a:pt x="4654" y="6250"/>
                  <a:pt x="4374" y="6530"/>
                  <a:pt x="4374" y="6875"/>
                </a:cubicBezTo>
                <a:cubicBezTo>
                  <a:pt x="4374" y="7220"/>
                  <a:pt x="4654" y="7500"/>
                  <a:pt x="4999" y="7500"/>
                </a:cubicBezTo>
                <a:cubicBezTo>
                  <a:pt x="5344" y="7500"/>
                  <a:pt x="5624" y="7220"/>
                  <a:pt x="5624" y="6875"/>
                </a:cubicBezTo>
                <a:cubicBezTo>
                  <a:pt x="5624" y="6530"/>
                  <a:pt x="5344" y="6250"/>
                  <a:pt x="4999" y="6250"/>
                </a:cubicBezTo>
                <a:close/>
                <a:moveTo>
                  <a:pt x="4999" y="2500"/>
                </a:moveTo>
                <a:cubicBezTo>
                  <a:pt x="4644" y="2500"/>
                  <a:pt x="4360" y="2803"/>
                  <a:pt x="4386" y="3158"/>
                </a:cubicBezTo>
                <a:lnTo>
                  <a:pt x="4530" y="5189"/>
                </a:lnTo>
                <a:cubicBezTo>
                  <a:pt x="4548" y="5436"/>
                  <a:pt x="4753" y="5625"/>
                  <a:pt x="4997" y="5625"/>
                </a:cubicBezTo>
                <a:cubicBezTo>
                  <a:pt x="5243" y="5625"/>
                  <a:pt x="5446" y="5436"/>
                  <a:pt x="5464" y="5189"/>
                </a:cubicBezTo>
                <a:lnTo>
                  <a:pt x="5608" y="3158"/>
                </a:lnTo>
                <a:cubicBezTo>
                  <a:pt x="5634" y="2803"/>
                  <a:pt x="5352" y="2500"/>
                  <a:pt x="4995" y="2500"/>
                </a:cubicBezTo>
                <a:close/>
              </a:path>
            </a:pathLst>
          </a:cu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857184" y="1647825"/>
            <a:ext cx="10722320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真实数据：成功调教 1 个意图，平均失败 3-4 次描述尝试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086" y="2333625"/>
            <a:ext cx="5485028" cy="4067175"/>
          </a:xfrm>
          <a:prstGeom prst="roundRect">
            <a:avLst>
              <a:gd name="adj" fmla="val 632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3" name="AutoShape 13"/>
          <p:cNvSpPr/>
          <p:nvPr/>
        </p:nvSpPr>
        <p:spPr>
          <a:xfrm>
            <a:off x="685629" y="2600325"/>
            <a:ext cx="380905" cy="381000"/>
          </a:xfrm>
          <a:prstGeom prst="ellipse">
            <a:avLst/>
          </a:prstGeom>
          <a:solidFill>
            <a:srgbClr val="FFEDD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>
            <a:off x="801983" y="2716709"/>
            <a:ext cx="148196" cy="148233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0"/>
                </a:moveTo>
                <a:cubicBezTo>
                  <a:pt x="5292" y="0"/>
                  <a:pt x="5560" y="169"/>
                  <a:pt x="5699" y="438"/>
                </a:cubicBezTo>
                <a:lnTo>
                  <a:pt x="9998" y="8771"/>
                </a:lnTo>
                <a:cubicBezTo>
                  <a:pt x="10131" y="9029"/>
                  <a:pt x="10125" y="9342"/>
                  <a:pt x="9982" y="9594"/>
                </a:cubicBezTo>
                <a:cubicBezTo>
                  <a:pt x="9838" y="9846"/>
                  <a:pt x="9578" y="10001"/>
                  <a:pt x="9298" y="10000"/>
                </a:cubicBezTo>
                <a:lnTo>
                  <a:pt x="700" y="10000"/>
                </a:lnTo>
                <a:cubicBezTo>
                  <a:pt x="420" y="10000"/>
                  <a:pt x="159" y="9846"/>
                  <a:pt x="16" y="9594"/>
                </a:cubicBezTo>
                <a:cubicBezTo>
                  <a:pt x="-128" y="9342"/>
                  <a:pt x="-134" y="9029"/>
                  <a:pt x="0" y="8771"/>
                </a:cubicBezTo>
                <a:lnTo>
                  <a:pt x="4299" y="438"/>
                </a:lnTo>
                <a:cubicBezTo>
                  <a:pt x="4438" y="169"/>
                  <a:pt x="4706" y="0"/>
                  <a:pt x="4999" y="0"/>
                </a:cubicBezTo>
                <a:close/>
                <a:moveTo>
                  <a:pt x="4999" y="7333"/>
                </a:moveTo>
                <a:cubicBezTo>
                  <a:pt x="4648" y="7333"/>
                  <a:pt x="4362" y="7632"/>
                  <a:pt x="4362" y="8000"/>
                </a:cubicBezTo>
                <a:cubicBezTo>
                  <a:pt x="4362" y="8368"/>
                  <a:pt x="4648" y="8667"/>
                  <a:pt x="4999" y="8667"/>
                </a:cubicBezTo>
                <a:cubicBezTo>
                  <a:pt x="5350" y="8667"/>
                  <a:pt x="5636" y="8368"/>
                  <a:pt x="5636" y="8000"/>
                </a:cubicBezTo>
                <a:cubicBezTo>
                  <a:pt x="5636" y="7632"/>
                  <a:pt x="5350" y="7333"/>
                  <a:pt x="4999" y="7333"/>
                </a:cubicBezTo>
                <a:close/>
                <a:moveTo>
                  <a:pt x="4999" y="3333"/>
                </a:moveTo>
                <a:cubicBezTo>
                  <a:pt x="4637" y="3333"/>
                  <a:pt x="4348" y="3656"/>
                  <a:pt x="4374" y="4035"/>
                </a:cubicBezTo>
                <a:lnTo>
                  <a:pt x="4521" y="6202"/>
                </a:lnTo>
                <a:cubicBezTo>
                  <a:pt x="4539" y="6462"/>
                  <a:pt x="4748" y="6667"/>
                  <a:pt x="4997" y="6667"/>
                </a:cubicBezTo>
                <a:cubicBezTo>
                  <a:pt x="5248" y="6667"/>
                  <a:pt x="5455" y="6465"/>
                  <a:pt x="5473" y="6202"/>
                </a:cubicBezTo>
                <a:lnTo>
                  <a:pt x="5620" y="4035"/>
                </a:lnTo>
                <a:cubicBezTo>
                  <a:pt x="5646" y="3656"/>
                  <a:pt x="5359" y="3333"/>
                  <a:pt x="4995" y="3333"/>
                </a:cubicBezTo>
                <a:close/>
              </a:path>
            </a:pathLst>
          </a:custGeom>
          <a:solidFill>
            <a:srgbClr val="EA580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5" name="TextBox 15"/>
          <p:cNvSpPr txBox="1"/>
          <p:nvPr/>
        </p:nvSpPr>
        <p:spPr>
          <a:xfrm>
            <a:off x="1180804" y="2657475"/>
            <a:ext cx="4532767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4"/>
            </p:custDataLst>
          </p:nvPr>
        </p:nvSpPr>
        <p:spPr>
          <a:xfrm>
            <a:off x="799899" y="3267075"/>
            <a:ext cx="228543" cy="228600"/>
          </a:xfrm>
          <a:prstGeom prst="ellipse">
            <a:avLst/>
          </a:prstGeom>
          <a:solidFill>
            <a:srgbClr val="FFEDD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1"/>
          <p:nvPr>
            <p:custDataLst>
              <p:tags r:id="rId5"/>
            </p:custDataLst>
          </p:nvPr>
        </p:nvSpPr>
        <p:spPr>
          <a:xfrm>
            <a:off x="799899" y="3267075"/>
            <a:ext cx="228543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900" b="1" i="0" strike="noStrike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18" name="TextBox 18"/>
          <p:cNvSpPr txBox="1"/>
          <p:nvPr>
            <p:custDataLst>
              <p:tags r:id="rId6"/>
            </p:custDataLst>
          </p:nvPr>
        </p:nvSpPr>
        <p:spPr>
          <a:xfrm>
            <a:off x="1142714" y="3286125"/>
            <a:ext cx="4570857" cy="4095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用户说</a:t>
            </a:r>
            <a:r>
              <a:rPr sz="1200" b="1" i="0" strike="noStrike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'查余额'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 b="1" i="0" strike="noStrike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'看看我还有多少钱'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200" b="1" i="0" strike="noStrike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'我卡里还有多少'</a:t>
            </a:r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——同一</a:t>
            </a:r>
            <a:endParaRPr lang="en-US" sz="1100"/>
          </a:p>
          <a:p>
            <a:pPr algn="l"/>
            <a:r>
              <a:rPr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个意图，三种表达</a:t>
            </a:r>
            <a:r>
              <a:rPr lang="zh-CN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zh-CN" alt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用正则匹配要写三行，每新增一种就得补一行</a:t>
            </a:r>
            <a:endParaRPr lang="zh-CN" altLang="en-US" sz="1200" b="0" i="0" strike="noStrike">
              <a:solidFill>
                <a:srgbClr val="37415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7"/>
            </p:custDataLst>
          </p:nvPr>
        </p:nvSpPr>
        <p:spPr>
          <a:xfrm>
            <a:off x="799899" y="4330601"/>
            <a:ext cx="228543" cy="228600"/>
          </a:xfrm>
          <a:prstGeom prst="ellipse">
            <a:avLst/>
          </a:prstGeom>
          <a:solidFill>
            <a:srgbClr val="FFEDD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0" name="TextBox 20"/>
          <p:cNvSpPr txBox="1"/>
          <p:nvPr>
            <p:custDataLst>
              <p:tags r:id="rId8"/>
            </p:custDataLst>
          </p:nvPr>
        </p:nvSpPr>
        <p:spPr>
          <a:xfrm>
            <a:off x="799899" y="4330601"/>
            <a:ext cx="228543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900" b="1" i="0" strike="noStrike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21" name="TextBox 21"/>
          <p:cNvSpPr txBox="1"/>
          <p:nvPr>
            <p:custDataLst>
              <p:tags r:id="rId9"/>
            </p:custDataLst>
          </p:nvPr>
        </p:nvSpPr>
        <p:spPr>
          <a:xfrm>
            <a:off x="1143000" y="4349750"/>
            <a:ext cx="4570730" cy="48323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写了 5 版正则、试了 8 组关键词，第 9 版才覆盖 90% 的输入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——每条漏掉的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case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都是用户真实吐槽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10"/>
            </p:custDataLst>
          </p:nvPr>
        </p:nvSpPr>
        <p:spPr>
          <a:xfrm>
            <a:off x="799899" y="5394275"/>
            <a:ext cx="228543" cy="228600"/>
          </a:xfrm>
          <a:prstGeom prst="ellipse">
            <a:avLst/>
          </a:prstGeom>
          <a:solidFill>
            <a:srgbClr val="FFEDD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1"/>
          <p:nvPr>
            <p:custDataLst>
              <p:tags r:id="rId11"/>
            </p:custDataLst>
          </p:nvPr>
        </p:nvSpPr>
        <p:spPr>
          <a:xfrm>
            <a:off x="799899" y="5394275"/>
            <a:ext cx="228543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900" b="1" i="0" strike="noStrike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24" name="TextBox 24"/>
          <p:cNvSpPr txBox="1"/>
          <p:nvPr>
            <p:custDataLst>
              <p:tags r:id="rId12"/>
            </p:custDataLst>
          </p:nvPr>
        </p:nvSpPr>
        <p:spPr>
          <a:xfrm>
            <a:off x="1142714" y="5413325"/>
            <a:ext cx="457085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最难的不是让 AI 理解，</a:t>
            </a:r>
            <a:r>
              <a:rPr lang="zh-CN" sz="1200" b="1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而是让人替</a:t>
            </a:r>
            <a:r>
              <a:rPr lang="en-US" altLang="zh-CN" sz="1200" b="1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200" b="1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穷举人类所有的说法</a:t>
            </a:r>
            <a:endParaRPr lang="zh-CN" altLang="en-US" sz="1200"/>
          </a:p>
        </p:txBody>
      </p:sp>
      <p:sp>
        <p:nvSpPr>
          <p:cNvPr id="25" name="AutoShape 25"/>
          <p:cNvSpPr/>
          <p:nvPr/>
        </p:nvSpPr>
        <p:spPr>
          <a:xfrm>
            <a:off x="6246838" y="2333625"/>
            <a:ext cx="5485028" cy="4067175"/>
          </a:xfrm>
          <a:prstGeom prst="roundRect">
            <a:avLst>
              <a:gd name="adj" fmla="val 632"/>
            </a:avLst>
          </a:prstGeom>
          <a:blipFill rotWithShape="1">
            <a:blip r:embed="rId1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6" name="AutoShape 26"/>
          <p:cNvSpPr/>
          <p:nvPr/>
        </p:nvSpPr>
        <p:spPr>
          <a:xfrm>
            <a:off x="6475381" y="2600325"/>
            <a:ext cx="380905" cy="381000"/>
          </a:xfrm>
          <a:prstGeom prst="ellipse">
            <a:avLst/>
          </a:prstGeom>
          <a:solidFill>
            <a:srgbClr val="DBEAF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7" name="AutoShape 27"/>
          <p:cNvSpPr/>
          <p:nvPr/>
        </p:nvSpPr>
        <p:spPr>
          <a:xfrm>
            <a:off x="6591736" y="2716709"/>
            <a:ext cx="148196" cy="148233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7" y="0"/>
                </a:moveTo>
                <a:cubicBezTo>
                  <a:pt x="5093" y="0"/>
                  <a:pt x="5189" y="20"/>
                  <a:pt x="5276" y="58"/>
                </a:cubicBezTo>
                <a:lnTo>
                  <a:pt x="9200" y="1645"/>
                </a:lnTo>
                <a:cubicBezTo>
                  <a:pt x="9658" y="1830"/>
                  <a:pt x="10000" y="2262"/>
                  <a:pt x="9998" y="2782"/>
                </a:cubicBezTo>
                <a:cubicBezTo>
                  <a:pt x="9988" y="4754"/>
                  <a:pt x="9138" y="8360"/>
                  <a:pt x="5549" y="10000"/>
                </a:cubicBezTo>
                <a:cubicBezTo>
                  <a:pt x="5201" y="10159"/>
                  <a:pt x="4797" y="10159"/>
                  <a:pt x="4449" y="10000"/>
                </a:cubicBezTo>
                <a:cubicBezTo>
                  <a:pt x="858" y="8360"/>
                  <a:pt x="10" y="4754"/>
                  <a:pt x="0" y="2782"/>
                </a:cubicBezTo>
                <a:cubicBezTo>
                  <a:pt x="-2" y="2262"/>
                  <a:pt x="340" y="1830"/>
                  <a:pt x="798" y="1645"/>
                </a:cubicBezTo>
                <a:lnTo>
                  <a:pt x="4720" y="58"/>
                </a:lnTo>
                <a:cubicBezTo>
                  <a:pt x="4807" y="20"/>
                  <a:pt x="4901" y="0"/>
                  <a:pt x="4997" y="0"/>
                </a:cubicBezTo>
                <a:close/>
                <a:moveTo>
                  <a:pt x="4997" y="1328"/>
                </a:moveTo>
                <a:lnTo>
                  <a:pt x="4997" y="8841"/>
                </a:lnTo>
                <a:cubicBezTo>
                  <a:pt x="7871" y="7514"/>
                  <a:pt x="8644" y="4573"/>
                  <a:pt x="8663" y="2812"/>
                </a:cubicBezTo>
                <a:lnTo>
                  <a:pt x="4997" y="1329"/>
                </a:lnTo>
                <a:lnTo>
                  <a:pt x="4997" y="1329"/>
                </a:lnTo>
                <a:close/>
              </a:path>
            </a:pathLst>
          </a:cu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8" name="TextBox 28"/>
          <p:cNvSpPr txBox="1"/>
          <p:nvPr/>
        </p:nvSpPr>
        <p:spPr>
          <a:xfrm>
            <a:off x="6970558" y="2657475"/>
            <a:ext cx="4532767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应对</a:t>
            </a:r>
            <a:endParaRPr lang="en-US" sz="1100"/>
          </a:p>
        </p:txBody>
      </p:sp>
      <p:sp>
        <p:nvSpPr>
          <p:cNvPr id="29" name="AutoShape 29"/>
          <p:cNvSpPr/>
          <p:nvPr>
            <p:custDataLst>
              <p:tags r:id="rId14"/>
            </p:custDataLst>
          </p:nvPr>
        </p:nvSpPr>
        <p:spPr>
          <a:xfrm>
            <a:off x="6589652" y="3267075"/>
            <a:ext cx="228543" cy="228600"/>
          </a:xfrm>
          <a:prstGeom prst="ellipse">
            <a:avLst/>
          </a:prstGeom>
          <a:solidFill>
            <a:srgbClr val="DBEAF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0" name="TextBox 30"/>
          <p:cNvSpPr txBox="1"/>
          <p:nvPr>
            <p:custDataLst>
              <p:tags r:id="rId15"/>
            </p:custDataLst>
          </p:nvPr>
        </p:nvSpPr>
        <p:spPr>
          <a:xfrm>
            <a:off x="6589652" y="3267075"/>
            <a:ext cx="228543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9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31" name="TextBox 31"/>
          <p:cNvSpPr txBox="1"/>
          <p:nvPr>
            <p:custDataLst>
              <p:tags r:id="rId16"/>
            </p:custDataLst>
          </p:nvPr>
        </p:nvSpPr>
        <p:spPr>
          <a:xfrm>
            <a:off x="6932295" y="3286125"/>
            <a:ext cx="4570730" cy="55054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zh-CN" altLang="en-US" sz="12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引入大模型语义理解</a:t>
            </a:r>
            <a:r>
              <a:rPr lang="en-US" sz="12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100"/>
              <a:t>用户说什么都能识别到"余额查询"，不再需要人工写规则</a:t>
            </a:r>
            <a:endParaRPr lang="zh-CN" altLang="en-US" sz="1100"/>
          </a:p>
        </p:txBody>
      </p:sp>
      <p:sp>
        <p:nvSpPr>
          <p:cNvPr id="32" name="AutoShape 32"/>
          <p:cNvSpPr/>
          <p:nvPr>
            <p:custDataLst>
              <p:tags r:id="rId17"/>
            </p:custDataLst>
          </p:nvPr>
        </p:nvSpPr>
        <p:spPr>
          <a:xfrm>
            <a:off x="6589652" y="4330601"/>
            <a:ext cx="228543" cy="228600"/>
          </a:xfrm>
          <a:prstGeom prst="ellipse">
            <a:avLst/>
          </a:prstGeom>
          <a:solidFill>
            <a:srgbClr val="DBEAF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3" name="TextBox 33"/>
          <p:cNvSpPr txBox="1"/>
          <p:nvPr>
            <p:custDataLst>
              <p:tags r:id="rId18"/>
            </p:custDataLst>
          </p:nvPr>
        </p:nvSpPr>
        <p:spPr>
          <a:xfrm>
            <a:off x="6589652" y="4330601"/>
            <a:ext cx="228543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9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34" name="TextBox 34"/>
          <p:cNvSpPr txBox="1"/>
          <p:nvPr>
            <p:custDataLst>
              <p:tags r:id="rId19"/>
            </p:custDataLst>
          </p:nvPr>
        </p:nvSpPr>
        <p:spPr>
          <a:xfrm>
            <a:off x="6932466" y="4349651"/>
            <a:ext cx="457085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zh-CN" altLang="en-US" sz="1200" b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但大模型不是100%可靠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——极端表达、生僻说法可能翻车。所以保留规则匹配做兜底，形成混合引擎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AutoShape 35"/>
          <p:cNvSpPr/>
          <p:nvPr>
            <p:custDataLst>
              <p:tags r:id="rId20"/>
            </p:custDataLst>
          </p:nvPr>
        </p:nvSpPr>
        <p:spPr>
          <a:xfrm>
            <a:off x="6589652" y="5394275"/>
            <a:ext cx="228543" cy="228600"/>
          </a:xfrm>
          <a:prstGeom prst="ellipse">
            <a:avLst/>
          </a:prstGeom>
          <a:solidFill>
            <a:srgbClr val="DBEAF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6" name="TextBox 36"/>
          <p:cNvSpPr txBox="1"/>
          <p:nvPr>
            <p:custDataLst>
              <p:tags r:id="rId21"/>
            </p:custDataLst>
          </p:nvPr>
        </p:nvSpPr>
        <p:spPr>
          <a:xfrm>
            <a:off x="6589652" y="5394275"/>
            <a:ext cx="228543" cy="2286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9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37" name="TextBox 37"/>
          <p:cNvSpPr txBox="1"/>
          <p:nvPr>
            <p:custDataLst>
              <p:tags r:id="rId22"/>
            </p:custDataLst>
          </p:nvPr>
        </p:nvSpPr>
        <p:spPr>
          <a:xfrm>
            <a:off x="6932466" y="5413325"/>
            <a:ext cx="457085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大模型理解不了的 → 规则兜住；规则没覆盖到的边界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case →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归集到场景库，持续喂给大模型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0F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AutoShape 5"/>
          <p:cNvSpPr/>
          <p:nvPr/>
        </p:nvSpPr>
        <p:spPr>
          <a:xfrm>
            <a:off x="457086" y="457200"/>
            <a:ext cx="993924" cy="266700"/>
          </a:xfrm>
          <a:prstGeom prst="roundRect">
            <a:avLst>
              <a:gd name="adj" fmla="val 4898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71358" y="514350"/>
            <a:ext cx="87965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挑战应对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03371" y="585788"/>
            <a:ext cx="10128495" cy="9525"/>
          </a:xfrm>
          <a:prstGeom prst="rect">
            <a:avLst/>
          </a:prstGeom>
          <a:solidFill>
            <a:srgbClr val="BFDBF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457086" y="819150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真实挑战 B：</a:t>
            </a:r>
            <a:r>
              <a:rPr sz="2700" b="1" i="0" strike="noStrike">
                <a:solidFill>
                  <a:srgbClr val="1D4ED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代码的业务校验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086" y="1533525"/>
            <a:ext cx="5485028" cy="4867275"/>
          </a:xfrm>
          <a:prstGeom prst="roundRect">
            <a:avLst>
              <a:gd name="adj" fmla="val 441"/>
            </a:avLst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723718" y="1762125"/>
            <a:ext cx="380905" cy="381000"/>
          </a:xfrm>
          <a:prstGeom prst="ellipse">
            <a:avLst/>
          </a:prstGeom>
          <a:solidFill>
            <a:srgbClr val="FFEDD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>
            <a:off x="840073" y="1878509"/>
            <a:ext cx="148196" cy="148233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0"/>
                </a:moveTo>
                <a:cubicBezTo>
                  <a:pt x="5292" y="0"/>
                  <a:pt x="5560" y="169"/>
                  <a:pt x="5699" y="438"/>
                </a:cubicBezTo>
                <a:lnTo>
                  <a:pt x="9998" y="8771"/>
                </a:lnTo>
                <a:cubicBezTo>
                  <a:pt x="10131" y="9029"/>
                  <a:pt x="10125" y="9342"/>
                  <a:pt x="9982" y="9594"/>
                </a:cubicBezTo>
                <a:cubicBezTo>
                  <a:pt x="9838" y="9846"/>
                  <a:pt x="9578" y="10001"/>
                  <a:pt x="9298" y="10000"/>
                </a:cubicBezTo>
                <a:lnTo>
                  <a:pt x="700" y="10000"/>
                </a:lnTo>
                <a:cubicBezTo>
                  <a:pt x="420" y="10000"/>
                  <a:pt x="159" y="9846"/>
                  <a:pt x="16" y="9594"/>
                </a:cubicBezTo>
                <a:cubicBezTo>
                  <a:pt x="-128" y="9342"/>
                  <a:pt x="-134" y="9029"/>
                  <a:pt x="0" y="8771"/>
                </a:cubicBezTo>
                <a:lnTo>
                  <a:pt x="4299" y="438"/>
                </a:lnTo>
                <a:cubicBezTo>
                  <a:pt x="4438" y="169"/>
                  <a:pt x="4706" y="0"/>
                  <a:pt x="4999" y="0"/>
                </a:cubicBezTo>
                <a:close/>
                <a:moveTo>
                  <a:pt x="4999" y="7333"/>
                </a:moveTo>
                <a:cubicBezTo>
                  <a:pt x="4648" y="7333"/>
                  <a:pt x="4362" y="7632"/>
                  <a:pt x="4362" y="8000"/>
                </a:cubicBezTo>
                <a:cubicBezTo>
                  <a:pt x="4362" y="8368"/>
                  <a:pt x="4648" y="8667"/>
                  <a:pt x="4999" y="8667"/>
                </a:cubicBezTo>
                <a:cubicBezTo>
                  <a:pt x="5350" y="8667"/>
                  <a:pt x="5636" y="8368"/>
                  <a:pt x="5636" y="8000"/>
                </a:cubicBezTo>
                <a:cubicBezTo>
                  <a:pt x="5636" y="7632"/>
                  <a:pt x="5350" y="7333"/>
                  <a:pt x="4999" y="7333"/>
                </a:cubicBezTo>
                <a:close/>
                <a:moveTo>
                  <a:pt x="4999" y="3333"/>
                </a:moveTo>
                <a:cubicBezTo>
                  <a:pt x="4637" y="3333"/>
                  <a:pt x="4348" y="3656"/>
                  <a:pt x="4374" y="4035"/>
                </a:cubicBezTo>
                <a:lnTo>
                  <a:pt x="4521" y="6202"/>
                </a:lnTo>
                <a:cubicBezTo>
                  <a:pt x="4539" y="6462"/>
                  <a:pt x="4748" y="6667"/>
                  <a:pt x="4997" y="6667"/>
                </a:cubicBezTo>
                <a:cubicBezTo>
                  <a:pt x="5248" y="6667"/>
                  <a:pt x="5455" y="6465"/>
                  <a:pt x="5473" y="6202"/>
                </a:cubicBezTo>
                <a:lnTo>
                  <a:pt x="5620" y="4035"/>
                </a:lnTo>
                <a:cubicBezTo>
                  <a:pt x="5646" y="3656"/>
                  <a:pt x="5359" y="3333"/>
                  <a:pt x="4995" y="3333"/>
                </a:cubicBezTo>
                <a:close/>
              </a:path>
            </a:pathLst>
          </a:custGeom>
          <a:solidFill>
            <a:srgbClr val="EA580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" name="TextBox 12"/>
          <p:cNvSpPr txBox="1"/>
          <p:nvPr/>
        </p:nvSpPr>
        <p:spPr>
          <a:xfrm>
            <a:off x="1218895" y="1819275"/>
            <a:ext cx="4494676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挑战案例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3718" y="2468016"/>
            <a:ext cx="74098" cy="74116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5000"/>
                </a:moveTo>
                <a:cubicBezTo>
                  <a:pt x="0" y="2240"/>
                  <a:pt x="2240" y="0"/>
                  <a:pt x="4999" y="0"/>
                </a:cubicBezTo>
                <a:cubicBezTo>
                  <a:pt x="7758" y="0"/>
                  <a:pt x="9998" y="2240"/>
                  <a:pt x="9998" y="5000"/>
                </a:cubicBezTo>
                <a:cubicBezTo>
                  <a:pt x="9998" y="7760"/>
                  <a:pt x="7758" y="10000"/>
                  <a:pt x="4999" y="10000"/>
                </a:cubicBezTo>
                <a:cubicBezTo>
                  <a:pt x="2240" y="10000"/>
                  <a:pt x="0" y="7760"/>
                  <a:pt x="0" y="5000"/>
                </a:cubicBezTo>
                <a:close/>
              </a:path>
            </a:pathLst>
          </a:custGeom>
          <a:solidFill>
            <a:srgbClr val="FB923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4" name="TextBox 14"/>
          <p:cNvSpPr txBox="1"/>
          <p:nvPr/>
        </p:nvSpPr>
        <p:spPr>
          <a:xfrm>
            <a:off x="723718" y="2638425"/>
            <a:ext cx="5218394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转账100元，数据库存为100.00（正数）——</a:t>
            </a:r>
            <a:r>
              <a:rPr sz="1300" b="1" i="0" strike="noStrike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AI严格遵循用户输入的字面值，但忽略了会计语义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23718" y="3127623"/>
            <a:ext cx="74098" cy="74116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5000"/>
                </a:moveTo>
                <a:cubicBezTo>
                  <a:pt x="0" y="2240"/>
                  <a:pt x="2240" y="0"/>
                  <a:pt x="4999" y="0"/>
                </a:cubicBezTo>
                <a:cubicBezTo>
                  <a:pt x="7758" y="0"/>
                  <a:pt x="9998" y="2240"/>
                  <a:pt x="9998" y="5000"/>
                </a:cubicBezTo>
                <a:cubicBezTo>
                  <a:pt x="9998" y="7760"/>
                  <a:pt x="7758" y="10000"/>
                  <a:pt x="4999" y="10000"/>
                </a:cubicBezTo>
                <a:cubicBezTo>
                  <a:pt x="2240" y="10000"/>
                  <a:pt x="0" y="7760"/>
                  <a:pt x="0" y="5000"/>
                </a:cubicBezTo>
                <a:close/>
              </a:path>
            </a:pathLst>
          </a:custGeom>
          <a:solidFill>
            <a:srgbClr val="FB923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723718" y="3298031"/>
            <a:ext cx="4989852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银行会计准则是金额方向敏感——支出必须为负数，</a:t>
            </a:r>
            <a:r>
              <a:rPr sz="1300" b="1" i="0" strike="noStrike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这条业务语义规则不存在于API文档中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23718" y="3787229"/>
            <a:ext cx="74098" cy="74116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5000"/>
                </a:moveTo>
                <a:cubicBezTo>
                  <a:pt x="0" y="2240"/>
                  <a:pt x="2240" y="0"/>
                  <a:pt x="4999" y="0"/>
                </a:cubicBezTo>
                <a:cubicBezTo>
                  <a:pt x="7758" y="0"/>
                  <a:pt x="9998" y="2240"/>
                  <a:pt x="9998" y="5000"/>
                </a:cubicBezTo>
                <a:cubicBezTo>
                  <a:pt x="9998" y="7760"/>
                  <a:pt x="7758" y="10000"/>
                  <a:pt x="4999" y="10000"/>
                </a:cubicBezTo>
                <a:cubicBezTo>
                  <a:pt x="2240" y="10000"/>
                  <a:pt x="0" y="7760"/>
                  <a:pt x="0" y="5000"/>
                </a:cubicBezTo>
                <a:close/>
              </a:path>
            </a:pathLst>
          </a:custGeom>
          <a:solidFill>
            <a:srgbClr val="FB923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723718" y="3957638"/>
            <a:ext cx="4989852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AI生成的代码语法完美、注释齐全、</a:t>
            </a:r>
            <a:r>
              <a:rPr sz="1300" b="1" i="0" strike="noStrike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单元测试通过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3718" y="4446835"/>
            <a:ext cx="74098" cy="74116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5000"/>
                </a:moveTo>
                <a:cubicBezTo>
                  <a:pt x="0" y="2240"/>
                  <a:pt x="2240" y="0"/>
                  <a:pt x="4999" y="0"/>
                </a:cubicBezTo>
                <a:cubicBezTo>
                  <a:pt x="7758" y="0"/>
                  <a:pt x="9998" y="2240"/>
                  <a:pt x="9998" y="5000"/>
                </a:cubicBezTo>
                <a:cubicBezTo>
                  <a:pt x="9998" y="7760"/>
                  <a:pt x="7758" y="10000"/>
                  <a:pt x="4999" y="10000"/>
                </a:cubicBezTo>
                <a:cubicBezTo>
                  <a:pt x="2240" y="10000"/>
                  <a:pt x="0" y="7760"/>
                  <a:pt x="0" y="5000"/>
                </a:cubicBezTo>
                <a:close/>
              </a:path>
            </a:pathLst>
          </a:custGeom>
          <a:solidFill>
            <a:srgbClr val="FB923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0" name="TextBox 20"/>
          <p:cNvSpPr txBox="1"/>
          <p:nvPr/>
        </p:nvSpPr>
        <p:spPr>
          <a:xfrm>
            <a:off x="723718" y="4617244"/>
            <a:ext cx="4989852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这个语义BUG在第一轮Code Review时</a:t>
            </a:r>
            <a:r>
              <a:rPr sz="1300" b="1" i="0" strike="noStrike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完全没人发现——因为代码本身没有语法错误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23718" y="5106441"/>
            <a:ext cx="74098" cy="74116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0" y="5000"/>
                </a:moveTo>
                <a:cubicBezTo>
                  <a:pt x="0" y="2240"/>
                  <a:pt x="2240" y="0"/>
                  <a:pt x="4999" y="0"/>
                </a:cubicBezTo>
                <a:cubicBezTo>
                  <a:pt x="7758" y="0"/>
                  <a:pt x="9998" y="2240"/>
                  <a:pt x="9998" y="5000"/>
                </a:cubicBezTo>
                <a:cubicBezTo>
                  <a:pt x="9998" y="7760"/>
                  <a:pt x="7758" y="10000"/>
                  <a:pt x="4999" y="10000"/>
                </a:cubicBezTo>
                <a:cubicBezTo>
                  <a:pt x="2240" y="10000"/>
                  <a:pt x="0" y="7760"/>
                  <a:pt x="0" y="5000"/>
                </a:cubicBezTo>
                <a:close/>
              </a:path>
            </a:pathLst>
          </a:custGeom>
          <a:solidFill>
            <a:srgbClr val="FB923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723718" y="5276850"/>
            <a:ext cx="4989852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修复只需一行 .negate()，但</a:t>
            </a:r>
            <a:r>
              <a:rPr sz="1300" b="1" i="0" strike="noStrike">
                <a:solidFill>
                  <a:srgbClr val="EA58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发现它却花了半天——因为我们默认"AI写的肯定对"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46838" y="1533525"/>
            <a:ext cx="5485028" cy="4867275"/>
          </a:xfrm>
          <a:prstGeom prst="roundRect">
            <a:avLst>
              <a:gd name="adj" fmla="val 441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4" name="AutoShape 24"/>
          <p:cNvSpPr/>
          <p:nvPr/>
        </p:nvSpPr>
        <p:spPr>
          <a:xfrm>
            <a:off x="6513472" y="1762125"/>
            <a:ext cx="380905" cy="381000"/>
          </a:xfrm>
          <a:prstGeom prst="ellipse">
            <a:avLst/>
          </a:prstGeom>
          <a:solidFill>
            <a:srgbClr val="DBEAF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>
            <a:off x="6629825" y="1878509"/>
            <a:ext cx="148196" cy="148233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7" y="0"/>
                </a:moveTo>
                <a:cubicBezTo>
                  <a:pt x="5093" y="0"/>
                  <a:pt x="5189" y="20"/>
                  <a:pt x="5276" y="58"/>
                </a:cubicBezTo>
                <a:lnTo>
                  <a:pt x="9200" y="1645"/>
                </a:lnTo>
                <a:cubicBezTo>
                  <a:pt x="9658" y="1830"/>
                  <a:pt x="10000" y="2262"/>
                  <a:pt x="9998" y="2782"/>
                </a:cubicBezTo>
                <a:cubicBezTo>
                  <a:pt x="9988" y="4754"/>
                  <a:pt x="9138" y="8360"/>
                  <a:pt x="5549" y="10000"/>
                </a:cubicBezTo>
                <a:cubicBezTo>
                  <a:pt x="5201" y="10159"/>
                  <a:pt x="4797" y="10159"/>
                  <a:pt x="4449" y="10000"/>
                </a:cubicBezTo>
                <a:cubicBezTo>
                  <a:pt x="858" y="8360"/>
                  <a:pt x="10" y="4754"/>
                  <a:pt x="0" y="2782"/>
                </a:cubicBezTo>
                <a:cubicBezTo>
                  <a:pt x="-2" y="2262"/>
                  <a:pt x="340" y="1830"/>
                  <a:pt x="798" y="1645"/>
                </a:cubicBezTo>
                <a:lnTo>
                  <a:pt x="4720" y="58"/>
                </a:lnTo>
                <a:cubicBezTo>
                  <a:pt x="4807" y="20"/>
                  <a:pt x="4901" y="0"/>
                  <a:pt x="4997" y="0"/>
                </a:cubicBezTo>
                <a:close/>
                <a:moveTo>
                  <a:pt x="4997" y="1328"/>
                </a:moveTo>
                <a:lnTo>
                  <a:pt x="4997" y="8841"/>
                </a:lnTo>
                <a:cubicBezTo>
                  <a:pt x="7871" y="7514"/>
                  <a:pt x="8644" y="4573"/>
                  <a:pt x="8663" y="2812"/>
                </a:cubicBezTo>
                <a:lnTo>
                  <a:pt x="4997" y="1329"/>
                </a:lnTo>
                <a:lnTo>
                  <a:pt x="4997" y="1329"/>
                </a:lnTo>
                <a:close/>
              </a:path>
            </a:pathLst>
          </a:cu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7008647" y="1819275"/>
            <a:ext cx="4494676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应对策略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13472" y="2371725"/>
            <a:ext cx="4989852" cy="1114425"/>
          </a:xfrm>
          <a:prstGeom prst="roundRect">
            <a:avLst>
              <a:gd name="adj" fmla="val 5610"/>
            </a:avLst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8" name="AutoShape 28"/>
          <p:cNvSpPr/>
          <p:nvPr/>
        </p:nvSpPr>
        <p:spPr>
          <a:xfrm>
            <a:off x="6713446" y="2521744"/>
            <a:ext cx="304724" cy="304800"/>
          </a:xfrm>
          <a:prstGeom prst="roundRect">
            <a:avLst>
              <a:gd name="adj" fmla="val 37509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9" name="TextBox 29"/>
          <p:cNvSpPr txBox="1"/>
          <p:nvPr/>
        </p:nvSpPr>
        <p:spPr>
          <a:xfrm>
            <a:off x="6713446" y="2521744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7132442" y="2550319"/>
            <a:ext cx="417090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建立业务语义校验清单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7132442" y="2883694"/>
            <a:ext cx="4170907" cy="42624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覆盖：金额方向/符号 → 数据脱敏 → 状态机转换 → 字段精度 → 分类Normalization</a:t>
            </a:r>
            <a:endParaRPr lang="en-US" sz="1100"/>
          </a:p>
          <a:p>
            <a:pPr algn="l"/>
            <a:endParaRPr sz="1300" b="0" i="0" strike="noStrike">
              <a:solidFill>
                <a:srgbClr val="33415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513472" y="3714750"/>
            <a:ext cx="4989852" cy="1114425"/>
          </a:xfrm>
          <a:prstGeom prst="roundRect">
            <a:avLst>
              <a:gd name="adj" fmla="val 5610"/>
            </a:avLst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3" name="AutoShape 33"/>
          <p:cNvSpPr/>
          <p:nvPr/>
        </p:nvSpPr>
        <p:spPr>
          <a:xfrm>
            <a:off x="6713446" y="3864769"/>
            <a:ext cx="304724" cy="304800"/>
          </a:xfrm>
          <a:prstGeom prst="roundRect">
            <a:avLst>
              <a:gd name="adj" fmla="val 37509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4" name="TextBox 34"/>
          <p:cNvSpPr txBox="1"/>
          <p:nvPr/>
        </p:nvSpPr>
        <p:spPr>
          <a:xfrm>
            <a:off x="6713446" y="3864769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7132442" y="3893344"/>
            <a:ext cx="417090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从"代码审查"转向"语义审查"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7132442" y="4226719"/>
            <a:ext cx="4209146" cy="42624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DC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代码越漂亮，审查越要警惕语义错误</a:t>
            </a:r>
            <a:r>
              <a:rPr sz="1300" b="0" i="0" strike="noStrike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300" b="0" i="0" strike="noStrike">
              <a:solidFill>
                <a:srgbClr val="33415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/>
            </a:pPr>
            <a:r>
              <a:rPr sz="1300" b="0" i="0" strike="noStrike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不能仅依赖语法检查，必须深入业务逻辑进行语义审查</a:t>
            </a:r>
            <a:endParaRPr sz="1300" b="0" i="0" strike="noStrike">
              <a:solidFill>
                <a:srgbClr val="33415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6513472" y="5057775"/>
            <a:ext cx="4989852" cy="1114425"/>
          </a:xfrm>
          <a:prstGeom prst="roundRect">
            <a:avLst>
              <a:gd name="adj" fmla="val 5610"/>
            </a:avLst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38" name="AutoShape 38"/>
          <p:cNvSpPr/>
          <p:nvPr/>
        </p:nvSpPr>
        <p:spPr>
          <a:xfrm>
            <a:off x="6713446" y="5207794"/>
            <a:ext cx="304724" cy="304800"/>
          </a:xfrm>
          <a:prstGeom prst="roundRect">
            <a:avLst>
              <a:gd name="adj" fmla="val 37509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9" name="TextBox 39"/>
          <p:cNvSpPr txBox="1"/>
          <p:nvPr/>
        </p:nvSpPr>
        <p:spPr>
          <a:xfrm>
            <a:off x="6713446" y="5207794"/>
            <a:ext cx="304724" cy="304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1"/>
          <a:lstStyle/>
          <a:p>
            <a:pPr algn="ctr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7132442" y="5236369"/>
            <a:ext cx="4170907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规则闭环与知识沉淀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7132442" y="5569744"/>
            <a:ext cx="4170907" cy="42624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每发现一类语义BUG，</a:t>
            </a:r>
            <a:r>
              <a:rPr lang="zh-CN" altLang="en-US" sz="1300" b="0" i="0" strike="noStrike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写入规则知识库</a:t>
            </a:r>
            <a:r>
              <a:rPr sz="1300" b="0" i="0" strike="noStrike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，形成闭环</a:t>
            </a:r>
            <a:endParaRPr lang="en-US" sz="1100"/>
          </a:p>
          <a:p>
            <a:pPr algn="l"/>
            <a:endParaRPr sz="1300" b="0" i="0" strike="noStrike">
              <a:solidFill>
                <a:srgbClr val="334155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AutoShape 5"/>
          <p:cNvSpPr/>
          <p:nvPr/>
        </p:nvSpPr>
        <p:spPr>
          <a:xfrm>
            <a:off x="457086" y="457200"/>
            <a:ext cx="947203" cy="266700"/>
          </a:xfrm>
          <a:prstGeom prst="roundRect">
            <a:avLst>
              <a:gd name="adj" fmla="val 4898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71358" y="514350"/>
            <a:ext cx="83293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挑战应对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57086" y="819150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真实挑战 C：前后端契约对齐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086" y="1457325"/>
            <a:ext cx="5485028" cy="4943475"/>
          </a:xfrm>
          <a:prstGeom prst="roundRect">
            <a:avLst>
              <a:gd name="adj" fmla="val 428"/>
            </a:avLst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723718" y="1749400"/>
            <a:ext cx="177805" cy="1778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0"/>
                </a:moveTo>
                <a:cubicBezTo>
                  <a:pt x="5292" y="0"/>
                  <a:pt x="5560" y="169"/>
                  <a:pt x="5699" y="438"/>
                </a:cubicBezTo>
                <a:lnTo>
                  <a:pt x="9998" y="8771"/>
                </a:lnTo>
                <a:cubicBezTo>
                  <a:pt x="10131" y="9029"/>
                  <a:pt x="10125" y="9342"/>
                  <a:pt x="9982" y="9594"/>
                </a:cubicBezTo>
                <a:cubicBezTo>
                  <a:pt x="9838" y="9846"/>
                  <a:pt x="9578" y="10001"/>
                  <a:pt x="9298" y="10000"/>
                </a:cubicBezTo>
                <a:lnTo>
                  <a:pt x="700" y="10000"/>
                </a:lnTo>
                <a:cubicBezTo>
                  <a:pt x="420" y="10000"/>
                  <a:pt x="159" y="9846"/>
                  <a:pt x="16" y="9594"/>
                </a:cubicBezTo>
                <a:cubicBezTo>
                  <a:pt x="-128" y="9342"/>
                  <a:pt x="-134" y="9029"/>
                  <a:pt x="0" y="8771"/>
                </a:cubicBezTo>
                <a:lnTo>
                  <a:pt x="4299" y="438"/>
                </a:lnTo>
                <a:cubicBezTo>
                  <a:pt x="4438" y="169"/>
                  <a:pt x="4706" y="0"/>
                  <a:pt x="4999" y="0"/>
                </a:cubicBezTo>
                <a:close/>
                <a:moveTo>
                  <a:pt x="4999" y="7333"/>
                </a:moveTo>
                <a:cubicBezTo>
                  <a:pt x="4648" y="7333"/>
                  <a:pt x="4362" y="7632"/>
                  <a:pt x="4362" y="8000"/>
                </a:cubicBezTo>
                <a:cubicBezTo>
                  <a:pt x="4362" y="8368"/>
                  <a:pt x="4648" y="8667"/>
                  <a:pt x="4999" y="8667"/>
                </a:cubicBezTo>
                <a:cubicBezTo>
                  <a:pt x="5350" y="8667"/>
                  <a:pt x="5636" y="8368"/>
                  <a:pt x="5636" y="8000"/>
                </a:cubicBezTo>
                <a:cubicBezTo>
                  <a:pt x="5636" y="7632"/>
                  <a:pt x="5350" y="7333"/>
                  <a:pt x="4999" y="7333"/>
                </a:cubicBezTo>
                <a:close/>
                <a:moveTo>
                  <a:pt x="4999" y="3333"/>
                </a:moveTo>
                <a:cubicBezTo>
                  <a:pt x="4637" y="3333"/>
                  <a:pt x="4348" y="3656"/>
                  <a:pt x="4374" y="4035"/>
                </a:cubicBezTo>
                <a:lnTo>
                  <a:pt x="4521" y="6202"/>
                </a:lnTo>
                <a:cubicBezTo>
                  <a:pt x="4539" y="6462"/>
                  <a:pt x="4748" y="6667"/>
                  <a:pt x="4997" y="6667"/>
                </a:cubicBezTo>
                <a:cubicBezTo>
                  <a:pt x="5248" y="6667"/>
                  <a:pt x="5455" y="6465"/>
                  <a:pt x="5473" y="6202"/>
                </a:cubicBezTo>
                <a:lnTo>
                  <a:pt x="5620" y="4035"/>
                </a:lnTo>
                <a:cubicBezTo>
                  <a:pt x="5646" y="3656"/>
                  <a:pt x="5359" y="3333"/>
                  <a:pt x="4995" y="3333"/>
                </a:cubicBezTo>
                <a:close/>
              </a:path>
            </a:pathLst>
          </a:custGeom>
          <a:solidFill>
            <a:srgbClr val="B91C1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1015796" y="1704975"/>
            <a:ext cx="4697776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B9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当前挑战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23718" y="2238375"/>
            <a:ext cx="76181" cy="76200"/>
          </a:xfrm>
          <a:prstGeom prst="ellipse">
            <a:avLst/>
          </a:prstGeom>
          <a:solidFill>
            <a:srgbClr val="EF4444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914171" y="2252980"/>
            <a:ext cx="5027943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DC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接口路径拼写差异：</a:t>
            </a:r>
            <a:r>
              <a:rPr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后端暴露 /api/transactions，前端</a:t>
            </a:r>
            <a:endParaRPr lang="en-US" sz="1100"/>
          </a:p>
          <a:p>
            <a:pPr algn="l"/>
            <a:r>
              <a:rPr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 /api/transaction，差一个's'</a:t>
            </a:r>
            <a:endParaRPr sz="1500" b="0" i="0" strike="noStrike">
              <a:solidFill>
                <a:srgbClr val="1F293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23718" y="3274219"/>
            <a:ext cx="76181" cy="76200"/>
          </a:xfrm>
          <a:prstGeom prst="ellipse">
            <a:avLst/>
          </a:prstGeom>
          <a:solidFill>
            <a:srgbClr val="EF4444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901471" y="3265329"/>
            <a:ext cx="5027943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DC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参数命名风格冲突：</a:t>
            </a:r>
            <a:r>
              <a:rPr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后端采用 bankName(驼峰)，前端传递</a:t>
            </a:r>
            <a:endParaRPr lang="en-US" sz="1100"/>
          </a:p>
          <a:p>
            <a:pPr algn="l"/>
            <a:r>
              <a:rPr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bank_name(下划线)</a:t>
            </a:r>
            <a:endParaRPr sz="1500" b="0" i="0" strike="noStrike">
              <a:solidFill>
                <a:srgbClr val="1F293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23718" y="4310062"/>
            <a:ext cx="76181" cy="76200"/>
          </a:xfrm>
          <a:prstGeom prst="ellipse">
            <a:avLst/>
          </a:prstGeom>
          <a:solidFill>
            <a:srgbClr val="EF4444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914171" y="4300538"/>
            <a:ext cx="5027943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DC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生成割裂：</a:t>
            </a:r>
            <a:r>
              <a:rPr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前端和 AI 后端是两段独立的生成过程，</a:t>
            </a:r>
            <a:endParaRPr lang="en-US" sz="1100"/>
          </a:p>
          <a:p>
            <a:pPr algn="l"/>
            <a:r>
              <a:rPr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缺乏共同的上下文记忆</a:t>
            </a:r>
            <a:endParaRPr sz="1500" b="0" i="0" strike="noStrike">
              <a:solidFill>
                <a:srgbClr val="1F293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23718" y="5345906"/>
            <a:ext cx="76181" cy="76200"/>
          </a:xfrm>
          <a:prstGeom prst="ellipse">
            <a:avLst/>
          </a:prstGeom>
          <a:solidFill>
            <a:srgbClr val="EF4444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914171" y="5336381"/>
            <a:ext cx="5027943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DC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人工对齐成本高：</a:t>
            </a:r>
            <a:r>
              <a:rPr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每个接口的路径、参数名、响应结构都</a:t>
            </a:r>
            <a:endParaRPr lang="en-US" sz="1100"/>
          </a:p>
          <a:p>
            <a:pPr algn="l"/>
            <a:r>
              <a:rPr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需要人工逐行核对</a:t>
            </a:r>
            <a:endParaRPr sz="1500" b="0" i="0" strike="noStrike">
              <a:solidFill>
                <a:srgbClr val="1F293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246838" y="1457325"/>
            <a:ext cx="5485028" cy="4943475"/>
          </a:xfrm>
          <a:prstGeom prst="roundRect">
            <a:avLst>
              <a:gd name="adj" fmla="val 428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8" name="AutoShape 28"/>
          <p:cNvSpPr/>
          <p:nvPr/>
        </p:nvSpPr>
        <p:spPr>
          <a:xfrm>
            <a:off x="6513472" y="1749400"/>
            <a:ext cx="177805" cy="1778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7" y="0"/>
                </a:moveTo>
                <a:cubicBezTo>
                  <a:pt x="5093" y="0"/>
                  <a:pt x="5189" y="20"/>
                  <a:pt x="5276" y="58"/>
                </a:cubicBezTo>
                <a:lnTo>
                  <a:pt x="9200" y="1645"/>
                </a:lnTo>
                <a:cubicBezTo>
                  <a:pt x="9658" y="1830"/>
                  <a:pt x="10000" y="2262"/>
                  <a:pt x="9998" y="2782"/>
                </a:cubicBezTo>
                <a:cubicBezTo>
                  <a:pt x="9988" y="4754"/>
                  <a:pt x="9138" y="8360"/>
                  <a:pt x="5549" y="10000"/>
                </a:cubicBezTo>
                <a:cubicBezTo>
                  <a:pt x="5201" y="10159"/>
                  <a:pt x="4797" y="10159"/>
                  <a:pt x="4449" y="10000"/>
                </a:cubicBezTo>
                <a:cubicBezTo>
                  <a:pt x="858" y="8360"/>
                  <a:pt x="10" y="4754"/>
                  <a:pt x="0" y="2782"/>
                </a:cubicBezTo>
                <a:cubicBezTo>
                  <a:pt x="-2" y="2262"/>
                  <a:pt x="340" y="1830"/>
                  <a:pt x="798" y="1645"/>
                </a:cubicBezTo>
                <a:lnTo>
                  <a:pt x="4720" y="58"/>
                </a:lnTo>
                <a:cubicBezTo>
                  <a:pt x="4807" y="20"/>
                  <a:pt x="4901" y="0"/>
                  <a:pt x="4997" y="0"/>
                </a:cubicBezTo>
                <a:close/>
                <a:moveTo>
                  <a:pt x="4997" y="1328"/>
                </a:moveTo>
                <a:lnTo>
                  <a:pt x="4997" y="8841"/>
                </a:lnTo>
                <a:cubicBezTo>
                  <a:pt x="7871" y="7514"/>
                  <a:pt x="8644" y="4573"/>
                  <a:pt x="8663" y="2812"/>
                </a:cubicBezTo>
                <a:lnTo>
                  <a:pt x="4997" y="1329"/>
                </a:lnTo>
                <a:lnTo>
                  <a:pt x="4997" y="1329"/>
                </a:lnTo>
                <a:close/>
              </a:path>
            </a:pathLst>
          </a:custGeom>
          <a:solidFill>
            <a:srgbClr val="04785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9" name="TextBox 29"/>
          <p:cNvSpPr txBox="1"/>
          <p:nvPr/>
        </p:nvSpPr>
        <p:spPr>
          <a:xfrm>
            <a:off x="6805548" y="1704975"/>
            <a:ext cx="4697776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478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应对策略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13472" y="2181225"/>
            <a:ext cx="380905" cy="381000"/>
          </a:xfrm>
          <a:prstGeom prst="roundRect">
            <a:avLst>
              <a:gd name="adj" fmla="val 48012"/>
            </a:avLst>
          </a:prstGeom>
          <a:solidFill>
            <a:srgbClr val="D1FAE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AutoShape 31"/>
          <p:cNvSpPr/>
          <p:nvPr/>
        </p:nvSpPr>
        <p:spPr>
          <a:xfrm>
            <a:off x="6629825" y="2287021"/>
            <a:ext cx="148196" cy="169409"/>
          </a:xfrm>
          <a:custGeom>
            <a:avLst/>
            <a:gdLst/>
            <a:ahLst/>
            <a:cxnLst/>
            <a:rect l="l" t="t" r="r" b="b"/>
            <a:pathLst>
              <a:path w="8748" h="10000">
                <a:moveTo>
                  <a:pt x="1562" y="2031"/>
                </a:moveTo>
                <a:cubicBezTo>
                  <a:pt x="1821" y="2031"/>
                  <a:pt x="2031" y="1821"/>
                  <a:pt x="2031" y="1563"/>
                </a:cubicBezTo>
                <a:cubicBezTo>
                  <a:pt x="2031" y="1304"/>
                  <a:pt x="1821" y="1094"/>
                  <a:pt x="1562" y="1094"/>
                </a:cubicBezTo>
                <a:cubicBezTo>
                  <a:pt x="1303" y="1094"/>
                  <a:pt x="1094" y="1304"/>
                  <a:pt x="1094" y="1563"/>
                </a:cubicBezTo>
                <a:cubicBezTo>
                  <a:pt x="1094" y="1821"/>
                  <a:pt x="1303" y="2031"/>
                  <a:pt x="1562" y="2031"/>
                </a:cubicBezTo>
                <a:close/>
                <a:moveTo>
                  <a:pt x="3124" y="1563"/>
                </a:moveTo>
                <a:cubicBezTo>
                  <a:pt x="3124" y="2203"/>
                  <a:pt x="2740" y="2754"/>
                  <a:pt x="2187" y="2994"/>
                </a:cubicBezTo>
                <a:lnTo>
                  <a:pt x="2187" y="4375"/>
                </a:lnTo>
                <a:lnTo>
                  <a:pt x="5624" y="4375"/>
                </a:lnTo>
                <a:cubicBezTo>
                  <a:pt x="6141" y="4375"/>
                  <a:pt x="6561" y="3955"/>
                  <a:pt x="6561" y="3438"/>
                </a:cubicBezTo>
                <a:lnTo>
                  <a:pt x="6561" y="2994"/>
                </a:lnTo>
                <a:cubicBezTo>
                  <a:pt x="6008" y="2754"/>
                  <a:pt x="5624" y="2203"/>
                  <a:pt x="5624" y="1563"/>
                </a:cubicBezTo>
                <a:cubicBezTo>
                  <a:pt x="5624" y="699"/>
                  <a:pt x="6323" y="0"/>
                  <a:pt x="7186" y="0"/>
                </a:cubicBezTo>
                <a:cubicBezTo>
                  <a:pt x="8048" y="0"/>
                  <a:pt x="8748" y="700"/>
                  <a:pt x="8748" y="1563"/>
                </a:cubicBezTo>
                <a:cubicBezTo>
                  <a:pt x="8748" y="2203"/>
                  <a:pt x="8363" y="2754"/>
                  <a:pt x="7811" y="2994"/>
                </a:cubicBezTo>
                <a:lnTo>
                  <a:pt x="7811" y="3438"/>
                </a:lnTo>
                <a:cubicBezTo>
                  <a:pt x="7811" y="4646"/>
                  <a:pt x="6832" y="5625"/>
                  <a:pt x="5624" y="5625"/>
                </a:cubicBezTo>
                <a:lnTo>
                  <a:pt x="2187" y="5625"/>
                </a:lnTo>
                <a:lnTo>
                  <a:pt x="2187" y="7006"/>
                </a:lnTo>
                <a:cubicBezTo>
                  <a:pt x="2740" y="7246"/>
                  <a:pt x="3124" y="7797"/>
                  <a:pt x="3124" y="8438"/>
                </a:cubicBezTo>
                <a:cubicBezTo>
                  <a:pt x="3124" y="9301"/>
                  <a:pt x="2425" y="10000"/>
                  <a:pt x="1562" y="10000"/>
                </a:cubicBezTo>
                <a:cubicBezTo>
                  <a:pt x="700" y="10000"/>
                  <a:pt x="0" y="9300"/>
                  <a:pt x="0" y="8438"/>
                </a:cubicBezTo>
                <a:cubicBezTo>
                  <a:pt x="0" y="7797"/>
                  <a:pt x="385" y="7246"/>
                  <a:pt x="937" y="7006"/>
                </a:cubicBezTo>
                <a:lnTo>
                  <a:pt x="937" y="2996"/>
                </a:lnTo>
                <a:cubicBezTo>
                  <a:pt x="385" y="2754"/>
                  <a:pt x="0" y="2203"/>
                  <a:pt x="0" y="1563"/>
                </a:cubicBezTo>
                <a:cubicBezTo>
                  <a:pt x="0" y="699"/>
                  <a:pt x="699" y="0"/>
                  <a:pt x="1562" y="0"/>
                </a:cubicBezTo>
                <a:cubicBezTo>
                  <a:pt x="2424" y="0"/>
                  <a:pt x="3124" y="700"/>
                  <a:pt x="3124" y="1563"/>
                </a:cubicBezTo>
                <a:close/>
                <a:moveTo>
                  <a:pt x="7655" y="1563"/>
                </a:moveTo>
                <a:cubicBezTo>
                  <a:pt x="7655" y="1304"/>
                  <a:pt x="7445" y="1094"/>
                  <a:pt x="7186" y="1094"/>
                </a:cubicBezTo>
                <a:cubicBezTo>
                  <a:pt x="6927" y="1094"/>
                  <a:pt x="6717" y="1304"/>
                  <a:pt x="6717" y="1563"/>
                </a:cubicBezTo>
                <a:cubicBezTo>
                  <a:pt x="6717" y="1821"/>
                  <a:pt x="6927" y="2031"/>
                  <a:pt x="7186" y="2031"/>
                </a:cubicBezTo>
                <a:cubicBezTo>
                  <a:pt x="7445" y="2031"/>
                  <a:pt x="7655" y="1821"/>
                  <a:pt x="7655" y="1563"/>
                </a:cubicBezTo>
                <a:close/>
                <a:moveTo>
                  <a:pt x="1562" y="8906"/>
                </a:moveTo>
                <a:cubicBezTo>
                  <a:pt x="1821" y="8906"/>
                  <a:pt x="2031" y="8696"/>
                  <a:pt x="2031" y="8438"/>
                </a:cubicBezTo>
                <a:cubicBezTo>
                  <a:pt x="2031" y="8179"/>
                  <a:pt x="1821" y="7969"/>
                  <a:pt x="1562" y="7969"/>
                </a:cubicBezTo>
                <a:cubicBezTo>
                  <a:pt x="1303" y="7969"/>
                  <a:pt x="1094" y="8179"/>
                  <a:pt x="1094" y="8438"/>
                </a:cubicBezTo>
                <a:cubicBezTo>
                  <a:pt x="1094" y="8696"/>
                  <a:pt x="1303" y="8906"/>
                  <a:pt x="1562" y="8906"/>
                </a:cubicBezTo>
                <a:close/>
              </a:path>
            </a:pathLst>
          </a:custGeom>
          <a:solidFill>
            <a:srgbClr val="05966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2" name="TextBox 32"/>
          <p:cNvSpPr txBox="1"/>
          <p:nvPr/>
        </p:nvSpPr>
        <p:spPr>
          <a:xfrm>
            <a:off x="7046737" y="2200275"/>
            <a:ext cx="445658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抽象 ReqBase 统一规范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7046737" y="2609850"/>
            <a:ext cx="4456585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定义统一的请求基类，强制统一参数命名风格，从代</a:t>
            </a:r>
            <a:endParaRPr lang="en-US" sz="1100"/>
          </a:p>
          <a:p>
            <a:pPr algn="l"/>
            <a:r>
              <a:rPr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码层面杜绝风格冲突。</a:t>
            </a:r>
            <a:endParaRPr sz="1500" b="0" i="0" strike="noStrike">
              <a:solidFill>
                <a:srgbClr val="37415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6513472" y="3587651"/>
            <a:ext cx="380905" cy="381000"/>
          </a:xfrm>
          <a:prstGeom prst="roundRect">
            <a:avLst>
              <a:gd name="adj" fmla="val 48012"/>
            </a:avLst>
          </a:prstGeom>
          <a:solidFill>
            <a:srgbClr val="D1FAE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5" name="AutoShape 35"/>
          <p:cNvSpPr/>
          <p:nvPr/>
        </p:nvSpPr>
        <p:spPr>
          <a:xfrm>
            <a:off x="6629825" y="3679328"/>
            <a:ext cx="148196" cy="197644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0" y="1250"/>
                </a:moveTo>
                <a:cubicBezTo>
                  <a:pt x="0" y="561"/>
                  <a:pt x="560" y="0"/>
                  <a:pt x="1250" y="0"/>
                </a:cubicBezTo>
                <a:lnTo>
                  <a:pt x="4169" y="0"/>
                </a:lnTo>
                <a:cubicBezTo>
                  <a:pt x="4501" y="0"/>
                  <a:pt x="4819" y="131"/>
                  <a:pt x="5053" y="365"/>
                </a:cubicBezTo>
                <a:lnTo>
                  <a:pt x="7133" y="2447"/>
                </a:lnTo>
                <a:cubicBezTo>
                  <a:pt x="7367" y="2682"/>
                  <a:pt x="7498" y="3000"/>
                  <a:pt x="7498" y="3332"/>
                </a:cubicBezTo>
                <a:lnTo>
                  <a:pt x="7498" y="8750"/>
                </a:lnTo>
                <a:cubicBezTo>
                  <a:pt x="7498" y="9439"/>
                  <a:pt x="6938" y="10000"/>
                  <a:pt x="6248" y="10000"/>
                </a:cubicBezTo>
                <a:lnTo>
                  <a:pt x="1250" y="10000"/>
                </a:lnTo>
                <a:cubicBezTo>
                  <a:pt x="560" y="10000"/>
                  <a:pt x="0" y="9439"/>
                  <a:pt x="0" y="8750"/>
                </a:cubicBezTo>
                <a:lnTo>
                  <a:pt x="0" y="1250"/>
                </a:lnTo>
                <a:close/>
                <a:moveTo>
                  <a:pt x="4061" y="1143"/>
                </a:moveTo>
                <a:lnTo>
                  <a:pt x="4061" y="2969"/>
                </a:lnTo>
                <a:cubicBezTo>
                  <a:pt x="4061" y="3229"/>
                  <a:pt x="4270" y="3438"/>
                  <a:pt x="4530" y="3438"/>
                </a:cubicBezTo>
                <a:lnTo>
                  <a:pt x="6356" y="3438"/>
                </a:lnTo>
                <a:lnTo>
                  <a:pt x="4061" y="1143"/>
                </a:lnTo>
                <a:close/>
                <a:moveTo>
                  <a:pt x="1718" y="1250"/>
                </a:moveTo>
                <a:cubicBezTo>
                  <a:pt x="1459" y="1250"/>
                  <a:pt x="1250" y="1459"/>
                  <a:pt x="1250" y="1719"/>
                </a:cubicBezTo>
                <a:cubicBezTo>
                  <a:pt x="1250" y="1977"/>
                  <a:pt x="1460" y="2188"/>
                  <a:pt x="1718" y="2188"/>
                </a:cubicBezTo>
                <a:lnTo>
                  <a:pt x="2656" y="2188"/>
                </a:lnTo>
                <a:cubicBezTo>
                  <a:pt x="2915" y="2188"/>
                  <a:pt x="3124" y="1979"/>
                  <a:pt x="3124" y="1719"/>
                </a:cubicBezTo>
                <a:cubicBezTo>
                  <a:pt x="3124" y="1460"/>
                  <a:pt x="2914" y="1250"/>
                  <a:pt x="2656" y="1250"/>
                </a:cubicBezTo>
                <a:lnTo>
                  <a:pt x="1718" y="1250"/>
                </a:lnTo>
                <a:close/>
                <a:moveTo>
                  <a:pt x="1718" y="3125"/>
                </a:moveTo>
                <a:cubicBezTo>
                  <a:pt x="1459" y="3125"/>
                  <a:pt x="1250" y="3334"/>
                  <a:pt x="1250" y="3594"/>
                </a:cubicBezTo>
                <a:cubicBezTo>
                  <a:pt x="1250" y="3852"/>
                  <a:pt x="1460" y="4063"/>
                  <a:pt x="1718" y="4063"/>
                </a:cubicBezTo>
                <a:lnTo>
                  <a:pt x="2656" y="4063"/>
                </a:lnTo>
                <a:cubicBezTo>
                  <a:pt x="2915" y="4063"/>
                  <a:pt x="3124" y="3854"/>
                  <a:pt x="3124" y="3594"/>
                </a:cubicBezTo>
                <a:cubicBezTo>
                  <a:pt x="3124" y="3335"/>
                  <a:pt x="2914" y="3125"/>
                  <a:pt x="2656" y="3125"/>
                </a:cubicBezTo>
                <a:lnTo>
                  <a:pt x="1718" y="3125"/>
                </a:lnTo>
                <a:close/>
                <a:moveTo>
                  <a:pt x="3091" y="6250"/>
                </a:moveTo>
                <a:cubicBezTo>
                  <a:pt x="2870" y="6250"/>
                  <a:pt x="2663" y="6350"/>
                  <a:pt x="2527" y="6521"/>
                </a:cubicBezTo>
                <a:lnTo>
                  <a:pt x="1353" y="7988"/>
                </a:lnTo>
                <a:cubicBezTo>
                  <a:pt x="1191" y="8189"/>
                  <a:pt x="1224" y="8486"/>
                  <a:pt x="1425" y="8646"/>
                </a:cubicBezTo>
                <a:cubicBezTo>
                  <a:pt x="1522" y="8724"/>
                  <a:pt x="1646" y="8760"/>
                  <a:pt x="1770" y="8746"/>
                </a:cubicBezTo>
                <a:cubicBezTo>
                  <a:pt x="1893" y="8732"/>
                  <a:pt x="2006" y="8670"/>
                  <a:pt x="2083" y="8572"/>
                </a:cubicBezTo>
                <a:lnTo>
                  <a:pt x="3003" y="7424"/>
                </a:lnTo>
                <a:lnTo>
                  <a:pt x="3300" y="8414"/>
                </a:lnTo>
                <a:cubicBezTo>
                  <a:pt x="3358" y="8613"/>
                  <a:pt x="3542" y="8748"/>
                  <a:pt x="3749" y="8748"/>
                </a:cubicBezTo>
                <a:lnTo>
                  <a:pt x="5780" y="8748"/>
                </a:lnTo>
                <a:cubicBezTo>
                  <a:pt x="6039" y="8748"/>
                  <a:pt x="6248" y="8539"/>
                  <a:pt x="6248" y="8279"/>
                </a:cubicBezTo>
                <a:cubicBezTo>
                  <a:pt x="6248" y="8020"/>
                  <a:pt x="6039" y="7811"/>
                  <a:pt x="5780" y="7811"/>
                </a:cubicBezTo>
                <a:lnTo>
                  <a:pt x="4099" y="7811"/>
                </a:lnTo>
                <a:lnTo>
                  <a:pt x="3784" y="6764"/>
                </a:lnTo>
                <a:cubicBezTo>
                  <a:pt x="3692" y="6457"/>
                  <a:pt x="3411" y="6248"/>
                  <a:pt x="3091" y="6248"/>
                </a:cubicBezTo>
                <a:close/>
              </a:path>
            </a:pathLst>
          </a:custGeom>
          <a:solidFill>
            <a:srgbClr val="05966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6" name="TextBox 36"/>
          <p:cNvSpPr txBox="1"/>
          <p:nvPr/>
        </p:nvSpPr>
        <p:spPr>
          <a:xfrm>
            <a:off x="7046737" y="3606701"/>
            <a:ext cx="445658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共享契约模板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7046737" y="4016276"/>
            <a:ext cx="4456585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前后端 AI 生成器共享同一份契约模板，确保生成代</a:t>
            </a:r>
            <a:endParaRPr lang="en-US" sz="1100"/>
          </a:p>
          <a:p>
            <a:pPr algn="l"/>
            <a:r>
              <a:rPr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码基于同一套标准。</a:t>
            </a:r>
            <a:endParaRPr sz="1500" b="0" i="0" strike="noStrike">
              <a:solidFill>
                <a:srgbClr val="37415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6513472" y="4994225"/>
            <a:ext cx="380905" cy="381000"/>
          </a:xfrm>
          <a:prstGeom prst="roundRect">
            <a:avLst>
              <a:gd name="adj" fmla="val 48012"/>
            </a:avLst>
          </a:prstGeom>
          <a:solidFill>
            <a:srgbClr val="D1FAE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9" name="AutoShape 39"/>
          <p:cNvSpPr/>
          <p:nvPr/>
        </p:nvSpPr>
        <p:spPr>
          <a:xfrm>
            <a:off x="6629825" y="5110610"/>
            <a:ext cx="148196" cy="148233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510" y="0"/>
                </a:moveTo>
                <a:cubicBezTo>
                  <a:pt x="2726" y="181"/>
                  <a:pt x="2778" y="538"/>
                  <a:pt x="2627" y="796"/>
                </a:cubicBezTo>
                <a:lnTo>
                  <a:pt x="1519" y="2702"/>
                </a:lnTo>
                <a:cubicBezTo>
                  <a:pt x="1437" y="2840"/>
                  <a:pt x="1311" y="2928"/>
                  <a:pt x="1170" y="2943"/>
                </a:cubicBezTo>
                <a:cubicBezTo>
                  <a:pt x="1030" y="2958"/>
                  <a:pt x="892" y="2898"/>
                  <a:pt x="792" y="2781"/>
                </a:cubicBezTo>
                <a:lnTo>
                  <a:pt x="0" y="1827"/>
                </a:lnTo>
                <a:cubicBezTo>
                  <a:pt x="-184" y="1604"/>
                  <a:pt x="-184" y="1241"/>
                  <a:pt x="0" y="1017"/>
                </a:cubicBezTo>
                <a:cubicBezTo>
                  <a:pt x="186" y="794"/>
                  <a:pt x="487" y="794"/>
                  <a:pt x="673" y="1017"/>
                </a:cubicBezTo>
                <a:lnTo>
                  <a:pt x="1065" y="1489"/>
                </a:lnTo>
                <a:lnTo>
                  <a:pt x="1849" y="141"/>
                </a:lnTo>
                <a:cubicBezTo>
                  <a:pt x="2000" y="-119"/>
                  <a:pt x="2297" y="-181"/>
                  <a:pt x="2510" y="0"/>
                </a:cubicBezTo>
                <a:close/>
                <a:moveTo>
                  <a:pt x="2510" y="3812"/>
                </a:moveTo>
                <a:cubicBezTo>
                  <a:pt x="2726" y="3993"/>
                  <a:pt x="2778" y="4351"/>
                  <a:pt x="2627" y="4608"/>
                </a:cubicBezTo>
                <a:lnTo>
                  <a:pt x="1519" y="6514"/>
                </a:lnTo>
                <a:cubicBezTo>
                  <a:pt x="1437" y="6652"/>
                  <a:pt x="1311" y="6741"/>
                  <a:pt x="1170" y="6755"/>
                </a:cubicBezTo>
                <a:cubicBezTo>
                  <a:pt x="1030" y="6770"/>
                  <a:pt x="892" y="6711"/>
                  <a:pt x="792" y="6593"/>
                </a:cubicBezTo>
                <a:lnTo>
                  <a:pt x="0" y="5640"/>
                </a:lnTo>
                <a:cubicBezTo>
                  <a:pt x="-186" y="5416"/>
                  <a:pt x="-186" y="5054"/>
                  <a:pt x="0" y="4832"/>
                </a:cubicBezTo>
                <a:cubicBezTo>
                  <a:pt x="185" y="4609"/>
                  <a:pt x="486" y="4609"/>
                  <a:pt x="671" y="4832"/>
                </a:cubicBezTo>
                <a:lnTo>
                  <a:pt x="1063" y="5304"/>
                </a:lnTo>
                <a:lnTo>
                  <a:pt x="1847" y="3955"/>
                </a:lnTo>
                <a:cubicBezTo>
                  <a:pt x="1998" y="3695"/>
                  <a:pt x="2295" y="3634"/>
                  <a:pt x="2508" y="3815"/>
                </a:cubicBezTo>
                <a:close/>
                <a:moveTo>
                  <a:pt x="4296" y="1422"/>
                </a:moveTo>
                <a:cubicBezTo>
                  <a:pt x="4296" y="1001"/>
                  <a:pt x="4579" y="660"/>
                  <a:pt x="4930" y="660"/>
                </a:cubicBezTo>
                <a:lnTo>
                  <a:pt x="9364" y="660"/>
                </a:lnTo>
                <a:cubicBezTo>
                  <a:pt x="9715" y="660"/>
                  <a:pt x="9998" y="1001"/>
                  <a:pt x="9998" y="1422"/>
                </a:cubicBezTo>
                <a:cubicBezTo>
                  <a:pt x="9998" y="1843"/>
                  <a:pt x="9714" y="2185"/>
                  <a:pt x="9364" y="2185"/>
                </a:cubicBezTo>
                <a:lnTo>
                  <a:pt x="4930" y="2185"/>
                </a:lnTo>
                <a:cubicBezTo>
                  <a:pt x="4579" y="2185"/>
                  <a:pt x="4296" y="1844"/>
                  <a:pt x="4296" y="1422"/>
                </a:cubicBezTo>
                <a:close/>
                <a:moveTo>
                  <a:pt x="4296" y="5235"/>
                </a:moveTo>
                <a:cubicBezTo>
                  <a:pt x="4296" y="4813"/>
                  <a:pt x="4579" y="4472"/>
                  <a:pt x="4930" y="4472"/>
                </a:cubicBezTo>
                <a:lnTo>
                  <a:pt x="9364" y="4472"/>
                </a:lnTo>
                <a:cubicBezTo>
                  <a:pt x="9715" y="4472"/>
                  <a:pt x="9998" y="4813"/>
                  <a:pt x="9998" y="5235"/>
                </a:cubicBezTo>
                <a:cubicBezTo>
                  <a:pt x="9998" y="5655"/>
                  <a:pt x="9714" y="5997"/>
                  <a:pt x="9364" y="5997"/>
                </a:cubicBezTo>
                <a:lnTo>
                  <a:pt x="4930" y="5997"/>
                </a:lnTo>
                <a:cubicBezTo>
                  <a:pt x="4579" y="5997"/>
                  <a:pt x="4296" y="5656"/>
                  <a:pt x="4296" y="5235"/>
                </a:cubicBezTo>
                <a:close/>
                <a:moveTo>
                  <a:pt x="3029" y="9047"/>
                </a:moveTo>
                <a:cubicBezTo>
                  <a:pt x="3029" y="8625"/>
                  <a:pt x="3312" y="8284"/>
                  <a:pt x="3663" y="8284"/>
                </a:cubicBezTo>
                <a:lnTo>
                  <a:pt x="9364" y="8284"/>
                </a:lnTo>
                <a:cubicBezTo>
                  <a:pt x="9715" y="8284"/>
                  <a:pt x="9998" y="8625"/>
                  <a:pt x="9998" y="9047"/>
                </a:cubicBezTo>
                <a:cubicBezTo>
                  <a:pt x="9998" y="9468"/>
                  <a:pt x="9714" y="9809"/>
                  <a:pt x="9364" y="9809"/>
                </a:cubicBezTo>
                <a:lnTo>
                  <a:pt x="3663" y="9809"/>
                </a:lnTo>
                <a:cubicBezTo>
                  <a:pt x="3312" y="9809"/>
                  <a:pt x="3029" y="9469"/>
                  <a:pt x="3029" y="9047"/>
                </a:cubicBezTo>
                <a:close/>
                <a:moveTo>
                  <a:pt x="1128" y="8094"/>
                </a:moveTo>
                <a:cubicBezTo>
                  <a:pt x="1566" y="8094"/>
                  <a:pt x="1920" y="8521"/>
                  <a:pt x="1920" y="9047"/>
                </a:cubicBezTo>
                <a:cubicBezTo>
                  <a:pt x="1920" y="9573"/>
                  <a:pt x="1566" y="10000"/>
                  <a:pt x="1128" y="10000"/>
                </a:cubicBezTo>
                <a:cubicBezTo>
                  <a:pt x="691" y="10000"/>
                  <a:pt x="337" y="9573"/>
                  <a:pt x="337" y="9047"/>
                </a:cubicBezTo>
                <a:cubicBezTo>
                  <a:pt x="337" y="8521"/>
                  <a:pt x="691" y="8094"/>
                  <a:pt x="1128" y="8094"/>
                </a:cubicBezTo>
                <a:close/>
              </a:path>
            </a:pathLst>
          </a:custGeom>
          <a:solidFill>
            <a:srgbClr val="05966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0" name="TextBox 40"/>
          <p:cNvSpPr txBox="1"/>
          <p:nvPr/>
        </p:nvSpPr>
        <p:spPr>
          <a:xfrm>
            <a:off x="7046737" y="5013275"/>
            <a:ext cx="445658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契约驱动开发流程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7046737" y="5422850"/>
            <a:ext cx="4456585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确立"契约优先"原则，新增接口时必须先更新契约文</a:t>
            </a:r>
            <a:endParaRPr lang="en-US" sz="1100"/>
          </a:p>
          <a:p>
            <a:pPr algn="l"/>
            <a:r>
              <a:rPr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档，再行开发。</a:t>
            </a:r>
            <a:endParaRPr sz="1500" b="0" i="0" strike="noStrike">
              <a:solidFill>
                <a:srgbClr val="37415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-227965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AutoShape 5"/>
          <p:cNvSpPr/>
          <p:nvPr/>
        </p:nvSpPr>
        <p:spPr>
          <a:xfrm>
            <a:off x="457086" y="457200"/>
            <a:ext cx="947203" cy="266700"/>
          </a:xfrm>
          <a:prstGeom prst="roundRect">
            <a:avLst>
              <a:gd name="adj" fmla="val 4898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71358" y="514350"/>
            <a:ext cx="83293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挑战应对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57086" y="819150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真实挑战 D：AI代码的"隐形规则"盲区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57086" y="1457325"/>
            <a:ext cx="5485028" cy="4943475"/>
          </a:xfrm>
          <a:prstGeom prst="roundRect">
            <a:avLst>
              <a:gd name="adj" fmla="val 428"/>
            </a:avLst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723718" y="1749400"/>
            <a:ext cx="177805" cy="1778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0"/>
                </a:moveTo>
                <a:cubicBezTo>
                  <a:pt x="5292" y="0"/>
                  <a:pt x="5560" y="169"/>
                  <a:pt x="5699" y="438"/>
                </a:cubicBezTo>
                <a:lnTo>
                  <a:pt x="9998" y="8771"/>
                </a:lnTo>
                <a:cubicBezTo>
                  <a:pt x="10131" y="9029"/>
                  <a:pt x="10125" y="9342"/>
                  <a:pt x="9982" y="9594"/>
                </a:cubicBezTo>
                <a:cubicBezTo>
                  <a:pt x="9838" y="9846"/>
                  <a:pt x="9578" y="10001"/>
                  <a:pt x="9298" y="10000"/>
                </a:cubicBezTo>
                <a:lnTo>
                  <a:pt x="700" y="10000"/>
                </a:lnTo>
                <a:cubicBezTo>
                  <a:pt x="420" y="10000"/>
                  <a:pt x="159" y="9846"/>
                  <a:pt x="16" y="9594"/>
                </a:cubicBezTo>
                <a:cubicBezTo>
                  <a:pt x="-128" y="9342"/>
                  <a:pt x="-134" y="9029"/>
                  <a:pt x="0" y="8771"/>
                </a:cubicBezTo>
                <a:lnTo>
                  <a:pt x="4299" y="438"/>
                </a:lnTo>
                <a:cubicBezTo>
                  <a:pt x="4438" y="169"/>
                  <a:pt x="4706" y="0"/>
                  <a:pt x="4999" y="0"/>
                </a:cubicBezTo>
                <a:close/>
                <a:moveTo>
                  <a:pt x="4999" y="7333"/>
                </a:moveTo>
                <a:cubicBezTo>
                  <a:pt x="4648" y="7333"/>
                  <a:pt x="4362" y="7632"/>
                  <a:pt x="4362" y="8000"/>
                </a:cubicBezTo>
                <a:cubicBezTo>
                  <a:pt x="4362" y="8368"/>
                  <a:pt x="4648" y="8667"/>
                  <a:pt x="4999" y="8667"/>
                </a:cubicBezTo>
                <a:cubicBezTo>
                  <a:pt x="5350" y="8667"/>
                  <a:pt x="5636" y="8368"/>
                  <a:pt x="5636" y="8000"/>
                </a:cubicBezTo>
                <a:cubicBezTo>
                  <a:pt x="5636" y="7632"/>
                  <a:pt x="5350" y="7333"/>
                  <a:pt x="4999" y="7333"/>
                </a:cubicBezTo>
                <a:close/>
                <a:moveTo>
                  <a:pt x="4999" y="3333"/>
                </a:moveTo>
                <a:cubicBezTo>
                  <a:pt x="4637" y="3333"/>
                  <a:pt x="4348" y="3656"/>
                  <a:pt x="4374" y="4035"/>
                </a:cubicBezTo>
                <a:lnTo>
                  <a:pt x="4521" y="6202"/>
                </a:lnTo>
                <a:cubicBezTo>
                  <a:pt x="4539" y="6462"/>
                  <a:pt x="4748" y="6667"/>
                  <a:pt x="4997" y="6667"/>
                </a:cubicBezTo>
                <a:cubicBezTo>
                  <a:pt x="5248" y="6667"/>
                  <a:pt x="5455" y="6465"/>
                  <a:pt x="5473" y="6202"/>
                </a:cubicBezTo>
                <a:lnTo>
                  <a:pt x="5620" y="4035"/>
                </a:lnTo>
                <a:cubicBezTo>
                  <a:pt x="5646" y="3656"/>
                  <a:pt x="5359" y="3333"/>
                  <a:pt x="4995" y="3333"/>
                </a:cubicBezTo>
                <a:close/>
              </a:path>
            </a:pathLst>
          </a:custGeom>
          <a:solidFill>
            <a:srgbClr val="B91C1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1015796" y="1704975"/>
            <a:ext cx="4697776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B9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隐形规则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23718" y="2238375"/>
            <a:ext cx="76181" cy="76200"/>
          </a:xfrm>
          <a:prstGeom prst="ellipse">
            <a:avLst/>
          </a:prstGeom>
          <a:solidFill>
            <a:srgbClr val="EF4444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1"/>
          <p:nvPr/>
        </p:nvSpPr>
        <p:spPr>
          <a:xfrm>
            <a:off x="914400" y="2252980"/>
            <a:ext cx="5027930" cy="70929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altLang="zh-CN" sz="1500" b="1" i="0" strike="noStrike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</a:t>
            </a:r>
            <a:r>
              <a:rPr lang="zh-CN" altLang="en-US" sz="1500" b="1" i="0" strike="noStrike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的"标准"只是表面标准</a:t>
            </a:r>
            <a:r>
              <a:rPr lang="zh-CN" altLang="en-US" sz="1500" b="0" i="0" strike="noStrike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对接小米大模型，文档写着"兼容 </a:t>
            </a:r>
            <a:r>
              <a:rPr lang="en-US" altLang="zh-CN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</a:t>
            </a:r>
            <a:r>
              <a:rPr lang="zh-CN" altLang="en-US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协议"，</a:t>
            </a:r>
            <a:r>
              <a:rPr lang="en-US" altLang="zh-CN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信了——没去官网二次核实。但每个厂商都有自定义字段，文档写的是"目标"，实现是"现状"，中间永远有落差。</a:t>
            </a:r>
            <a:endParaRPr lang="zh-CN" altLang="en-US" sz="1500" b="0" i="0" strike="noStrike">
              <a:solidFill>
                <a:srgbClr val="1F293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23718" y="3274219"/>
            <a:ext cx="76181" cy="76200"/>
          </a:xfrm>
          <a:prstGeom prst="ellipse">
            <a:avLst/>
          </a:prstGeom>
          <a:solidFill>
            <a:srgbClr val="EF4444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2" name="TextBox 22"/>
          <p:cNvSpPr txBox="1"/>
          <p:nvPr/>
        </p:nvSpPr>
        <p:spPr>
          <a:xfrm>
            <a:off x="901471" y="3265329"/>
            <a:ext cx="5027943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DC26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数据脱敏规则</a:t>
            </a:r>
            <a:r>
              <a:rPr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身份证号/手机号/银行卡号输出时必须遮罩中间位，</a:t>
            </a:r>
            <a:endParaRPr lang="en-US" sz="1100"/>
          </a:p>
          <a:p>
            <a:pPr algn="l"/>
            <a:r>
              <a:rPr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AI不会自动判断哪些字段属于敏感个人信息需要脱敏处理</a:t>
            </a:r>
            <a:endParaRPr sz="1500" b="0" i="0" strike="noStrike">
              <a:solidFill>
                <a:srgbClr val="1F293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23718" y="4233862"/>
            <a:ext cx="76181" cy="76200"/>
          </a:xfrm>
          <a:prstGeom prst="ellipse">
            <a:avLst/>
          </a:prstGeom>
          <a:solidFill>
            <a:srgbClr val="EF4444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/>
        </p:nvSpPr>
        <p:spPr>
          <a:xfrm>
            <a:off x="914171" y="4190683"/>
            <a:ext cx="5027943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zh-CN" altLang="en-US" sz="1500" b="1" i="0" strike="noStrike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删除必须是软删除：</a:t>
            </a:r>
            <a:r>
              <a:rPr lang="en-US" altLang="zh-CN" sz="140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40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写了个 </a:t>
            </a:r>
            <a:r>
              <a:rPr lang="en-US" altLang="zh-CN" sz="140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DELETE FROM account WHERE id = ?，</a:t>
            </a:r>
            <a:r>
              <a:rPr lang="zh-CN" altLang="en-US" sz="140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逻辑完全正确。但银行系统没有任何物理删除——全是 </a:t>
            </a:r>
            <a:r>
              <a:rPr lang="en-US" altLang="zh-CN" sz="140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deleted = 1。</a:t>
            </a:r>
            <a:r>
              <a:rPr lang="zh-CN" altLang="en-US" sz="140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人知道"银行数据不能丢"是底线，但 </a:t>
            </a:r>
            <a:r>
              <a:rPr lang="en-US" altLang="zh-CN" sz="140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40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看到的就是一条标准 </a:t>
            </a:r>
            <a:r>
              <a:rPr lang="en-US" altLang="zh-CN" sz="140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SQL，</a:t>
            </a:r>
            <a:r>
              <a:rPr lang="zh-CN" altLang="en-US" sz="140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它不知道这个行业惯例。</a:t>
            </a:r>
            <a:endParaRPr lang="zh-CN" altLang="en-US" sz="1400" i="0" strike="noStrike">
              <a:solidFill>
                <a:srgbClr val="1F293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23718" y="5345906"/>
            <a:ext cx="76181" cy="76200"/>
          </a:xfrm>
          <a:prstGeom prst="ellipse">
            <a:avLst/>
          </a:prstGeom>
          <a:solidFill>
            <a:srgbClr val="EF4444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6" name="TextBox 26"/>
          <p:cNvSpPr txBox="1"/>
          <p:nvPr/>
        </p:nvSpPr>
        <p:spPr>
          <a:xfrm>
            <a:off x="914171" y="5257641"/>
            <a:ext cx="5027943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zh-CN" altLang="en-US" sz="1500" b="1" i="0" strike="noStrike">
                <a:solidFill>
                  <a:srgbClr val="FF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配置的隐形三角链</a:t>
            </a:r>
            <a:r>
              <a:rPr lang="zh-CN" altLang="en-US" sz="1500" b="1" i="0" strike="noStrike">
                <a:solidFill>
                  <a:srgbClr val="C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开发加了个配置，改了 .</a:t>
            </a:r>
            <a:r>
              <a:rPr lang="en-US" altLang="zh-CN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 </a:t>
            </a:r>
            <a:r>
              <a:rPr lang="zh-CN" altLang="en-US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lang="en-US" altLang="zh-CN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application.yml，</a:t>
            </a:r>
            <a:r>
              <a:rPr lang="zh-CN" altLang="en-US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但忘了 </a:t>
            </a:r>
            <a:r>
              <a:rPr lang="en-US" altLang="zh-CN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deploy.sh。</a:t>
            </a:r>
            <a:r>
              <a:rPr lang="zh-CN" altLang="en-US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对人来说，"改开发配置就要改生产配置"是默认常识；但对 </a:t>
            </a:r>
            <a:r>
              <a:rPr lang="en-US" altLang="zh-CN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500" b="0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来说，"改了哪几个文件才算完"这条规则散落在项目结构里，没有任何一行代码或文档告诉它。</a:t>
            </a:r>
            <a:endParaRPr lang="zh-CN" altLang="en-US" sz="1500" b="0" i="0" strike="noStrike">
              <a:solidFill>
                <a:srgbClr val="1F2937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246838" y="1457325"/>
            <a:ext cx="5485028" cy="4943475"/>
          </a:xfrm>
          <a:prstGeom prst="roundRect">
            <a:avLst>
              <a:gd name="adj" fmla="val 428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8" name="AutoShape 28"/>
          <p:cNvSpPr/>
          <p:nvPr/>
        </p:nvSpPr>
        <p:spPr>
          <a:xfrm>
            <a:off x="6513472" y="1749400"/>
            <a:ext cx="177805" cy="1778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7" y="0"/>
                </a:moveTo>
                <a:cubicBezTo>
                  <a:pt x="5093" y="0"/>
                  <a:pt x="5189" y="20"/>
                  <a:pt x="5276" y="58"/>
                </a:cubicBezTo>
                <a:lnTo>
                  <a:pt x="9200" y="1645"/>
                </a:lnTo>
                <a:cubicBezTo>
                  <a:pt x="9658" y="1830"/>
                  <a:pt x="10000" y="2262"/>
                  <a:pt x="9998" y="2782"/>
                </a:cubicBezTo>
                <a:cubicBezTo>
                  <a:pt x="9988" y="4754"/>
                  <a:pt x="9138" y="8360"/>
                  <a:pt x="5549" y="10000"/>
                </a:cubicBezTo>
                <a:cubicBezTo>
                  <a:pt x="5201" y="10159"/>
                  <a:pt x="4797" y="10159"/>
                  <a:pt x="4449" y="10000"/>
                </a:cubicBezTo>
                <a:cubicBezTo>
                  <a:pt x="858" y="8360"/>
                  <a:pt x="10" y="4754"/>
                  <a:pt x="0" y="2782"/>
                </a:cubicBezTo>
                <a:cubicBezTo>
                  <a:pt x="-2" y="2262"/>
                  <a:pt x="340" y="1830"/>
                  <a:pt x="798" y="1645"/>
                </a:cubicBezTo>
                <a:lnTo>
                  <a:pt x="4720" y="58"/>
                </a:lnTo>
                <a:cubicBezTo>
                  <a:pt x="4807" y="20"/>
                  <a:pt x="4901" y="0"/>
                  <a:pt x="4997" y="0"/>
                </a:cubicBezTo>
                <a:close/>
                <a:moveTo>
                  <a:pt x="4997" y="1328"/>
                </a:moveTo>
                <a:lnTo>
                  <a:pt x="4997" y="8841"/>
                </a:lnTo>
                <a:cubicBezTo>
                  <a:pt x="7871" y="7514"/>
                  <a:pt x="8644" y="4573"/>
                  <a:pt x="8663" y="2812"/>
                </a:cubicBezTo>
                <a:lnTo>
                  <a:pt x="4997" y="1329"/>
                </a:lnTo>
                <a:lnTo>
                  <a:pt x="4997" y="1329"/>
                </a:lnTo>
                <a:close/>
              </a:path>
            </a:pathLst>
          </a:custGeom>
          <a:solidFill>
            <a:srgbClr val="047857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9" name="TextBox 29"/>
          <p:cNvSpPr txBox="1"/>
          <p:nvPr/>
        </p:nvSpPr>
        <p:spPr>
          <a:xfrm>
            <a:off x="6805548" y="1704975"/>
            <a:ext cx="4697776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04785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为什么AI会错过这些规则？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13472" y="2181225"/>
            <a:ext cx="380905" cy="381000"/>
          </a:xfrm>
          <a:prstGeom prst="roundRect">
            <a:avLst>
              <a:gd name="adj" fmla="val 48012"/>
            </a:avLst>
          </a:prstGeom>
          <a:solidFill>
            <a:srgbClr val="D1FAE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1" name="AutoShape 31"/>
          <p:cNvSpPr/>
          <p:nvPr/>
        </p:nvSpPr>
        <p:spPr>
          <a:xfrm>
            <a:off x="6629825" y="2287021"/>
            <a:ext cx="148196" cy="169409"/>
          </a:xfrm>
          <a:custGeom>
            <a:avLst/>
            <a:gdLst/>
            <a:ahLst/>
            <a:cxnLst/>
            <a:rect l="l" t="t" r="r" b="b"/>
            <a:pathLst>
              <a:path w="8748" h="10000">
                <a:moveTo>
                  <a:pt x="1562" y="2031"/>
                </a:moveTo>
                <a:cubicBezTo>
                  <a:pt x="1821" y="2031"/>
                  <a:pt x="2031" y="1821"/>
                  <a:pt x="2031" y="1563"/>
                </a:cubicBezTo>
                <a:cubicBezTo>
                  <a:pt x="2031" y="1304"/>
                  <a:pt x="1821" y="1094"/>
                  <a:pt x="1562" y="1094"/>
                </a:cubicBezTo>
                <a:cubicBezTo>
                  <a:pt x="1303" y="1094"/>
                  <a:pt x="1094" y="1304"/>
                  <a:pt x="1094" y="1563"/>
                </a:cubicBezTo>
                <a:cubicBezTo>
                  <a:pt x="1094" y="1821"/>
                  <a:pt x="1303" y="2031"/>
                  <a:pt x="1562" y="2031"/>
                </a:cubicBezTo>
                <a:close/>
                <a:moveTo>
                  <a:pt x="3124" y="1563"/>
                </a:moveTo>
                <a:cubicBezTo>
                  <a:pt x="3124" y="2203"/>
                  <a:pt x="2740" y="2754"/>
                  <a:pt x="2187" y="2994"/>
                </a:cubicBezTo>
                <a:lnTo>
                  <a:pt x="2187" y="4375"/>
                </a:lnTo>
                <a:lnTo>
                  <a:pt x="5624" y="4375"/>
                </a:lnTo>
                <a:cubicBezTo>
                  <a:pt x="6141" y="4375"/>
                  <a:pt x="6561" y="3955"/>
                  <a:pt x="6561" y="3438"/>
                </a:cubicBezTo>
                <a:lnTo>
                  <a:pt x="6561" y="2994"/>
                </a:lnTo>
                <a:cubicBezTo>
                  <a:pt x="6008" y="2754"/>
                  <a:pt x="5624" y="2203"/>
                  <a:pt x="5624" y="1563"/>
                </a:cubicBezTo>
                <a:cubicBezTo>
                  <a:pt x="5624" y="699"/>
                  <a:pt x="6323" y="0"/>
                  <a:pt x="7186" y="0"/>
                </a:cubicBezTo>
                <a:cubicBezTo>
                  <a:pt x="8048" y="0"/>
                  <a:pt x="8748" y="700"/>
                  <a:pt x="8748" y="1563"/>
                </a:cubicBezTo>
                <a:cubicBezTo>
                  <a:pt x="8748" y="2203"/>
                  <a:pt x="8363" y="2754"/>
                  <a:pt x="7811" y="2994"/>
                </a:cubicBezTo>
                <a:lnTo>
                  <a:pt x="7811" y="3438"/>
                </a:lnTo>
                <a:cubicBezTo>
                  <a:pt x="7811" y="4646"/>
                  <a:pt x="6832" y="5625"/>
                  <a:pt x="5624" y="5625"/>
                </a:cubicBezTo>
                <a:lnTo>
                  <a:pt x="2187" y="5625"/>
                </a:lnTo>
                <a:lnTo>
                  <a:pt x="2187" y="7006"/>
                </a:lnTo>
                <a:cubicBezTo>
                  <a:pt x="2740" y="7246"/>
                  <a:pt x="3124" y="7797"/>
                  <a:pt x="3124" y="8438"/>
                </a:cubicBezTo>
                <a:cubicBezTo>
                  <a:pt x="3124" y="9301"/>
                  <a:pt x="2425" y="10000"/>
                  <a:pt x="1562" y="10000"/>
                </a:cubicBezTo>
                <a:cubicBezTo>
                  <a:pt x="700" y="10000"/>
                  <a:pt x="0" y="9300"/>
                  <a:pt x="0" y="8438"/>
                </a:cubicBezTo>
                <a:cubicBezTo>
                  <a:pt x="0" y="7797"/>
                  <a:pt x="385" y="7246"/>
                  <a:pt x="937" y="7006"/>
                </a:cubicBezTo>
                <a:lnTo>
                  <a:pt x="937" y="2996"/>
                </a:lnTo>
                <a:cubicBezTo>
                  <a:pt x="385" y="2754"/>
                  <a:pt x="0" y="2203"/>
                  <a:pt x="0" y="1563"/>
                </a:cubicBezTo>
                <a:cubicBezTo>
                  <a:pt x="0" y="699"/>
                  <a:pt x="699" y="0"/>
                  <a:pt x="1562" y="0"/>
                </a:cubicBezTo>
                <a:cubicBezTo>
                  <a:pt x="2424" y="0"/>
                  <a:pt x="3124" y="700"/>
                  <a:pt x="3124" y="1563"/>
                </a:cubicBezTo>
                <a:close/>
                <a:moveTo>
                  <a:pt x="7655" y="1563"/>
                </a:moveTo>
                <a:cubicBezTo>
                  <a:pt x="7655" y="1304"/>
                  <a:pt x="7445" y="1094"/>
                  <a:pt x="7186" y="1094"/>
                </a:cubicBezTo>
                <a:cubicBezTo>
                  <a:pt x="6927" y="1094"/>
                  <a:pt x="6717" y="1304"/>
                  <a:pt x="6717" y="1563"/>
                </a:cubicBezTo>
                <a:cubicBezTo>
                  <a:pt x="6717" y="1821"/>
                  <a:pt x="6927" y="2031"/>
                  <a:pt x="7186" y="2031"/>
                </a:cubicBezTo>
                <a:cubicBezTo>
                  <a:pt x="7445" y="2031"/>
                  <a:pt x="7655" y="1821"/>
                  <a:pt x="7655" y="1563"/>
                </a:cubicBezTo>
                <a:close/>
                <a:moveTo>
                  <a:pt x="1562" y="8906"/>
                </a:moveTo>
                <a:cubicBezTo>
                  <a:pt x="1821" y="8906"/>
                  <a:pt x="2031" y="8696"/>
                  <a:pt x="2031" y="8438"/>
                </a:cubicBezTo>
                <a:cubicBezTo>
                  <a:pt x="2031" y="8179"/>
                  <a:pt x="1821" y="7969"/>
                  <a:pt x="1562" y="7969"/>
                </a:cubicBezTo>
                <a:cubicBezTo>
                  <a:pt x="1303" y="7969"/>
                  <a:pt x="1094" y="8179"/>
                  <a:pt x="1094" y="8438"/>
                </a:cubicBezTo>
                <a:cubicBezTo>
                  <a:pt x="1094" y="8696"/>
                  <a:pt x="1303" y="8906"/>
                  <a:pt x="1562" y="8906"/>
                </a:cubicBezTo>
                <a:close/>
              </a:path>
            </a:pathLst>
          </a:custGeom>
          <a:solidFill>
            <a:srgbClr val="05966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2" name="TextBox 32"/>
          <p:cNvSpPr txBox="1"/>
          <p:nvPr/>
        </p:nvSpPr>
        <p:spPr>
          <a:xfrm>
            <a:off x="7046737" y="2200275"/>
            <a:ext cx="445658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规则不在文档中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7046737" y="2609850"/>
            <a:ext cx="4456585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这类业务规则不在API文档或编程语言规范中，只存在于项目经验沉淀里</a:t>
            </a:r>
            <a:endParaRPr lang="en-US" sz="1100"/>
          </a:p>
          <a:p>
            <a:pPr algn="l"/>
            <a:r>
              <a:rPr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——AI缺少"做过这个项目"的经验</a:t>
            </a:r>
            <a:endParaRPr sz="1500" b="0" i="0" strike="noStrike">
              <a:solidFill>
                <a:srgbClr val="37415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6513472" y="3587651"/>
            <a:ext cx="380905" cy="381000"/>
          </a:xfrm>
          <a:prstGeom prst="roundRect">
            <a:avLst>
              <a:gd name="adj" fmla="val 48012"/>
            </a:avLst>
          </a:prstGeom>
          <a:solidFill>
            <a:srgbClr val="D1FAE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5" name="AutoShape 35"/>
          <p:cNvSpPr/>
          <p:nvPr/>
        </p:nvSpPr>
        <p:spPr>
          <a:xfrm>
            <a:off x="6629825" y="3679328"/>
            <a:ext cx="148196" cy="197644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0" y="1250"/>
                </a:moveTo>
                <a:cubicBezTo>
                  <a:pt x="0" y="561"/>
                  <a:pt x="560" y="0"/>
                  <a:pt x="1250" y="0"/>
                </a:cubicBezTo>
                <a:lnTo>
                  <a:pt x="4169" y="0"/>
                </a:lnTo>
                <a:cubicBezTo>
                  <a:pt x="4501" y="0"/>
                  <a:pt x="4819" y="131"/>
                  <a:pt x="5053" y="365"/>
                </a:cubicBezTo>
                <a:lnTo>
                  <a:pt x="7133" y="2447"/>
                </a:lnTo>
                <a:cubicBezTo>
                  <a:pt x="7367" y="2682"/>
                  <a:pt x="7498" y="3000"/>
                  <a:pt x="7498" y="3332"/>
                </a:cubicBezTo>
                <a:lnTo>
                  <a:pt x="7498" y="8750"/>
                </a:lnTo>
                <a:cubicBezTo>
                  <a:pt x="7498" y="9439"/>
                  <a:pt x="6938" y="10000"/>
                  <a:pt x="6248" y="10000"/>
                </a:cubicBezTo>
                <a:lnTo>
                  <a:pt x="1250" y="10000"/>
                </a:lnTo>
                <a:cubicBezTo>
                  <a:pt x="560" y="10000"/>
                  <a:pt x="0" y="9439"/>
                  <a:pt x="0" y="8750"/>
                </a:cubicBezTo>
                <a:lnTo>
                  <a:pt x="0" y="1250"/>
                </a:lnTo>
                <a:close/>
                <a:moveTo>
                  <a:pt x="4061" y="1143"/>
                </a:moveTo>
                <a:lnTo>
                  <a:pt x="4061" y="2969"/>
                </a:lnTo>
                <a:cubicBezTo>
                  <a:pt x="4061" y="3229"/>
                  <a:pt x="4270" y="3438"/>
                  <a:pt x="4530" y="3438"/>
                </a:cubicBezTo>
                <a:lnTo>
                  <a:pt x="6356" y="3438"/>
                </a:lnTo>
                <a:lnTo>
                  <a:pt x="4061" y="1143"/>
                </a:lnTo>
                <a:close/>
                <a:moveTo>
                  <a:pt x="1718" y="1250"/>
                </a:moveTo>
                <a:cubicBezTo>
                  <a:pt x="1459" y="1250"/>
                  <a:pt x="1250" y="1459"/>
                  <a:pt x="1250" y="1719"/>
                </a:cubicBezTo>
                <a:cubicBezTo>
                  <a:pt x="1250" y="1977"/>
                  <a:pt x="1460" y="2188"/>
                  <a:pt x="1718" y="2188"/>
                </a:cubicBezTo>
                <a:lnTo>
                  <a:pt x="2656" y="2188"/>
                </a:lnTo>
                <a:cubicBezTo>
                  <a:pt x="2915" y="2188"/>
                  <a:pt x="3124" y="1979"/>
                  <a:pt x="3124" y="1719"/>
                </a:cubicBezTo>
                <a:cubicBezTo>
                  <a:pt x="3124" y="1460"/>
                  <a:pt x="2914" y="1250"/>
                  <a:pt x="2656" y="1250"/>
                </a:cubicBezTo>
                <a:lnTo>
                  <a:pt x="1718" y="1250"/>
                </a:lnTo>
                <a:close/>
                <a:moveTo>
                  <a:pt x="1718" y="3125"/>
                </a:moveTo>
                <a:cubicBezTo>
                  <a:pt x="1459" y="3125"/>
                  <a:pt x="1250" y="3334"/>
                  <a:pt x="1250" y="3594"/>
                </a:cubicBezTo>
                <a:cubicBezTo>
                  <a:pt x="1250" y="3852"/>
                  <a:pt x="1460" y="4063"/>
                  <a:pt x="1718" y="4063"/>
                </a:cubicBezTo>
                <a:lnTo>
                  <a:pt x="2656" y="4063"/>
                </a:lnTo>
                <a:cubicBezTo>
                  <a:pt x="2915" y="4063"/>
                  <a:pt x="3124" y="3854"/>
                  <a:pt x="3124" y="3594"/>
                </a:cubicBezTo>
                <a:cubicBezTo>
                  <a:pt x="3124" y="3335"/>
                  <a:pt x="2914" y="3125"/>
                  <a:pt x="2656" y="3125"/>
                </a:cubicBezTo>
                <a:lnTo>
                  <a:pt x="1718" y="3125"/>
                </a:lnTo>
                <a:close/>
                <a:moveTo>
                  <a:pt x="3091" y="6250"/>
                </a:moveTo>
                <a:cubicBezTo>
                  <a:pt x="2870" y="6250"/>
                  <a:pt x="2663" y="6350"/>
                  <a:pt x="2527" y="6521"/>
                </a:cubicBezTo>
                <a:lnTo>
                  <a:pt x="1353" y="7988"/>
                </a:lnTo>
                <a:cubicBezTo>
                  <a:pt x="1191" y="8189"/>
                  <a:pt x="1224" y="8486"/>
                  <a:pt x="1425" y="8646"/>
                </a:cubicBezTo>
                <a:cubicBezTo>
                  <a:pt x="1522" y="8724"/>
                  <a:pt x="1646" y="8760"/>
                  <a:pt x="1770" y="8746"/>
                </a:cubicBezTo>
                <a:cubicBezTo>
                  <a:pt x="1893" y="8732"/>
                  <a:pt x="2006" y="8670"/>
                  <a:pt x="2083" y="8572"/>
                </a:cubicBezTo>
                <a:lnTo>
                  <a:pt x="3003" y="7424"/>
                </a:lnTo>
                <a:lnTo>
                  <a:pt x="3300" y="8414"/>
                </a:lnTo>
                <a:cubicBezTo>
                  <a:pt x="3358" y="8613"/>
                  <a:pt x="3542" y="8748"/>
                  <a:pt x="3749" y="8748"/>
                </a:cubicBezTo>
                <a:lnTo>
                  <a:pt x="5780" y="8748"/>
                </a:lnTo>
                <a:cubicBezTo>
                  <a:pt x="6039" y="8748"/>
                  <a:pt x="6248" y="8539"/>
                  <a:pt x="6248" y="8279"/>
                </a:cubicBezTo>
                <a:cubicBezTo>
                  <a:pt x="6248" y="8020"/>
                  <a:pt x="6039" y="7811"/>
                  <a:pt x="5780" y="7811"/>
                </a:cubicBezTo>
                <a:lnTo>
                  <a:pt x="4099" y="7811"/>
                </a:lnTo>
                <a:lnTo>
                  <a:pt x="3784" y="6764"/>
                </a:lnTo>
                <a:cubicBezTo>
                  <a:pt x="3692" y="6457"/>
                  <a:pt x="3411" y="6248"/>
                  <a:pt x="3091" y="6248"/>
                </a:cubicBezTo>
                <a:close/>
              </a:path>
            </a:pathLst>
          </a:custGeom>
          <a:solidFill>
            <a:srgbClr val="05966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6" name="TextBox 36"/>
          <p:cNvSpPr txBox="1"/>
          <p:nvPr/>
        </p:nvSpPr>
        <p:spPr>
          <a:xfrm>
            <a:off x="7046737" y="3606701"/>
            <a:ext cx="445658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AI的"知识盲区"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7046737" y="4016276"/>
            <a:ext cx="4456585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AI"读过"千万行开源代码，但没"做过"这个银行项目</a:t>
            </a:r>
            <a:endParaRPr lang="en-US" sz="1100"/>
          </a:p>
          <a:p>
            <a:pPr algn="l"/>
            <a:r>
              <a:rPr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——缺少</a:t>
            </a:r>
            <a:r>
              <a:rPr lang="zh-CN"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</a:t>
            </a:r>
            <a:r>
              <a:rPr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领域特有的业务知识</a:t>
            </a:r>
            <a:endParaRPr sz="1500" b="0" i="0" strike="noStrike">
              <a:solidFill>
                <a:srgbClr val="37415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6513472" y="4994225"/>
            <a:ext cx="380905" cy="381000"/>
          </a:xfrm>
          <a:prstGeom prst="roundRect">
            <a:avLst>
              <a:gd name="adj" fmla="val 48012"/>
            </a:avLst>
          </a:prstGeom>
          <a:solidFill>
            <a:srgbClr val="D1FAE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9" name="AutoShape 39"/>
          <p:cNvSpPr/>
          <p:nvPr/>
        </p:nvSpPr>
        <p:spPr>
          <a:xfrm>
            <a:off x="6629825" y="5110610"/>
            <a:ext cx="148196" cy="148233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510" y="0"/>
                </a:moveTo>
                <a:cubicBezTo>
                  <a:pt x="2726" y="181"/>
                  <a:pt x="2778" y="538"/>
                  <a:pt x="2627" y="796"/>
                </a:cubicBezTo>
                <a:lnTo>
                  <a:pt x="1519" y="2702"/>
                </a:lnTo>
                <a:cubicBezTo>
                  <a:pt x="1437" y="2840"/>
                  <a:pt x="1311" y="2928"/>
                  <a:pt x="1170" y="2943"/>
                </a:cubicBezTo>
                <a:cubicBezTo>
                  <a:pt x="1030" y="2958"/>
                  <a:pt x="892" y="2898"/>
                  <a:pt x="792" y="2781"/>
                </a:cubicBezTo>
                <a:lnTo>
                  <a:pt x="0" y="1827"/>
                </a:lnTo>
                <a:cubicBezTo>
                  <a:pt x="-184" y="1604"/>
                  <a:pt x="-184" y="1241"/>
                  <a:pt x="0" y="1017"/>
                </a:cubicBezTo>
                <a:cubicBezTo>
                  <a:pt x="186" y="794"/>
                  <a:pt x="487" y="794"/>
                  <a:pt x="673" y="1017"/>
                </a:cubicBezTo>
                <a:lnTo>
                  <a:pt x="1065" y="1489"/>
                </a:lnTo>
                <a:lnTo>
                  <a:pt x="1849" y="141"/>
                </a:lnTo>
                <a:cubicBezTo>
                  <a:pt x="2000" y="-119"/>
                  <a:pt x="2297" y="-181"/>
                  <a:pt x="2510" y="0"/>
                </a:cubicBezTo>
                <a:close/>
                <a:moveTo>
                  <a:pt x="2510" y="3812"/>
                </a:moveTo>
                <a:cubicBezTo>
                  <a:pt x="2726" y="3993"/>
                  <a:pt x="2778" y="4351"/>
                  <a:pt x="2627" y="4608"/>
                </a:cubicBezTo>
                <a:lnTo>
                  <a:pt x="1519" y="6514"/>
                </a:lnTo>
                <a:cubicBezTo>
                  <a:pt x="1437" y="6652"/>
                  <a:pt x="1311" y="6741"/>
                  <a:pt x="1170" y="6755"/>
                </a:cubicBezTo>
                <a:cubicBezTo>
                  <a:pt x="1030" y="6770"/>
                  <a:pt x="892" y="6711"/>
                  <a:pt x="792" y="6593"/>
                </a:cubicBezTo>
                <a:lnTo>
                  <a:pt x="0" y="5640"/>
                </a:lnTo>
                <a:cubicBezTo>
                  <a:pt x="-186" y="5416"/>
                  <a:pt x="-186" y="5054"/>
                  <a:pt x="0" y="4832"/>
                </a:cubicBezTo>
                <a:cubicBezTo>
                  <a:pt x="185" y="4609"/>
                  <a:pt x="486" y="4609"/>
                  <a:pt x="671" y="4832"/>
                </a:cubicBezTo>
                <a:lnTo>
                  <a:pt x="1063" y="5304"/>
                </a:lnTo>
                <a:lnTo>
                  <a:pt x="1847" y="3955"/>
                </a:lnTo>
                <a:cubicBezTo>
                  <a:pt x="1998" y="3695"/>
                  <a:pt x="2295" y="3634"/>
                  <a:pt x="2508" y="3815"/>
                </a:cubicBezTo>
                <a:close/>
                <a:moveTo>
                  <a:pt x="4296" y="1422"/>
                </a:moveTo>
                <a:cubicBezTo>
                  <a:pt x="4296" y="1001"/>
                  <a:pt x="4579" y="660"/>
                  <a:pt x="4930" y="660"/>
                </a:cubicBezTo>
                <a:lnTo>
                  <a:pt x="9364" y="660"/>
                </a:lnTo>
                <a:cubicBezTo>
                  <a:pt x="9715" y="660"/>
                  <a:pt x="9998" y="1001"/>
                  <a:pt x="9998" y="1422"/>
                </a:cubicBezTo>
                <a:cubicBezTo>
                  <a:pt x="9998" y="1843"/>
                  <a:pt x="9714" y="2185"/>
                  <a:pt x="9364" y="2185"/>
                </a:cubicBezTo>
                <a:lnTo>
                  <a:pt x="4930" y="2185"/>
                </a:lnTo>
                <a:cubicBezTo>
                  <a:pt x="4579" y="2185"/>
                  <a:pt x="4296" y="1844"/>
                  <a:pt x="4296" y="1422"/>
                </a:cubicBezTo>
                <a:close/>
                <a:moveTo>
                  <a:pt x="4296" y="5235"/>
                </a:moveTo>
                <a:cubicBezTo>
                  <a:pt x="4296" y="4813"/>
                  <a:pt x="4579" y="4472"/>
                  <a:pt x="4930" y="4472"/>
                </a:cubicBezTo>
                <a:lnTo>
                  <a:pt x="9364" y="4472"/>
                </a:lnTo>
                <a:cubicBezTo>
                  <a:pt x="9715" y="4472"/>
                  <a:pt x="9998" y="4813"/>
                  <a:pt x="9998" y="5235"/>
                </a:cubicBezTo>
                <a:cubicBezTo>
                  <a:pt x="9998" y="5655"/>
                  <a:pt x="9714" y="5997"/>
                  <a:pt x="9364" y="5997"/>
                </a:cubicBezTo>
                <a:lnTo>
                  <a:pt x="4930" y="5997"/>
                </a:lnTo>
                <a:cubicBezTo>
                  <a:pt x="4579" y="5997"/>
                  <a:pt x="4296" y="5656"/>
                  <a:pt x="4296" y="5235"/>
                </a:cubicBezTo>
                <a:close/>
                <a:moveTo>
                  <a:pt x="3029" y="9047"/>
                </a:moveTo>
                <a:cubicBezTo>
                  <a:pt x="3029" y="8625"/>
                  <a:pt x="3312" y="8284"/>
                  <a:pt x="3663" y="8284"/>
                </a:cubicBezTo>
                <a:lnTo>
                  <a:pt x="9364" y="8284"/>
                </a:lnTo>
                <a:cubicBezTo>
                  <a:pt x="9715" y="8284"/>
                  <a:pt x="9998" y="8625"/>
                  <a:pt x="9998" y="9047"/>
                </a:cubicBezTo>
                <a:cubicBezTo>
                  <a:pt x="9998" y="9468"/>
                  <a:pt x="9714" y="9809"/>
                  <a:pt x="9364" y="9809"/>
                </a:cubicBezTo>
                <a:lnTo>
                  <a:pt x="3663" y="9809"/>
                </a:lnTo>
                <a:cubicBezTo>
                  <a:pt x="3312" y="9809"/>
                  <a:pt x="3029" y="9469"/>
                  <a:pt x="3029" y="9047"/>
                </a:cubicBezTo>
                <a:close/>
                <a:moveTo>
                  <a:pt x="1128" y="8094"/>
                </a:moveTo>
                <a:cubicBezTo>
                  <a:pt x="1566" y="8094"/>
                  <a:pt x="1920" y="8521"/>
                  <a:pt x="1920" y="9047"/>
                </a:cubicBezTo>
                <a:cubicBezTo>
                  <a:pt x="1920" y="9573"/>
                  <a:pt x="1566" y="10000"/>
                  <a:pt x="1128" y="10000"/>
                </a:cubicBezTo>
                <a:cubicBezTo>
                  <a:pt x="691" y="10000"/>
                  <a:pt x="337" y="9573"/>
                  <a:pt x="337" y="9047"/>
                </a:cubicBezTo>
                <a:cubicBezTo>
                  <a:pt x="337" y="8521"/>
                  <a:pt x="691" y="8094"/>
                  <a:pt x="1128" y="8094"/>
                </a:cubicBezTo>
                <a:close/>
              </a:path>
            </a:pathLst>
          </a:custGeom>
          <a:solidFill>
            <a:srgbClr val="05966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0" name="TextBox 40"/>
          <p:cNvSpPr txBox="1"/>
          <p:nvPr/>
        </p:nvSpPr>
        <p:spPr>
          <a:xfrm>
            <a:off x="7046737" y="5013275"/>
            <a:ext cx="4456585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经验≠可复制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7046737" y="5422850"/>
            <a:ext cx="4456585" cy="519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每个项目都有独一无二的隐性规则——编码经验无法替代</a:t>
            </a:r>
            <a:endParaRPr lang="en-US" sz="1100"/>
          </a:p>
          <a:p>
            <a:pPr algn="l"/>
            <a:r>
              <a:rPr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只有将经验系统化沉淀为文档，AI才能真正"学会"</a:t>
            </a:r>
            <a:endParaRPr sz="1500" b="0" i="0" strike="noStrike">
              <a:solidFill>
                <a:srgbClr val="374151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14400" y="6477000"/>
            <a:ext cx="1036015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20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这几个的共同点：违反它们不会报错，不会引发异常，代码完美通过单元测试。只有做到生产环境、被人 </a:t>
            </a:r>
            <a:r>
              <a:rPr lang="en-US" altLang="zh-CN" sz="120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review、</a:t>
            </a:r>
            <a:r>
              <a:rPr lang="zh-CN" altLang="en-US" sz="1200" dirty="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或者出事故时，才会被发现。</a:t>
            </a:r>
            <a:endParaRPr lang="zh-CN" altLang="en-US" sz="1200" dirty="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AutoShape 5"/>
          <p:cNvSpPr/>
          <p:nvPr/>
        </p:nvSpPr>
        <p:spPr>
          <a:xfrm>
            <a:off x="457086" y="457200"/>
            <a:ext cx="947203" cy="266700"/>
          </a:xfrm>
          <a:prstGeom prst="roundRect">
            <a:avLst>
              <a:gd name="adj" fmla="val 4898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71358" y="514350"/>
            <a:ext cx="83293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成果验证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56650" y="585788"/>
            <a:ext cx="10175216" cy="9525"/>
          </a:xfrm>
          <a:prstGeom prst="rect">
            <a:avLst/>
          </a:prstGeom>
          <a:solidFill>
            <a:srgbClr val="BFDBF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457086" y="819150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认知升级：</a:t>
            </a:r>
            <a:r>
              <a:rPr sz="2700" b="1" i="0" strike="noStrike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四个维度</a:t>
            </a:r>
            <a:r>
              <a:rPr sz="27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的转变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7086" y="1457325"/>
            <a:ext cx="11274781" cy="428625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0" name="TextBox 10"/>
          <p:cNvSpPr txBox="1"/>
          <p:nvPr/>
        </p:nvSpPr>
        <p:spPr>
          <a:xfrm>
            <a:off x="647537" y="1571625"/>
            <a:ext cx="11084328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47556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能写 80% 的代码——但那 30% 的架构决策和业务理解，才是你不可替代的价值。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3"/>
            </p:custDataLst>
          </p:nvPr>
        </p:nvSpPr>
        <p:spPr>
          <a:xfrm>
            <a:off x="457086" y="2193131"/>
            <a:ext cx="5523120" cy="1990725"/>
          </a:xfrm>
          <a:prstGeom prst="roundRect">
            <a:avLst>
              <a:gd name="adj" fmla="val 2639"/>
            </a:avLst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>
            <a:off x="695151" y="2431256"/>
            <a:ext cx="380905" cy="381000"/>
          </a:xfrm>
          <a:prstGeom prst="ellipse">
            <a:avLst/>
          </a:prstGeom>
          <a:solidFill>
            <a:srgbClr val="DBEAF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818797" y="2532757"/>
            <a:ext cx="133466" cy="177998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0" y="1250"/>
                </a:moveTo>
                <a:cubicBezTo>
                  <a:pt x="0" y="561"/>
                  <a:pt x="560" y="0"/>
                  <a:pt x="1250" y="0"/>
                </a:cubicBezTo>
                <a:lnTo>
                  <a:pt x="4169" y="0"/>
                </a:lnTo>
                <a:cubicBezTo>
                  <a:pt x="4501" y="0"/>
                  <a:pt x="4819" y="131"/>
                  <a:pt x="5053" y="365"/>
                </a:cubicBezTo>
                <a:lnTo>
                  <a:pt x="7133" y="2447"/>
                </a:lnTo>
                <a:cubicBezTo>
                  <a:pt x="7367" y="2682"/>
                  <a:pt x="7498" y="3000"/>
                  <a:pt x="7498" y="3332"/>
                </a:cubicBezTo>
                <a:lnTo>
                  <a:pt x="7498" y="8750"/>
                </a:lnTo>
                <a:cubicBezTo>
                  <a:pt x="7498" y="9439"/>
                  <a:pt x="6938" y="10000"/>
                  <a:pt x="6248" y="10000"/>
                </a:cubicBezTo>
                <a:lnTo>
                  <a:pt x="1250" y="10000"/>
                </a:lnTo>
                <a:cubicBezTo>
                  <a:pt x="560" y="10000"/>
                  <a:pt x="0" y="9439"/>
                  <a:pt x="0" y="8750"/>
                </a:cubicBezTo>
                <a:lnTo>
                  <a:pt x="0" y="1250"/>
                </a:lnTo>
                <a:close/>
                <a:moveTo>
                  <a:pt x="4061" y="1143"/>
                </a:moveTo>
                <a:lnTo>
                  <a:pt x="4061" y="2969"/>
                </a:lnTo>
                <a:cubicBezTo>
                  <a:pt x="4061" y="3229"/>
                  <a:pt x="4270" y="3438"/>
                  <a:pt x="4530" y="3438"/>
                </a:cubicBezTo>
                <a:lnTo>
                  <a:pt x="6356" y="3438"/>
                </a:lnTo>
                <a:lnTo>
                  <a:pt x="4061" y="1143"/>
                </a:lnTo>
                <a:close/>
                <a:moveTo>
                  <a:pt x="3011" y="5773"/>
                </a:moveTo>
                <a:cubicBezTo>
                  <a:pt x="3179" y="5576"/>
                  <a:pt x="3157" y="5281"/>
                  <a:pt x="2960" y="5113"/>
                </a:cubicBezTo>
                <a:cubicBezTo>
                  <a:pt x="2764" y="4945"/>
                  <a:pt x="2468" y="4968"/>
                  <a:pt x="2300" y="5164"/>
                </a:cubicBezTo>
                <a:lnTo>
                  <a:pt x="1363" y="6258"/>
                </a:lnTo>
                <a:cubicBezTo>
                  <a:pt x="1213" y="6434"/>
                  <a:pt x="1213" y="6691"/>
                  <a:pt x="1363" y="6867"/>
                </a:cubicBezTo>
                <a:lnTo>
                  <a:pt x="2300" y="7961"/>
                </a:lnTo>
                <a:cubicBezTo>
                  <a:pt x="2468" y="8158"/>
                  <a:pt x="2765" y="8180"/>
                  <a:pt x="2960" y="8012"/>
                </a:cubicBezTo>
                <a:cubicBezTo>
                  <a:pt x="3156" y="7843"/>
                  <a:pt x="3179" y="7548"/>
                  <a:pt x="3011" y="7352"/>
                </a:cubicBezTo>
                <a:lnTo>
                  <a:pt x="2335" y="6563"/>
                </a:lnTo>
                <a:lnTo>
                  <a:pt x="3011" y="5773"/>
                </a:lnTo>
                <a:close/>
                <a:moveTo>
                  <a:pt x="5198" y="5164"/>
                </a:moveTo>
                <a:cubicBezTo>
                  <a:pt x="5030" y="4967"/>
                  <a:pt x="4733" y="4945"/>
                  <a:pt x="4538" y="5113"/>
                </a:cubicBezTo>
                <a:cubicBezTo>
                  <a:pt x="4342" y="5282"/>
                  <a:pt x="4319" y="5577"/>
                  <a:pt x="4487" y="5773"/>
                </a:cubicBezTo>
                <a:lnTo>
                  <a:pt x="5163" y="6563"/>
                </a:lnTo>
                <a:lnTo>
                  <a:pt x="4487" y="7352"/>
                </a:lnTo>
                <a:cubicBezTo>
                  <a:pt x="4319" y="7549"/>
                  <a:pt x="4341" y="7844"/>
                  <a:pt x="4538" y="8012"/>
                </a:cubicBezTo>
                <a:cubicBezTo>
                  <a:pt x="4734" y="8180"/>
                  <a:pt x="5030" y="8157"/>
                  <a:pt x="5198" y="7961"/>
                </a:cubicBezTo>
                <a:lnTo>
                  <a:pt x="6135" y="6867"/>
                </a:lnTo>
                <a:cubicBezTo>
                  <a:pt x="6285" y="6691"/>
                  <a:pt x="6285" y="6434"/>
                  <a:pt x="6135" y="6258"/>
                </a:cubicBezTo>
                <a:lnTo>
                  <a:pt x="5198" y="5164"/>
                </a:lnTo>
                <a:close/>
              </a:path>
            </a:pathLst>
          </a:cu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4" name="TextBox 14"/>
          <p:cNvSpPr txBox="1"/>
          <p:nvPr>
            <p:custDataLst>
              <p:tags r:id="rId7"/>
            </p:custDataLst>
          </p:nvPr>
        </p:nvSpPr>
        <p:spPr>
          <a:xfrm>
            <a:off x="1228418" y="2450306"/>
            <a:ext cx="4513721" cy="42624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从「代码是产物」</a:t>
            </a:r>
            <a:r>
              <a:rPr sz="13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到「文档是产物」</a:t>
            </a:r>
            <a:endParaRPr sz="1300" b="1" i="0" strike="noStrike">
              <a:solidFill>
                <a:srgbClr val="1E293B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8"/>
            </p:custDataLst>
          </p:nvPr>
        </p:nvSpPr>
        <p:spPr>
          <a:xfrm>
            <a:off x="695151" y="3045619"/>
            <a:ext cx="504698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7556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代码变更是文档变更的编译结果，文档质量决定代码质量。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9"/>
            </p:custDataLst>
          </p:nvPr>
        </p:nvSpPr>
        <p:spPr>
          <a:xfrm>
            <a:off x="6208747" y="2193131"/>
            <a:ext cx="5523120" cy="1990725"/>
          </a:xfrm>
          <a:prstGeom prst="roundRect">
            <a:avLst>
              <a:gd name="adj" fmla="val 2639"/>
            </a:avLst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7" name="AutoShape 17"/>
          <p:cNvSpPr/>
          <p:nvPr>
            <p:custDataLst>
              <p:tags r:id="rId10"/>
            </p:custDataLst>
          </p:nvPr>
        </p:nvSpPr>
        <p:spPr>
          <a:xfrm>
            <a:off x="6446813" y="2431256"/>
            <a:ext cx="380905" cy="381000"/>
          </a:xfrm>
          <a:prstGeom prst="ellipse">
            <a:avLst/>
          </a:prstGeom>
          <a:solidFill>
            <a:srgbClr val="FFEDD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AutoShape 18"/>
          <p:cNvSpPr/>
          <p:nvPr>
            <p:custDataLst>
              <p:tags r:id="rId11"/>
            </p:custDataLst>
          </p:nvPr>
        </p:nvSpPr>
        <p:spPr>
          <a:xfrm>
            <a:off x="6570458" y="2555006"/>
            <a:ext cx="133466" cy="133499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258" y="1094"/>
                </a:moveTo>
                <a:cubicBezTo>
                  <a:pt x="2258" y="490"/>
                  <a:pt x="2764" y="0"/>
                  <a:pt x="3386" y="0"/>
                </a:cubicBezTo>
                <a:lnTo>
                  <a:pt x="3870" y="0"/>
                </a:lnTo>
                <a:cubicBezTo>
                  <a:pt x="4227" y="0"/>
                  <a:pt x="4515" y="279"/>
                  <a:pt x="4515" y="625"/>
                </a:cubicBezTo>
                <a:lnTo>
                  <a:pt x="4515" y="9375"/>
                </a:lnTo>
                <a:cubicBezTo>
                  <a:pt x="4515" y="9721"/>
                  <a:pt x="4227" y="10000"/>
                  <a:pt x="3870" y="10000"/>
                </a:cubicBezTo>
                <a:lnTo>
                  <a:pt x="3225" y="10000"/>
                </a:lnTo>
                <a:cubicBezTo>
                  <a:pt x="2624" y="10000"/>
                  <a:pt x="2119" y="9602"/>
                  <a:pt x="1975" y="9063"/>
                </a:cubicBezTo>
                <a:cubicBezTo>
                  <a:pt x="1961" y="9063"/>
                  <a:pt x="1949" y="9063"/>
                  <a:pt x="1935" y="9063"/>
                </a:cubicBezTo>
                <a:cubicBezTo>
                  <a:pt x="1044" y="9063"/>
                  <a:pt x="323" y="8363"/>
                  <a:pt x="323" y="7500"/>
                </a:cubicBezTo>
                <a:cubicBezTo>
                  <a:pt x="323" y="7148"/>
                  <a:pt x="443" y="6824"/>
                  <a:pt x="645" y="6563"/>
                </a:cubicBezTo>
                <a:cubicBezTo>
                  <a:pt x="254" y="6277"/>
                  <a:pt x="0" y="5824"/>
                  <a:pt x="0" y="5313"/>
                </a:cubicBezTo>
                <a:cubicBezTo>
                  <a:pt x="0" y="4709"/>
                  <a:pt x="355" y="4184"/>
                  <a:pt x="871" y="3924"/>
                </a:cubicBezTo>
                <a:cubicBezTo>
                  <a:pt x="728" y="3689"/>
                  <a:pt x="645" y="3416"/>
                  <a:pt x="645" y="3125"/>
                </a:cubicBezTo>
                <a:cubicBezTo>
                  <a:pt x="645" y="2262"/>
                  <a:pt x="1367" y="1563"/>
                  <a:pt x="2258" y="1563"/>
                </a:cubicBezTo>
                <a:lnTo>
                  <a:pt x="2258" y="1094"/>
                </a:lnTo>
                <a:close/>
                <a:moveTo>
                  <a:pt x="7740" y="1094"/>
                </a:moveTo>
                <a:lnTo>
                  <a:pt x="7740" y="1563"/>
                </a:lnTo>
                <a:cubicBezTo>
                  <a:pt x="8631" y="1563"/>
                  <a:pt x="9353" y="2262"/>
                  <a:pt x="9353" y="3125"/>
                </a:cubicBezTo>
                <a:cubicBezTo>
                  <a:pt x="9353" y="3418"/>
                  <a:pt x="9270" y="3691"/>
                  <a:pt x="9127" y="3924"/>
                </a:cubicBezTo>
                <a:cubicBezTo>
                  <a:pt x="9645" y="4184"/>
                  <a:pt x="9998" y="4707"/>
                  <a:pt x="9998" y="5313"/>
                </a:cubicBezTo>
                <a:cubicBezTo>
                  <a:pt x="9998" y="5824"/>
                  <a:pt x="9744" y="6277"/>
                  <a:pt x="9353" y="6563"/>
                </a:cubicBezTo>
                <a:cubicBezTo>
                  <a:pt x="9555" y="6824"/>
                  <a:pt x="9675" y="7148"/>
                  <a:pt x="9675" y="7500"/>
                </a:cubicBezTo>
                <a:cubicBezTo>
                  <a:pt x="9675" y="8363"/>
                  <a:pt x="8954" y="9063"/>
                  <a:pt x="8063" y="9063"/>
                </a:cubicBezTo>
                <a:cubicBezTo>
                  <a:pt x="8049" y="9063"/>
                  <a:pt x="8037" y="9063"/>
                  <a:pt x="8023" y="9063"/>
                </a:cubicBezTo>
                <a:cubicBezTo>
                  <a:pt x="7879" y="9602"/>
                  <a:pt x="7374" y="10000"/>
                  <a:pt x="6773" y="10000"/>
                </a:cubicBezTo>
                <a:lnTo>
                  <a:pt x="6128" y="10000"/>
                </a:lnTo>
                <a:cubicBezTo>
                  <a:pt x="5771" y="10000"/>
                  <a:pt x="5483" y="9721"/>
                  <a:pt x="5483" y="9375"/>
                </a:cubicBezTo>
                <a:lnTo>
                  <a:pt x="5483" y="625"/>
                </a:lnTo>
                <a:cubicBezTo>
                  <a:pt x="5483" y="279"/>
                  <a:pt x="5771" y="0"/>
                  <a:pt x="6128" y="0"/>
                </a:cubicBezTo>
                <a:lnTo>
                  <a:pt x="6612" y="0"/>
                </a:lnTo>
                <a:cubicBezTo>
                  <a:pt x="7234" y="0"/>
                  <a:pt x="7740" y="490"/>
                  <a:pt x="7740" y="1094"/>
                </a:cubicBezTo>
                <a:close/>
              </a:path>
            </a:pathLst>
          </a:custGeom>
          <a:solidFill>
            <a:srgbClr val="EA580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9" name="TextBox 19"/>
          <p:cNvSpPr txBox="1"/>
          <p:nvPr>
            <p:custDataLst>
              <p:tags r:id="rId12"/>
            </p:custDataLst>
          </p:nvPr>
        </p:nvSpPr>
        <p:spPr>
          <a:xfrm>
            <a:off x="6980080" y="2450306"/>
            <a:ext cx="4513721" cy="42624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从「AI 写代码」</a:t>
            </a:r>
            <a:r>
              <a:rPr sz="13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到「AI 理解业务」</a:t>
            </a:r>
            <a:endParaRPr sz="1300" b="1" i="0" strike="noStrike">
              <a:solidFill>
                <a:srgbClr val="1E293B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20"/>
          <p:cNvSpPr txBox="1"/>
          <p:nvPr>
            <p:custDataLst>
              <p:tags r:id="rId13"/>
            </p:custDataLst>
          </p:nvPr>
        </p:nvSpPr>
        <p:spPr>
          <a:xfrm>
            <a:off x="6446813" y="3045619"/>
            <a:ext cx="504698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7556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最强的不是生成代码，而是理解文档后生成代码，关键在文档写得对。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4"/>
            </p:custDataLst>
          </p:nvPr>
        </p:nvSpPr>
        <p:spPr>
          <a:xfrm>
            <a:off x="457086" y="4411266"/>
            <a:ext cx="5523120" cy="1990725"/>
          </a:xfrm>
          <a:prstGeom prst="roundRect">
            <a:avLst>
              <a:gd name="adj" fmla="val 2639"/>
            </a:avLst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2" name="AutoShape 22"/>
          <p:cNvSpPr/>
          <p:nvPr>
            <p:custDataLst>
              <p:tags r:id="rId15"/>
            </p:custDataLst>
          </p:nvPr>
        </p:nvSpPr>
        <p:spPr>
          <a:xfrm>
            <a:off x="695151" y="4649390"/>
            <a:ext cx="380905" cy="381000"/>
          </a:xfrm>
          <a:prstGeom prst="ellipse">
            <a:avLst/>
          </a:prstGeom>
          <a:solidFill>
            <a:srgbClr val="D1FAE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AutoShape 23"/>
          <p:cNvSpPr/>
          <p:nvPr>
            <p:custDataLst>
              <p:tags r:id="rId16"/>
            </p:custDataLst>
          </p:nvPr>
        </p:nvSpPr>
        <p:spPr>
          <a:xfrm>
            <a:off x="818797" y="4773141"/>
            <a:ext cx="133466" cy="133499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886" y="0"/>
                </a:moveTo>
                <a:cubicBezTo>
                  <a:pt x="8261" y="0"/>
                  <a:pt x="8621" y="149"/>
                  <a:pt x="8885" y="415"/>
                </a:cubicBezTo>
                <a:lnTo>
                  <a:pt x="9583" y="1113"/>
                </a:lnTo>
                <a:cubicBezTo>
                  <a:pt x="9849" y="1377"/>
                  <a:pt x="9998" y="1737"/>
                  <a:pt x="9998" y="2113"/>
                </a:cubicBezTo>
                <a:cubicBezTo>
                  <a:pt x="9998" y="2488"/>
                  <a:pt x="9849" y="2848"/>
                  <a:pt x="9583" y="3113"/>
                </a:cubicBezTo>
                <a:lnTo>
                  <a:pt x="8705" y="3991"/>
                </a:lnTo>
                <a:lnTo>
                  <a:pt x="6008" y="1293"/>
                </a:lnTo>
                <a:lnTo>
                  <a:pt x="6886" y="415"/>
                </a:lnTo>
                <a:cubicBezTo>
                  <a:pt x="7150" y="149"/>
                  <a:pt x="7510" y="0"/>
                  <a:pt x="7886" y="0"/>
                </a:cubicBezTo>
                <a:close/>
                <a:moveTo>
                  <a:pt x="1136" y="6165"/>
                </a:moveTo>
                <a:lnTo>
                  <a:pt x="5345" y="1957"/>
                </a:lnTo>
                <a:lnTo>
                  <a:pt x="8042" y="4655"/>
                </a:lnTo>
                <a:lnTo>
                  <a:pt x="3835" y="8865"/>
                </a:lnTo>
                <a:cubicBezTo>
                  <a:pt x="3626" y="9075"/>
                  <a:pt x="3364" y="9227"/>
                  <a:pt x="3078" y="9307"/>
                </a:cubicBezTo>
                <a:lnTo>
                  <a:pt x="579" y="10000"/>
                </a:lnTo>
                <a:cubicBezTo>
                  <a:pt x="417" y="10045"/>
                  <a:pt x="241" y="10000"/>
                  <a:pt x="121" y="9879"/>
                </a:cubicBezTo>
                <a:cubicBezTo>
                  <a:pt x="2" y="9759"/>
                  <a:pt x="-45" y="9584"/>
                  <a:pt x="0" y="9421"/>
                </a:cubicBezTo>
                <a:lnTo>
                  <a:pt x="696" y="6922"/>
                </a:lnTo>
                <a:cubicBezTo>
                  <a:pt x="776" y="6637"/>
                  <a:pt x="927" y="6376"/>
                  <a:pt x="1138" y="6165"/>
                </a:cubicBezTo>
                <a:close/>
                <a:moveTo>
                  <a:pt x="4393" y="1581"/>
                </a:moveTo>
                <a:lnTo>
                  <a:pt x="1565" y="4410"/>
                </a:lnTo>
                <a:lnTo>
                  <a:pt x="213" y="3058"/>
                </a:lnTo>
                <a:cubicBezTo>
                  <a:pt x="-92" y="2753"/>
                  <a:pt x="-92" y="2258"/>
                  <a:pt x="213" y="1951"/>
                </a:cubicBezTo>
                <a:lnTo>
                  <a:pt x="1934" y="229"/>
                </a:lnTo>
                <a:cubicBezTo>
                  <a:pt x="2239" y="-76"/>
                  <a:pt x="2734" y="-76"/>
                  <a:pt x="3041" y="229"/>
                </a:cubicBezTo>
                <a:lnTo>
                  <a:pt x="3157" y="344"/>
                </a:lnTo>
                <a:lnTo>
                  <a:pt x="2056" y="1446"/>
                </a:lnTo>
                <a:cubicBezTo>
                  <a:pt x="1903" y="1599"/>
                  <a:pt x="1903" y="1847"/>
                  <a:pt x="2056" y="2000"/>
                </a:cubicBezTo>
                <a:cubicBezTo>
                  <a:pt x="2208" y="2153"/>
                  <a:pt x="2456" y="2153"/>
                  <a:pt x="2609" y="2000"/>
                </a:cubicBezTo>
                <a:lnTo>
                  <a:pt x="3710" y="898"/>
                </a:lnTo>
                <a:lnTo>
                  <a:pt x="4393" y="1581"/>
                </a:lnTo>
                <a:close/>
                <a:moveTo>
                  <a:pt x="8418" y="5608"/>
                </a:moveTo>
                <a:lnTo>
                  <a:pt x="9100" y="6290"/>
                </a:lnTo>
                <a:lnTo>
                  <a:pt x="7999" y="7392"/>
                </a:lnTo>
                <a:cubicBezTo>
                  <a:pt x="7847" y="7545"/>
                  <a:pt x="7847" y="7793"/>
                  <a:pt x="7999" y="7946"/>
                </a:cubicBezTo>
                <a:cubicBezTo>
                  <a:pt x="8152" y="8099"/>
                  <a:pt x="8400" y="8099"/>
                  <a:pt x="8553" y="7946"/>
                </a:cubicBezTo>
                <a:lnTo>
                  <a:pt x="9654" y="6844"/>
                </a:lnTo>
                <a:lnTo>
                  <a:pt x="9769" y="6959"/>
                </a:lnTo>
                <a:cubicBezTo>
                  <a:pt x="10074" y="7265"/>
                  <a:pt x="10074" y="7760"/>
                  <a:pt x="9769" y="8067"/>
                </a:cubicBezTo>
                <a:lnTo>
                  <a:pt x="8048" y="9789"/>
                </a:lnTo>
                <a:cubicBezTo>
                  <a:pt x="7743" y="10094"/>
                  <a:pt x="7248" y="10094"/>
                  <a:pt x="6941" y="9789"/>
                </a:cubicBezTo>
                <a:lnTo>
                  <a:pt x="5590" y="8437"/>
                </a:lnTo>
                <a:lnTo>
                  <a:pt x="8418" y="5608"/>
                </a:lnTo>
                <a:close/>
              </a:path>
            </a:pathLst>
          </a:custGeom>
          <a:solidFill>
            <a:srgbClr val="059669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4" name="TextBox 24"/>
          <p:cNvSpPr txBox="1"/>
          <p:nvPr>
            <p:custDataLst>
              <p:tags r:id="rId17"/>
            </p:custDataLst>
          </p:nvPr>
        </p:nvSpPr>
        <p:spPr>
          <a:xfrm>
            <a:off x="1228418" y="4668441"/>
            <a:ext cx="4513721" cy="42624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从「编码能力」</a:t>
            </a:r>
            <a:r>
              <a:rPr sz="13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到「规格表达能力」</a:t>
            </a:r>
            <a:endParaRPr sz="1300" b="1" i="0" strike="noStrike">
              <a:solidFill>
                <a:srgbClr val="1E293B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5"/>
          <p:cNvSpPr txBox="1"/>
          <p:nvPr>
            <p:custDataLst>
              <p:tags r:id="rId18"/>
            </p:custDataLst>
          </p:nvPr>
        </p:nvSpPr>
        <p:spPr>
          <a:xfrm>
            <a:off x="695151" y="5263752"/>
            <a:ext cx="504698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7556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最有价值的不是写代码的速度，而是把业务规则精确描述给 AI 的能力。</a:t>
            </a:r>
            <a:endParaRPr lang="en-US" sz="1100"/>
          </a:p>
        </p:txBody>
      </p:sp>
      <p:sp>
        <p:nvSpPr>
          <p:cNvPr id="26" name="AutoShape 26"/>
          <p:cNvSpPr/>
          <p:nvPr>
            <p:custDataLst>
              <p:tags r:id="rId19"/>
            </p:custDataLst>
          </p:nvPr>
        </p:nvSpPr>
        <p:spPr>
          <a:xfrm>
            <a:off x="6208747" y="4411266"/>
            <a:ext cx="5523120" cy="1990725"/>
          </a:xfrm>
          <a:prstGeom prst="roundRect">
            <a:avLst>
              <a:gd name="adj" fmla="val 2639"/>
            </a:avLst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7" name="AutoShape 27"/>
          <p:cNvSpPr/>
          <p:nvPr>
            <p:custDataLst>
              <p:tags r:id="rId20"/>
            </p:custDataLst>
          </p:nvPr>
        </p:nvSpPr>
        <p:spPr>
          <a:xfrm>
            <a:off x="6446813" y="4649390"/>
            <a:ext cx="380905" cy="381000"/>
          </a:xfrm>
          <a:prstGeom prst="ellipse">
            <a:avLst/>
          </a:prstGeom>
          <a:solidFill>
            <a:srgbClr val="F3E8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8" name="AutoShape 28"/>
          <p:cNvSpPr/>
          <p:nvPr>
            <p:custDataLst>
              <p:tags r:id="rId21"/>
            </p:custDataLst>
          </p:nvPr>
        </p:nvSpPr>
        <p:spPr>
          <a:xfrm>
            <a:off x="6570458" y="4780558"/>
            <a:ext cx="133466" cy="118666"/>
          </a:xfrm>
          <a:custGeom>
            <a:avLst/>
            <a:gdLst/>
            <a:ahLst/>
            <a:cxnLst/>
            <a:rect l="l" t="t" r="r" b="b"/>
            <a:pathLst>
              <a:path w="11247" h="10000">
                <a:moveTo>
                  <a:pt x="7498" y="3070"/>
                </a:moveTo>
                <a:cubicBezTo>
                  <a:pt x="7498" y="4766"/>
                  <a:pt x="5819" y="6141"/>
                  <a:pt x="3749" y="6141"/>
                </a:cubicBezTo>
                <a:cubicBezTo>
                  <a:pt x="3228" y="6141"/>
                  <a:pt x="2732" y="6054"/>
                  <a:pt x="2281" y="5897"/>
                </a:cubicBezTo>
                <a:lnTo>
                  <a:pt x="687" y="6650"/>
                </a:lnTo>
                <a:cubicBezTo>
                  <a:pt x="506" y="6736"/>
                  <a:pt x="283" y="6706"/>
                  <a:pt x="137" y="6577"/>
                </a:cubicBezTo>
                <a:cubicBezTo>
                  <a:pt x="-9" y="6447"/>
                  <a:pt x="-42" y="6247"/>
                  <a:pt x="55" y="6085"/>
                </a:cubicBezTo>
                <a:lnTo>
                  <a:pt x="750" y="4913"/>
                </a:lnTo>
                <a:cubicBezTo>
                  <a:pt x="279" y="4400"/>
                  <a:pt x="0" y="3761"/>
                  <a:pt x="0" y="3070"/>
                </a:cubicBezTo>
                <a:cubicBezTo>
                  <a:pt x="0" y="1375"/>
                  <a:pt x="1679" y="0"/>
                  <a:pt x="3749" y="0"/>
                </a:cubicBezTo>
                <a:cubicBezTo>
                  <a:pt x="5819" y="0"/>
                  <a:pt x="7498" y="1375"/>
                  <a:pt x="7498" y="3070"/>
                </a:cubicBezTo>
                <a:close/>
                <a:moveTo>
                  <a:pt x="7498" y="9491"/>
                </a:moveTo>
                <a:cubicBezTo>
                  <a:pt x="5661" y="9491"/>
                  <a:pt x="4132" y="8407"/>
                  <a:pt x="3811" y="6978"/>
                </a:cubicBezTo>
                <a:cubicBezTo>
                  <a:pt x="6155" y="6952"/>
                  <a:pt x="8191" y="5462"/>
                  <a:pt x="8416" y="3442"/>
                </a:cubicBezTo>
                <a:cubicBezTo>
                  <a:pt x="10042" y="3777"/>
                  <a:pt x="11247" y="4983"/>
                  <a:pt x="11247" y="6420"/>
                </a:cubicBezTo>
                <a:cubicBezTo>
                  <a:pt x="11247" y="7111"/>
                  <a:pt x="10968" y="7749"/>
                  <a:pt x="10497" y="8262"/>
                </a:cubicBezTo>
                <a:lnTo>
                  <a:pt x="11192" y="9435"/>
                </a:lnTo>
                <a:cubicBezTo>
                  <a:pt x="11288" y="9597"/>
                  <a:pt x="11255" y="9796"/>
                  <a:pt x="11110" y="9927"/>
                </a:cubicBezTo>
                <a:cubicBezTo>
                  <a:pt x="10965" y="10057"/>
                  <a:pt x="10741" y="10086"/>
                  <a:pt x="10560" y="10000"/>
                </a:cubicBezTo>
                <a:lnTo>
                  <a:pt x="8966" y="9246"/>
                </a:lnTo>
                <a:cubicBezTo>
                  <a:pt x="8515" y="9403"/>
                  <a:pt x="8019" y="9491"/>
                  <a:pt x="7498" y="9491"/>
                </a:cubicBezTo>
                <a:close/>
              </a:path>
            </a:pathLst>
          </a:custGeom>
          <a:solidFill>
            <a:srgbClr val="9333E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9" name="TextBox 29"/>
          <p:cNvSpPr txBox="1"/>
          <p:nvPr>
            <p:custDataLst>
              <p:tags r:id="rId22"/>
            </p:custDataLst>
          </p:nvPr>
        </p:nvSpPr>
        <p:spPr>
          <a:xfrm>
            <a:off x="6980080" y="4668441"/>
            <a:ext cx="4513721" cy="42624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从「把代码写对」</a:t>
            </a:r>
            <a:r>
              <a:rPr sz="1300" b="1" i="0" strike="noStrike">
                <a:solidFill>
                  <a:srgbClr val="1E293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到「让 AI 理解对」</a:t>
            </a:r>
            <a:endParaRPr sz="1300" b="1" i="0" strike="noStrike">
              <a:solidFill>
                <a:srgbClr val="1E293B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30"/>
          <p:cNvSpPr txBox="1"/>
          <p:nvPr>
            <p:custDataLst>
              <p:tags r:id="rId23"/>
            </p:custDataLst>
          </p:nvPr>
        </p:nvSpPr>
        <p:spPr>
          <a:xfrm>
            <a:off x="6446813" y="5263752"/>
            <a:ext cx="5046988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0" i="0" strike="noStrike">
                <a:solidFill>
                  <a:srgbClr val="47556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未来核心竞争力不是你会写什么，而是你能否让 AI 正确理解你要什么。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AutoShape 5"/>
          <p:cNvSpPr/>
          <p:nvPr/>
        </p:nvSpPr>
        <p:spPr>
          <a:xfrm>
            <a:off x="457086" y="457200"/>
            <a:ext cx="947203" cy="266700"/>
          </a:xfrm>
          <a:prstGeom prst="roundRect">
            <a:avLst>
              <a:gd name="adj" fmla="val 4898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571358" y="514350"/>
            <a:ext cx="83293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000" b="1" i="0" strike="noStrike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成果验证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56650" y="585788"/>
            <a:ext cx="10175216" cy="9525"/>
          </a:xfrm>
          <a:prstGeom prst="rect">
            <a:avLst/>
          </a:prstGeom>
          <a:solidFill>
            <a:srgbClr val="2563EB">
              <a:alpha val="50196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1"/>
          <p:nvPr/>
        </p:nvSpPr>
        <p:spPr>
          <a:xfrm>
            <a:off x="457086" y="790575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700" b="1" i="0" strike="noStrike">
                <a:solidFill>
                  <a:srgbClr val="0F172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成果数据：量化验证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57086" y="1447800"/>
            <a:ext cx="853226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334155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从需求到上线，全流程文档驱动，最终产出可用产品。每个数据背后都有真实截图作为证据。</a:t>
            </a:r>
            <a:endParaRPr lang="en-US" sz="1100"/>
          </a:p>
        </p:txBody>
      </p:sp>
      <p:sp>
        <p:nvSpPr>
          <p:cNvPr id="90" name="AutoShape 3"/>
          <p:cNvSpPr/>
          <p:nvPr/>
        </p:nvSpPr>
        <p:spPr>
          <a:xfrm>
            <a:off x="26035" y="1433830"/>
            <a:ext cx="11946255" cy="5424170"/>
          </a:xfrm>
          <a:prstGeom prst="rect">
            <a:avLst/>
          </a:prstGeom>
          <a:gradFill>
            <a:gsLst>
              <a:gs pos="0">
                <a:srgbClr val="F8FAFC">
                  <a:alpha val="100000"/>
                </a:srgbClr>
              </a:gs>
              <a:gs pos="50000">
                <a:srgbClr val="EFF6FF">
                  <a:alpha val="100000"/>
                </a:srgbClr>
              </a:gs>
              <a:gs pos="100000">
                <a:srgbClr val="F1F5F9">
                  <a:alpha val="100000"/>
                </a:srgbClr>
              </a:gs>
            </a:gsLst>
            <a:lin ang="8100000"/>
          </a:gradFill>
          <a:ln>
            <a:headEnd type="none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93" name="AutoShape 6"/>
          <p:cNvSpPr/>
          <p:nvPr/>
        </p:nvSpPr>
        <p:spPr>
          <a:xfrm>
            <a:off x="787286" y="1415097"/>
            <a:ext cx="76181" cy="304800"/>
          </a:xfrm>
          <a:prstGeom prst="roundRect">
            <a:avLst>
              <a:gd name="adj" fmla="val 5000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4" name="TextBox 7"/>
          <p:cNvSpPr txBox="1"/>
          <p:nvPr/>
        </p:nvSpPr>
        <p:spPr>
          <a:xfrm>
            <a:off x="977737" y="1433512"/>
            <a:ext cx="11084328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1E40A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项目成果</a:t>
            </a:r>
            <a:endParaRPr lang="en-US" sz="1100"/>
          </a:p>
        </p:txBody>
      </p:sp>
      <p:sp>
        <p:nvSpPr>
          <p:cNvPr id="95" name="AutoShape 8"/>
          <p:cNvSpPr/>
          <p:nvPr/>
        </p:nvSpPr>
        <p:spPr>
          <a:xfrm>
            <a:off x="787286" y="1871662"/>
            <a:ext cx="5561209" cy="866775"/>
          </a:xfrm>
          <a:prstGeom prst="roundRect">
            <a:avLst>
              <a:gd name="adj" fmla="val 13930"/>
            </a:avLst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96" name="AutoShape 9"/>
          <p:cNvSpPr/>
          <p:nvPr/>
        </p:nvSpPr>
        <p:spPr>
          <a:xfrm>
            <a:off x="1025351" y="2047279"/>
            <a:ext cx="457086" cy="457200"/>
          </a:xfrm>
          <a:prstGeom prst="roundRect">
            <a:avLst>
              <a:gd name="adj" fmla="val 33342"/>
            </a:avLst>
          </a:prstGeom>
          <a:solidFill>
            <a:srgbClr val="EFF6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7" name="AutoShape 10"/>
          <p:cNvSpPr/>
          <p:nvPr/>
        </p:nvSpPr>
        <p:spPr>
          <a:xfrm>
            <a:off x="1164918" y="2196836"/>
            <a:ext cx="177805" cy="158088"/>
          </a:xfrm>
          <a:custGeom>
            <a:avLst/>
            <a:gdLst/>
            <a:ahLst/>
            <a:cxnLst/>
            <a:rect l="l" t="t" r="r" b="b"/>
            <a:pathLst>
              <a:path w="11247" h="10000">
                <a:moveTo>
                  <a:pt x="4842" y="1250"/>
                </a:moveTo>
                <a:lnTo>
                  <a:pt x="6405" y="1250"/>
                </a:lnTo>
                <a:lnTo>
                  <a:pt x="6405" y="2321"/>
                </a:lnTo>
                <a:lnTo>
                  <a:pt x="4842" y="2321"/>
                </a:lnTo>
                <a:lnTo>
                  <a:pt x="4842" y="1250"/>
                </a:lnTo>
                <a:close/>
                <a:moveTo>
                  <a:pt x="4686" y="0"/>
                </a:moveTo>
                <a:cubicBezTo>
                  <a:pt x="4169" y="0"/>
                  <a:pt x="3749" y="480"/>
                  <a:pt x="3749" y="1071"/>
                </a:cubicBezTo>
                <a:lnTo>
                  <a:pt x="3749" y="2500"/>
                </a:lnTo>
                <a:cubicBezTo>
                  <a:pt x="3749" y="3092"/>
                  <a:pt x="4169" y="3571"/>
                  <a:pt x="4686" y="3571"/>
                </a:cubicBezTo>
                <a:lnTo>
                  <a:pt x="4999" y="3571"/>
                </a:lnTo>
                <a:lnTo>
                  <a:pt x="4999" y="4286"/>
                </a:lnTo>
                <a:lnTo>
                  <a:pt x="625" y="4286"/>
                </a:lnTo>
                <a:cubicBezTo>
                  <a:pt x="279" y="4286"/>
                  <a:pt x="0" y="4605"/>
                  <a:pt x="0" y="5000"/>
                </a:cubicBezTo>
                <a:cubicBezTo>
                  <a:pt x="0" y="5394"/>
                  <a:pt x="280" y="5714"/>
                  <a:pt x="625" y="5714"/>
                </a:cubicBezTo>
                <a:lnTo>
                  <a:pt x="2499" y="5714"/>
                </a:lnTo>
                <a:lnTo>
                  <a:pt x="2499" y="6429"/>
                </a:lnTo>
                <a:lnTo>
                  <a:pt x="2187" y="6429"/>
                </a:lnTo>
                <a:cubicBezTo>
                  <a:pt x="1669" y="6429"/>
                  <a:pt x="1250" y="6908"/>
                  <a:pt x="1250" y="7500"/>
                </a:cubicBezTo>
                <a:lnTo>
                  <a:pt x="1250" y="8929"/>
                </a:lnTo>
                <a:cubicBezTo>
                  <a:pt x="1250" y="9520"/>
                  <a:pt x="1669" y="10000"/>
                  <a:pt x="2187" y="10000"/>
                </a:cubicBezTo>
                <a:lnTo>
                  <a:pt x="4061" y="10000"/>
                </a:lnTo>
                <a:cubicBezTo>
                  <a:pt x="4579" y="10000"/>
                  <a:pt x="4999" y="9520"/>
                  <a:pt x="4999" y="8929"/>
                </a:cubicBezTo>
                <a:lnTo>
                  <a:pt x="4999" y="7500"/>
                </a:lnTo>
                <a:cubicBezTo>
                  <a:pt x="4999" y="6908"/>
                  <a:pt x="4579" y="6429"/>
                  <a:pt x="4061" y="6429"/>
                </a:cubicBezTo>
                <a:lnTo>
                  <a:pt x="3749" y="6429"/>
                </a:lnTo>
                <a:lnTo>
                  <a:pt x="3749" y="5714"/>
                </a:lnTo>
                <a:lnTo>
                  <a:pt x="7498" y="5714"/>
                </a:lnTo>
                <a:lnTo>
                  <a:pt x="7498" y="6429"/>
                </a:lnTo>
                <a:lnTo>
                  <a:pt x="7186" y="6429"/>
                </a:lnTo>
                <a:cubicBezTo>
                  <a:pt x="6668" y="6429"/>
                  <a:pt x="6248" y="6908"/>
                  <a:pt x="6248" y="7500"/>
                </a:cubicBezTo>
                <a:lnTo>
                  <a:pt x="6248" y="8929"/>
                </a:lnTo>
                <a:cubicBezTo>
                  <a:pt x="6248" y="9520"/>
                  <a:pt x="6668" y="10000"/>
                  <a:pt x="7186" y="10000"/>
                </a:cubicBezTo>
                <a:lnTo>
                  <a:pt x="9060" y="10000"/>
                </a:lnTo>
                <a:cubicBezTo>
                  <a:pt x="9578" y="10000"/>
                  <a:pt x="9997" y="9520"/>
                  <a:pt x="9997" y="8929"/>
                </a:cubicBezTo>
                <a:lnTo>
                  <a:pt x="9997" y="7500"/>
                </a:lnTo>
                <a:cubicBezTo>
                  <a:pt x="9997" y="6908"/>
                  <a:pt x="9578" y="6429"/>
                  <a:pt x="9060" y="6429"/>
                </a:cubicBezTo>
                <a:lnTo>
                  <a:pt x="8748" y="6429"/>
                </a:lnTo>
                <a:lnTo>
                  <a:pt x="8748" y="5714"/>
                </a:lnTo>
                <a:lnTo>
                  <a:pt x="10622" y="5714"/>
                </a:lnTo>
                <a:cubicBezTo>
                  <a:pt x="10968" y="5714"/>
                  <a:pt x="11247" y="5395"/>
                  <a:pt x="11247" y="5000"/>
                </a:cubicBezTo>
                <a:cubicBezTo>
                  <a:pt x="11247" y="4606"/>
                  <a:pt x="10967" y="4286"/>
                  <a:pt x="10622" y="4286"/>
                </a:cubicBezTo>
                <a:lnTo>
                  <a:pt x="6248" y="4286"/>
                </a:lnTo>
                <a:lnTo>
                  <a:pt x="6248" y="3571"/>
                </a:lnTo>
                <a:lnTo>
                  <a:pt x="6561" y="3571"/>
                </a:lnTo>
                <a:cubicBezTo>
                  <a:pt x="7078" y="3571"/>
                  <a:pt x="7498" y="3092"/>
                  <a:pt x="7498" y="2500"/>
                </a:cubicBezTo>
                <a:lnTo>
                  <a:pt x="7498" y="1071"/>
                </a:lnTo>
                <a:cubicBezTo>
                  <a:pt x="7498" y="480"/>
                  <a:pt x="7078" y="0"/>
                  <a:pt x="6561" y="0"/>
                </a:cubicBezTo>
                <a:lnTo>
                  <a:pt x="4686" y="0"/>
                </a:lnTo>
                <a:close/>
                <a:moveTo>
                  <a:pt x="8748" y="7679"/>
                </a:moveTo>
                <a:lnTo>
                  <a:pt x="8904" y="7679"/>
                </a:lnTo>
                <a:lnTo>
                  <a:pt x="8904" y="8750"/>
                </a:lnTo>
                <a:lnTo>
                  <a:pt x="7342" y="8750"/>
                </a:lnTo>
                <a:lnTo>
                  <a:pt x="7342" y="7679"/>
                </a:lnTo>
                <a:lnTo>
                  <a:pt x="8748" y="7679"/>
                </a:lnTo>
                <a:close/>
                <a:moveTo>
                  <a:pt x="3749" y="7679"/>
                </a:moveTo>
                <a:lnTo>
                  <a:pt x="3905" y="7679"/>
                </a:lnTo>
                <a:lnTo>
                  <a:pt x="3905" y="8750"/>
                </a:lnTo>
                <a:lnTo>
                  <a:pt x="2343" y="8750"/>
                </a:lnTo>
                <a:lnTo>
                  <a:pt x="2343" y="7679"/>
                </a:lnTo>
                <a:lnTo>
                  <a:pt x="3749" y="7679"/>
                </a:lnTo>
                <a:close/>
              </a:path>
            </a:pathLst>
          </a:cu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8" name="TextBox 11"/>
          <p:cNvSpPr txBox="1"/>
          <p:nvPr/>
        </p:nvSpPr>
        <p:spPr>
          <a:xfrm>
            <a:off x="1634799" y="2085379"/>
            <a:ext cx="447563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30+ API 接口覆盖</a:t>
            </a:r>
            <a:endParaRPr lang="en-US" sz="1100"/>
          </a:p>
        </p:txBody>
      </p:sp>
      <p:sp>
        <p:nvSpPr>
          <p:cNvPr id="99" name="TextBox 12"/>
          <p:cNvSpPr txBox="1"/>
          <p:nvPr/>
        </p:nvSpPr>
        <p:spPr>
          <a:xfrm>
            <a:off x="1634799" y="2371129"/>
            <a:ext cx="447563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P0/P1 全部场景覆盖，确保核心业务逻辑完整</a:t>
            </a:r>
            <a:endParaRPr lang="en-US" sz="1100"/>
          </a:p>
        </p:txBody>
      </p:sp>
      <p:sp>
        <p:nvSpPr>
          <p:cNvPr id="100" name="AutoShape 13"/>
          <p:cNvSpPr/>
          <p:nvPr/>
        </p:nvSpPr>
        <p:spPr>
          <a:xfrm>
            <a:off x="6500857" y="1871662"/>
            <a:ext cx="5561209" cy="866775"/>
          </a:xfrm>
          <a:prstGeom prst="roundRect">
            <a:avLst>
              <a:gd name="adj" fmla="val 13930"/>
            </a:avLst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01" name="AutoShape 14"/>
          <p:cNvSpPr/>
          <p:nvPr/>
        </p:nvSpPr>
        <p:spPr>
          <a:xfrm>
            <a:off x="6738922" y="2047279"/>
            <a:ext cx="457086" cy="457200"/>
          </a:xfrm>
          <a:prstGeom prst="roundRect">
            <a:avLst>
              <a:gd name="adj" fmla="val 33342"/>
            </a:avLst>
          </a:prstGeom>
          <a:solidFill>
            <a:srgbClr val="EFF6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2" name="AutoShape 15"/>
          <p:cNvSpPr/>
          <p:nvPr/>
        </p:nvSpPr>
        <p:spPr>
          <a:xfrm>
            <a:off x="6878489" y="2174251"/>
            <a:ext cx="177805" cy="203257"/>
          </a:xfrm>
          <a:custGeom>
            <a:avLst/>
            <a:gdLst/>
            <a:ahLst/>
            <a:cxnLst/>
            <a:rect l="l" t="t" r="r" b="b"/>
            <a:pathLst>
              <a:path w="8748" h="10000">
                <a:moveTo>
                  <a:pt x="8748" y="4020"/>
                </a:moveTo>
                <a:cubicBezTo>
                  <a:pt x="8459" y="4211"/>
                  <a:pt x="8127" y="4365"/>
                  <a:pt x="7781" y="4488"/>
                </a:cubicBezTo>
                <a:cubicBezTo>
                  <a:pt x="6864" y="4816"/>
                  <a:pt x="5659" y="5000"/>
                  <a:pt x="4374" y="5000"/>
                </a:cubicBezTo>
                <a:cubicBezTo>
                  <a:pt x="3089" y="5000"/>
                  <a:pt x="1882" y="4814"/>
                  <a:pt x="967" y="4488"/>
                </a:cubicBezTo>
                <a:cubicBezTo>
                  <a:pt x="623" y="4365"/>
                  <a:pt x="289" y="4211"/>
                  <a:pt x="0" y="4020"/>
                </a:cubicBezTo>
                <a:lnTo>
                  <a:pt x="0" y="5625"/>
                </a:lnTo>
                <a:cubicBezTo>
                  <a:pt x="0" y="6488"/>
                  <a:pt x="1959" y="7188"/>
                  <a:pt x="4374" y="7188"/>
                </a:cubicBezTo>
                <a:cubicBezTo>
                  <a:pt x="6789" y="7188"/>
                  <a:pt x="8748" y="6488"/>
                  <a:pt x="8748" y="5625"/>
                </a:cubicBezTo>
                <a:lnTo>
                  <a:pt x="8748" y="4020"/>
                </a:lnTo>
                <a:close/>
                <a:moveTo>
                  <a:pt x="8748" y="2500"/>
                </a:moveTo>
                <a:lnTo>
                  <a:pt x="8748" y="1563"/>
                </a:lnTo>
                <a:cubicBezTo>
                  <a:pt x="8748" y="699"/>
                  <a:pt x="6789" y="0"/>
                  <a:pt x="4374" y="0"/>
                </a:cubicBezTo>
                <a:cubicBezTo>
                  <a:pt x="1959" y="0"/>
                  <a:pt x="0" y="699"/>
                  <a:pt x="0" y="1563"/>
                </a:cubicBezTo>
                <a:lnTo>
                  <a:pt x="0" y="2500"/>
                </a:lnTo>
                <a:cubicBezTo>
                  <a:pt x="0" y="3363"/>
                  <a:pt x="1959" y="4063"/>
                  <a:pt x="4374" y="4063"/>
                </a:cubicBezTo>
                <a:cubicBezTo>
                  <a:pt x="6789" y="4063"/>
                  <a:pt x="8748" y="3363"/>
                  <a:pt x="8748" y="2500"/>
                </a:cubicBezTo>
                <a:close/>
                <a:moveTo>
                  <a:pt x="7781" y="7613"/>
                </a:moveTo>
                <a:cubicBezTo>
                  <a:pt x="6866" y="7939"/>
                  <a:pt x="5661" y="8125"/>
                  <a:pt x="4374" y="8125"/>
                </a:cubicBezTo>
                <a:cubicBezTo>
                  <a:pt x="3087" y="8125"/>
                  <a:pt x="1882" y="7939"/>
                  <a:pt x="967" y="7613"/>
                </a:cubicBezTo>
                <a:cubicBezTo>
                  <a:pt x="623" y="7490"/>
                  <a:pt x="289" y="7336"/>
                  <a:pt x="0" y="7145"/>
                </a:cubicBezTo>
                <a:lnTo>
                  <a:pt x="0" y="8438"/>
                </a:lnTo>
                <a:cubicBezTo>
                  <a:pt x="0" y="9301"/>
                  <a:pt x="1959" y="10000"/>
                  <a:pt x="4374" y="10000"/>
                </a:cubicBezTo>
                <a:cubicBezTo>
                  <a:pt x="6789" y="10000"/>
                  <a:pt x="8748" y="9301"/>
                  <a:pt x="8748" y="8438"/>
                </a:cubicBezTo>
                <a:lnTo>
                  <a:pt x="8748" y="7145"/>
                </a:lnTo>
                <a:cubicBezTo>
                  <a:pt x="8459" y="7336"/>
                  <a:pt x="8127" y="7490"/>
                  <a:pt x="7781" y="7613"/>
                </a:cubicBezTo>
                <a:close/>
              </a:path>
            </a:pathLst>
          </a:cu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3" name="TextBox 16"/>
          <p:cNvSpPr txBox="1"/>
          <p:nvPr/>
        </p:nvSpPr>
        <p:spPr>
          <a:xfrm>
            <a:off x="7348370" y="2085379"/>
            <a:ext cx="447563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数据库表设计</a:t>
            </a:r>
            <a:endParaRPr lang="en-US" sz="1100"/>
          </a:p>
        </p:txBody>
      </p:sp>
      <p:sp>
        <p:nvSpPr>
          <p:cNvPr id="104" name="TextBox 17"/>
          <p:cNvSpPr txBox="1"/>
          <p:nvPr/>
        </p:nvSpPr>
        <p:spPr>
          <a:xfrm>
            <a:off x="7348370" y="2371129"/>
            <a:ext cx="447563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后端全部场景覆盖，数据结构设计规范</a:t>
            </a:r>
            <a:endParaRPr lang="en-US" sz="1100"/>
          </a:p>
        </p:txBody>
      </p:sp>
      <p:sp>
        <p:nvSpPr>
          <p:cNvPr id="105" name="AutoShape 18"/>
          <p:cNvSpPr/>
          <p:nvPr/>
        </p:nvSpPr>
        <p:spPr>
          <a:xfrm>
            <a:off x="787286" y="2889646"/>
            <a:ext cx="5561209" cy="866775"/>
          </a:xfrm>
          <a:prstGeom prst="roundRect">
            <a:avLst>
              <a:gd name="adj" fmla="val 13930"/>
            </a:avLst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06" name="AutoShape 19"/>
          <p:cNvSpPr/>
          <p:nvPr/>
        </p:nvSpPr>
        <p:spPr>
          <a:xfrm>
            <a:off x="1025351" y="3065264"/>
            <a:ext cx="457086" cy="457200"/>
          </a:xfrm>
          <a:prstGeom prst="roundRect">
            <a:avLst>
              <a:gd name="adj" fmla="val 33342"/>
            </a:avLst>
          </a:prstGeom>
          <a:solidFill>
            <a:srgbClr val="EFF6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7" name="AutoShape 20"/>
          <p:cNvSpPr/>
          <p:nvPr/>
        </p:nvSpPr>
        <p:spPr>
          <a:xfrm>
            <a:off x="1164918" y="3222724"/>
            <a:ext cx="177805" cy="142279"/>
          </a:xfrm>
          <a:custGeom>
            <a:avLst/>
            <a:gdLst/>
            <a:ahLst/>
            <a:cxnLst/>
            <a:rect l="l" t="t" r="r" b="b"/>
            <a:pathLst>
              <a:path w="12497" h="10000">
                <a:moveTo>
                  <a:pt x="1250" y="1429"/>
                </a:moveTo>
                <a:cubicBezTo>
                  <a:pt x="1250" y="641"/>
                  <a:pt x="1810" y="0"/>
                  <a:pt x="2499" y="0"/>
                </a:cubicBezTo>
                <a:lnTo>
                  <a:pt x="9998" y="0"/>
                </a:lnTo>
                <a:cubicBezTo>
                  <a:pt x="10687" y="0"/>
                  <a:pt x="11247" y="641"/>
                  <a:pt x="11247" y="1429"/>
                </a:cubicBezTo>
                <a:lnTo>
                  <a:pt x="11247" y="6786"/>
                </a:lnTo>
                <a:lnTo>
                  <a:pt x="9998" y="6786"/>
                </a:lnTo>
                <a:lnTo>
                  <a:pt x="9998" y="1429"/>
                </a:lnTo>
                <a:lnTo>
                  <a:pt x="2499" y="1429"/>
                </a:lnTo>
                <a:lnTo>
                  <a:pt x="2499" y="6786"/>
                </a:lnTo>
                <a:lnTo>
                  <a:pt x="1250" y="6786"/>
                </a:lnTo>
                <a:lnTo>
                  <a:pt x="1250" y="1429"/>
                </a:lnTo>
                <a:close/>
                <a:moveTo>
                  <a:pt x="0" y="8286"/>
                </a:moveTo>
                <a:cubicBezTo>
                  <a:pt x="0" y="8049"/>
                  <a:pt x="168" y="7857"/>
                  <a:pt x="375" y="7857"/>
                </a:cubicBezTo>
                <a:lnTo>
                  <a:pt x="12122" y="7857"/>
                </a:lnTo>
                <a:cubicBezTo>
                  <a:pt x="12329" y="7857"/>
                  <a:pt x="12497" y="8049"/>
                  <a:pt x="12497" y="8286"/>
                </a:cubicBezTo>
                <a:cubicBezTo>
                  <a:pt x="12497" y="9232"/>
                  <a:pt x="11825" y="10000"/>
                  <a:pt x="10997" y="10000"/>
                </a:cubicBezTo>
                <a:lnTo>
                  <a:pt x="1500" y="10000"/>
                </a:lnTo>
                <a:cubicBezTo>
                  <a:pt x="672" y="10000"/>
                  <a:pt x="0" y="9232"/>
                  <a:pt x="0" y="8286"/>
                </a:cubicBezTo>
                <a:close/>
                <a:moveTo>
                  <a:pt x="5487" y="3951"/>
                </a:moveTo>
                <a:lnTo>
                  <a:pt x="4882" y="4643"/>
                </a:lnTo>
                <a:lnTo>
                  <a:pt x="5487" y="5335"/>
                </a:lnTo>
                <a:cubicBezTo>
                  <a:pt x="5671" y="5545"/>
                  <a:pt x="5671" y="5884"/>
                  <a:pt x="5487" y="6092"/>
                </a:cubicBezTo>
                <a:cubicBezTo>
                  <a:pt x="5304" y="6300"/>
                  <a:pt x="5008" y="6300"/>
                  <a:pt x="4825" y="6092"/>
                </a:cubicBezTo>
                <a:lnTo>
                  <a:pt x="3888" y="5020"/>
                </a:lnTo>
                <a:cubicBezTo>
                  <a:pt x="3704" y="4810"/>
                  <a:pt x="3704" y="4471"/>
                  <a:pt x="3888" y="4263"/>
                </a:cubicBezTo>
                <a:lnTo>
                  <a:pt x="4825" y="3192"/>
                </a:lnTo>
                <a:cubicBezTo>
                  <a:pt x="5009" y="2982"/>
                  <a:pt x="5305" y="2982"/>
                  <a:pt x="5487" y="3192"/>
                </a:cubicBezTo>
                <a:cubicBezTo>
                  <a:pt x="5670" y="3401"/>
                  <a:pt x="5670" y="3740"/>
                  <a:pt x="5487" y="3949"/>
                </a:cubicBezTo>
                <a:close/>
                <a:moveTo>
                  <a:pt x="7674" y="3192"/>
                </a:moveTo>
                <a:lnTo>
                  <a:pt x="8611" y="4263"/>
                </a:lnTo>
                <a:cubicBezTo>
                  <a:pt x="8795" y="4473"/>
                  <a:pt x="8795" y="4813"/>
                  <a:pt x="8611" y="5020"/>
                </a:cubicBezTo>
                <a:lnTo>
                  <a:pt x="7674" y="6092"/>
                </a:lnTo>
                <a:cubicBezTo>
                  <a:pt x="7490" y="6301"/>
                  <a:pt x="7194" y="6301"/>
                  <a:pt x="7012" y="6092"/>
                </a:cubicBezTo>
                <a:cubicBezTo>
                  <a:pt x="6829" y="5883"/>
                  <a:pt x="6829" y="5544"/>
                  <a:pt x="7012" y="5335"/>
                </a:cubicBezTo>
                <a:lnTo>
                  <a:pt x="7617" y="4643"/>
                </a:lnTo>
                <a:lnTo>
                  <a:pt x="7012" y="3951"/>
                </a:lnTo>
                <a:cubicBezTo>
                  <a:pt x="6828" y="3741"/>
                  <a:pt x="6828" y="3402"/>
                  <a:pt x="7012" y="3194"/>
                </a:cubicBezTo>
                <a:cubicBezTo>
                  <a:pt x="7195" y="2985"/>
                  <a:pt x="7491" y="2985"/>
                  <a:pt x="7674" y="3194"/>
                </a:cubicBezTo>
                <a:close/>
              </a:path>
            </a:pathLst>
          </a:cu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8" name="TextBox 21"/>
          <p:cNvSpPr txBox="1"/>
          <p:nvPr/>
        </p:nvSpPr>
        <p:spPr>
          <a:xfrm>
            <a:off x="1634799" y="3103364"/>
            <a:ext cx="447563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 前端页面</a:t>
            </a:r>
            <a:endParaRPr lang="en-US" sz="1100"/>
          </a:p>
        </p:txBody>
      </p:sp>
      <p:sp>
        <p:nvSpPr>
          <p:cNvPr id="109" name="TextBox 22"/>
          <p:cNvSpPr txBox="1"/>
          <p:nvPr/>
        </p:nvSpPr>
        <p:spPr>
          <a:xfrm>
            <a:off x="1634799" y="3389114"/>
            <a:ext cx="447563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完整覆盖 MVP 全部场景，用户体验流畅</a:t>
            </a:r>
            <a:endParaRPr lang="en-US" sz="1100"/>
          </a:p>
        </p:txBody>
      </p:sp>
      <p:sp>
        <p:nvSpPr>
          <p:cNvPr id="110" name="AutoShape 23"/>
          <p:cNvSpPr/>
          <p:nvPr/>
        </p:nvSpPr>
        <p:spPr>
          <a:xfrm>
            <a:off x="6500857" y="2889646"/>
            <a:ext cx="5561209" cy="866775"/>
          </a:xfrm>
          <a:prstGeom prst="roundRect">
            <a:avLst>
              <a:gd name="adj" fmla="val 13930"/>
            </a:avLst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11" name="AutoShape 24"/>
          <p:cNvSpPr/>
          <p:nvPr/>
        </p:nvSpPr>
        <p:spPr>
          <a:xfrm>
            <a:off x="6738922" y="3065264"/>
            <a:ext cx="457086" cy="457200"/>
          </a:xfrm>
          <a:prstGeom prst="roundRect">
            <a:avLst>
              <a:gd name="adj" fmla="val 33342"/>
            </a:avLst>
          </a:prstGeom>
          <a:solidFill>
            <a:srgbClr val="EFF6F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2" name="AutoShape 25"/>
          <p:cNvSpPr/>
          <p:nvPr/>
        </p:nvSpPr>
        <p:spPr>
          <a:xfrm>
            <a:off x="6878489" y="3175297"/>
            <a:ext cx="177805" cy="237133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0" y="1250"/>
                </a:moveTo>
                <a:cubicBezTo>
                  <a:pt x="0" y="561"/>
                  <a:pt x="560" y="0"/>
                  <a:pt x="1250" y="0"/>
                </a:cubicBezTo>
                <a:lnTo>
                  <a:pt x="4169" y="0"/>
                </a:lnTo>
                <a:cubicBezTo>
                  <a:pt x="4501" y="0"/>
                  <a:pt x="4819" y="131"/>
                  <a:pt x="5053" y="365"/>
                </a:cubicBezTo>
                <a:lnTo>
                  <a:pt x="7133" y="2447"/>
                </a:lnTo>
                <a:cubicBezTo>
                  <a:pt x="7367" y="2682"/>
                  <a:pt x="7498" y="3000"/>
                  <a:pt x="7498" y="3332"/>
                </a:cubicBezTo>
                <a:lnTo>
                  <a:pt x="7498" y="8750"/>
                </a:lnTo>
                <a:cubicBezTo>
                  <a:pt x="7498" y="9439"/>
                  <a:pt x="6938" y="10000"/>
                  <a:pt x="6248" y="10000"/>
                </a:cubicBezTo>
                <a:lnTo>
                  <a:pt x="1250" y="10000"/>
                </a:lnTo>
                <a:cubicBezTo>
                  <a:pt x="560" y="10000"/>
                  <a:pt x="0" y="9439"/>
                  <a:pt x="0" y="8750"/>
                </a:cubicBezTo>
                <a:lnTo>
                  <a:pt x="0" y="1250"/>
                </a:lnTo>
                <a:close/>
                <a:moveTo>
                  <a:pt x="4061" y="1143"/>
                </a:moveTo>
                <a:lnTo>
                  <a:pt x="4061" y="2969"/>
                </a:lnTo>
                <a:cubicBezTo>
                  <a:pt x="4061" y="3229"/>
                  <a:pt x="4270" y="3438"/>
                  <a:pt x="4530" y="3438"/>
                </a:cubicBezTo>
                <a:lnTo>
                  <a:pt x="6356" y="3438"/>
                </a:lnTo>
                <a:lnTo>
                  <a:pt x="4061" y="1143"/>
                </a:lnTo>
                <a:close/>
                <a:moveTo>
                  <a:pt x="2343" y="5000"/>
                </a:moveTo>
                <a:cubicBezTo>
                  <a:pt x="2083" y="5000"/>
                  <a:pt x="1875" y="5209"/>
                  <a:pt x="1875" y="5469"/>
                </a:cubicBezTo>
                <a:cubicBezTo>
                  <a:pt x="1875" y="5727"/>
                  <a:pt x="2084" y="5938"/>
                  <a:pt x="2343" y="5938"/>
                </a:cubicBezTo>
                <a:lnTo>
                  <a:pt x="5155" y="5938"/>
                </a:lnTo>
                <a:cubicBezTo>
                  <a:pt x="5415" y="5938"/>
                  <a:pt x="5624" y="5729"/>
                  <a:pt x="5624" y="5469"/>
                </a:cubicBezTo>
                <a:cubicBezTo>
                  <a:pt x="5624" y="5210"/>
                  <a:pt x="5414" y="5000"/>
                  <a:pt x="5155" y="5000"/>
                </a:cubicBezTo>
                <a:lnTo>
                  <a:pt x="2343" y="5000"/>
                </a:lnTo>
                <a:close/>
                <a:moveTo>
                  <a:pt x="2343" y="6875"/>
                </a:moveTo>
                <a:cubicBezTo>
                  <a:pt x="2083" y="6875"/>
                  <a:pt x="1875" y="7084"/>
                  <a:pt x="1875" y="7344"/>
                </a:cubicBezTo>
                <a:cubicBezTo>
                  <a:pt x="1875" y="7602"/>
                  <a:pt x="2084" y="7813"/>
                  <a:pt x="2343" y="7813"/>
                </a:cubicBezTo>
                <a:lnTo>
                  <a:pt x="5155" y="7813"/>
                </a:lnTo>
                <a:cubicBezTo>
                  <a:pt x="5415" y="7813"/>
                  <a:pt x="5624" y="7604"/>
                  <a:pt x="5624" y="7344"/>
                </a:cubicBezTo>
                <a:cubicBezTo>
                  <a:pt x="5624" y="7085"/>
                  <a:pt x="5414" y="6875"/>
                  <a:pt x="5155" y="6875"/>
                </a:cubicBezTo>
                <a:lnTo>
                  <a:pt x="2343" y="6875"/>
                </a:lnTo>
                <a:close/>
              </a:path>
            </a:pathLst>
          </a:cu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3" name="TextBox 26"/>
          <p:cNvSpPr txBox="1"/>
          <p:nvPr/>
        </p:nvSpPr>
        <p:spPr>
          <a:xfrm>
            <a:off x="7348370" y="3103364"/>
            <a:ext cx="447563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专业文档</a:t>
            </a:r>
            <a:endParaRPr lang="en-US" sz="1100"/>
          </a:p>
        </p:txBody>
      </p:sp>
      <p:sp>
        <p:nvSpPr>
          <p:cNvPr id="114" name="TextBox 27"/>
          <p:cNvSpPr txBox="1"/>
          <p:nvPr/>
        </p:nvSpPr>
        <p:spPr>
          <a:xfrm>
            <a:off x="7348370" y="3389114"/>
            <a:ext cx="447563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全流程文档驱动，知识沉淀完整可追溯</a:t>
            </a:r>
            <a:endParaRPr lang="en-US" sz="1100"/>
          </a:p>
        </p:txBody>
      </p:sp>
      <p:sp>
        <p:nvSpPr>
          <p:cNvPr id="115" name="AutoShape 28"/>
          <p:cNvSpPr/>
          <p:nvPr/>
        </p:nvSpPr>
        <p:spPr>
          <a:xfrm>
            <a:off x="787286" y="3983831"/>
            <a:ext cx="76181" cy="304800"/>
          </a:xfrm>
          <a:prstGeom prst="roundRect">
            <a:avLst>
              <a:gd name="adj" fmla="val 50000"/>
            </a:avLst>
          </a:pr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6" name="TextBox 29"/>
          <p:cNvSpPr txBox="1"/>
          <p:nvPr/>
        </p:nvSpPr>
        <p:spPr>
          <a:xfrm>
            <a:off x="977737" y="4002881"/>
            <a:ext cx="11084328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ctr" anchorCtr="0"/>
          <a:lstStyle/>
          <a:p>
            <a:pPr algn="l">
              <a:defRPr/>
            </a:pPr>
            <a:r>
              <a:rPr lang="en-US" sz="1800" b="1" i="0" strike="noStrike">
                <a:solidFill>
                  <a:srgbClr val="C2410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贡献</a:t>
            </a:r>
            <a:endParaRPr lang="en-US" sz="1100"/>
          </a:p>
        </p:txBody>
      </p:sp>
      <p:sp>
        <p:nvSpPr>
          <p:cNvPr id="117" name="AutoShape 30"/>
          <p:cNvSpPr/>
          <p:nvPr/>
        </p:nvSpPr>
        <p:spPr>
          <a:xfrm>
            <a:off x="787286" y="4441031"/>
            <a:ext cx="5561209" cy="1885950"/>
          </a:xfrm>
          <a:prstGeom prst="roundRect">
            <a:avLst>
              <a:gd name="adj" fmla="val 2942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18" name="AutoShape 31"/>
          <p:cNvSpPr/>
          <p:nvPr/>
        </p:nvSpPr>
        <p:spPr>
          <a:xfrm>
            <a:off x="1025351" y="5125641"/>
            <a:ext cx="457086" cy="457200"/>
          </a:xfrm>
          <a:prstGeom prst="roundRect">
            <a:avLst>
              <a:gd name="adj" fmla="val 33342"/>
            </a:avLst>
          </a:prstGeom>
          <a:solidFill>
            <a:srgbClr val="FFF7E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9" name="AutoShape 32"/>
          <p:cNvSpPr/>
          <p:nvPr/>
        </p:nvSpPr>
        <p:spPr>
          <a:xfrm>
            <a:off x="1164918" y="5283101"/>
            <a:ext cx="177805" cy="142279"/>
          </a:xfrm>
          <a:custGeom>
            <a:avLst/>
            <a:gdLst/>
            <a:ahLst/>
            <a:cxnLst/>
            <a:rect l="l" t="t" r="r" b="b"/>
            <a:pathLst>
              <a:path w="12497" h="10000">
                <a:moveTo>
                  <a:pt x="6873" y="625"/>
                </a:moveTo>
                <a:cubicBezTo>
                  <a:pt x="6873" y="279"/>
                  <a:pt x="6594" y="0"/>
                  <a:pt x="6249" y="0"/>
                </a:cubicBezTo>
                <a:cubicBezTo>
                  <a:pt x="5904" y="0"/>
                  <a:pt x="5624" y="280"/>
                  <a:pt x="5624" y="625"/>
                </a:cubicBezTo>
                <a:lnTo>
                  <a:pt x="5624" y="1875"/>
                </a:lnTo>
                <a:lnTo>
                  <a:pt x="3749" y="1875"/>
                </a:lnTo>
                <a:cubicBezTo>
                  <a:pt x="2714" y="1875"/>
                  <a:pt x="1875" y="2715"/>
                  <a:pt x="1875" y="3750"/>
                </a:cubicBezTo>
                <a:lnTo>
                  <a:pt x="1875" y="8125"/>
                </a:lnTo>
                <a:cubicBezTo>
                  <a:pt x="1875" y="9160"/>
                  <a:pt x="2714" y="10000"/>
                  <a:pt x="3749" y="10000"/>
                </a:cubicBezTo>
                <a:lnTo>
                  <a:pt x="8748" y="10000"/>
                </a:lnTo>
                <a:cubicBezTo>
                  <a:pt x="9783" y="10000"/>
                  <a:pt x="10622" y="9160"/>
                  <a:pt x="10622" y="8125"/>
                </a:cubicBezTo>
                <a:lnTo>
                  <a:pt x="10622" y="3750"/>
                </a:lnTo>
                <a:cubicBezTo>
                  <a:pt x="10622" y="2715"/>
                  <a:pt x="9783" y="1875"/>
                  <a:pt x="8748" y="1875"/>
                </a:cubicBezTo>
                <a:lnTo>
                  <a:pt x="6873" y="1875"/>
                </a:lnTo>
                <a:lnTo>
                  <a:pt x="6873" y="625"/>
                </a:lnTo>
                <a:close/>
                <a:moveTo>
                  <a:pt x="3124" y="7813"/>
                </a:moveTo>
                <a:cubicBezTo>
                  <a:pt x="3124" y="7553"/>
                  <a:pt x="3333" y="7344"/>
                  <a:pt x="3593" y="7344"/>
                </a:cubicBezTo>
                <a:lnTo>
                  <a:pt x="4218" y="7344"/>
                </a:lnTo>
                <a:cubicBezTo>
                  <a:pt x="4477" y="7344"/>
                  <a:pt x="4686" y="7553"/>
                  <a:pt x="4686" y="7813"/>
                </a:cubicBezTo>
                <a:cubicBezTo>
                  <a:pt x="4686" y="8071"/>
                  <a:pt x="4476" y="8281"/>
                  <a:pt x="4218" y="8281"/>
                </a:cubicBezTo>
                <a:lnTo>
                  <a:pt x="3593" y="8281"/>
                </a:lnTo>
                <a:cubicBezTo>
                  <a:pt x="3333" y="8281"/>
                  <a:pt x="3124" y="8072"/>
                  <a:pt x="3124" y="7813"/>
                </a:cubicBezTo>
                <a:close/>
                <a:moveTo>
                  <a:pt x="5467" y="7813"/>
                </a:moveTo>
                <a:cubicBezTo>
                  <a:pt x="5467" y="7553"/>
                  <a:pt x="5676" y="7344"/>
                  <a:pt x="5936" y="7344"/>
                </a:cubicBezTo>
                <a:lnTo>
                  <a:pt x="6561" y="7344"/>
                </a:lnTo>
                <a:cubicBezTo>
                  <a:pt x="6821" y="7344"/>
                  <a:pt x="7030" y="7553"/>
                  <a:pt x="7030" y="7813"/>
                </a:cubicBezTo>
                <a:cubicBezTo>
                  <a:pt x="7030" y="8071"/>
                  <a:pt x="6820" y="8281"/>
                  <a:pt x="6561" y="8281"/>
                </a:cubicBezTo>
                <a:lnTo>
                  <a:pt x="5936" y="8281"/>
                </a:lnTo>
                <a:cubicBezTo>
                  <a:pt x="5676" y="8281"/>
                  <a:pt x="5467" y="8072"/>
                  <a:pt x="5467" y="7813"/>
                </a:cubicBezTo>
                <a:close/>
                <a:moveTo>
                  <a:pt x="7811" y="7813"/>
                </a:moveTo>
                <a:cubicBezTo>
                  <a:pt x="7811" y="7553"/>
                  <a:pt x="8020" y="7344"/>
                  <a:pt x="8279" y="7344"/>
                </a:cubicBezTo>
                <a:lnTo>
                  <a:pt x="8904" y="7344"/>
                </a:lnTo>
                <a:cubicBezTo>
                  <a:pt x="9164" y="7344"/>
                  <a:pt x="9373" y="7553"/>
                  <a:pt x="9373" y="7813"/>
                </a:cubicBezTo>
                <a:cubicBezTo>
                  <a:pt x="9373" y="8071"/>
                  <a:pt x="9163" y="8281"/>
                  <a:pt x="8904" y="8281"/>
                </a:cubicBezTo>
                <a:lnTo>
                  <a:pt x="8279" y="8281"/>
                </a:lnTo>
                <a:cubicBezTo>
                  <a:pt x="8020" y="8281"/>
                  <a:pt x="7811" y="8072"/>
                  <a:pt x="7811" y="7813"/>
                </a:cubicBezTo>
                <a:close/>
                <a:moveTo>
                  <a:pt x="4374" y="4063"/>
                </a:moveTo>
                <a:cubicBezTo>
                  <a:pt x="4891" y="4063"/>
                  <a:pt x="5311" y="4483"/>
                  <a:pt x="5311" y="5000"/>
                </a:cubicBezTo>
                <a:cubicBezTo>
                  <a:pt x="5311" y="5517"/>
                  <a:pt x="4891" y="5938"/>
                  <a:pt x="4374" y="5938"/>
                </a:cubicBezTo>
                <a:cubicBezTo>
                  <a:pt x="3857" y="5938"/>
                  <a:pt x="3437" y="5517"/>
                  <a:pt x="3437" y="5000"/>
                </a:cubicBezTo>
                <a:cubicBezTo>
                  <a:pt x="3437" y="4483"/>
                  <a:pt x="3857" y="4063"/>
                  <a:pt x="4374" y="4063"/>
                </a:cubicBezTo>
                <a:close/>
                <a:moveTo>
                  <a:pt x="7186" y="5000"/>
                </a:moveTo>
                <a:cubicBezTo>
                  <a:pt x="7186" y="4483"/>
                  <a:pt x="7606" y="4063"/>
                  <a:pt x="8123" y="4063"/>
                </a:cubicBezTo>
                <a:cubicBezTo>
                  <a:pt x="8640" y="4063"/>
                  <a:pt x="9060" y="4483"/>
                  <a:pt x="9060" y="5000"/>
                </a:cubicBezTo>
                <a:cubicBezTo>
                  <a:pt x="9060" y="5517"/>
                  <a:pt x="8640" y="5938"/>
                  <a:pt x="8123" y="5938"/>
                </a:cubicBezTo>
                <a:cubicBezTo>
                  <a:pt x="7606" y="5938"/>
                  <a:pt x="7186" y="5517"/>
                  <a:pt x="7186" y="5000"/>
                </a:cubicBezTo>
                <a:close/>
                <a:moveTo>
                  <a:pt x="1250" y="5000"/>
                </a:moveTo>
                <a:cubicBezTo>
                  <a:pt x="1250" y="4654"/>
                  <a:pt x="970" y="4375"/>
                  <a:pt x="625" y="4375"/>
                </a:cubicBezTo>
                <a:cubicBezTo>
                  <a:pt x="280" y="4375"/>
                  <a:pt x="0" y="4655"/>
                  <a:pt x="0" y="5000"/>
                </a:cubicBezTo>
                <a:lnTo>
                  <a:pt x="0" y="6875"/>
                </a:lnTo>
                <a:cubicBezTo>
                  <a:pt x="0" y="7221"/>
                  <a:pt x="279" y="7500"/>
                  <a:pt x="625" y="7500"/>
                </a:cubicBezTo>
                <a:cubicBezTo>
                  <a:pt x="970" y="7500"/>
                  <a:pt x="1250" y="7220"/>
                  <a:pt x="1250" y="6875"/>
                </a:cubicBezTo>
                <a:lnTo>
                  <a:pt x="1250" y="5000"/>
                </a:lnTo>
                <a:close/>
                <a:moveTo>
                  <a:pt x="11872" y="4375"/>
                </a:moveTo>
                <a:cubicBezTo>
                  <a:pt x="11527" y="4375"/>
                  <a:pt x="11247" y="4654"/>
                  <a:pt x="11247" y="5000"/>
                </a:cubicBezTo>
                <a:lnTo>
                  <a:pt x="11247" y="6875"/>
                </a:lnTo>
                <a:cubicBezTo>
                  <a:pt x="11247" y="7221"/>
                  <a:pt x="11527" y="7500"/>
                  <a:pt x="11872" y="7500"/>
                </a:cubicBezTo>
                <a:cubicBezTo>
                  <a:pt x="12217" y="7500"/>
                  <a:pt x="12497" y="7220"/>
                  <a:pt x="12497" y="6875"/>
                </a:cubicBezTo>
                <a:lnTo>
                  <a:pt x="12497" y="5000"/>
                </a:lnTo>
                <a:cubicBezTo>
                  <a:pt x="12497" y="4654"/>
                  <a:pt x="12218" y="4375"/>
                  <a:pt x="11872" y="4375"/>
                </a:cubicBezTo>
                <a:close/>
              </a:path>
            </a:pathLst>
          </a:cu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0" name="TextBox 33"/>
          <p:cNvSpPr txBox="1"/>
          <p:nvPr/>
        </p:nvSpPr>
        <p:spPr>
          <a:xfrm>
            <a:off x="1634799" y="5163741"/>
            <a:ext cx="447563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80%+ 代码 AI 生成率</a:t>
            </a:r>
            <a:endParaRPr lang="en-US" sz="1100"/>
          </a:p>
        </p:txBody>
      </p:sp>
      <p:sp>
        <p:nvSpPr>
          <p:cNvPr id="121" name="TextBox 34"/>
          <p:cNvSpPr txBox="1"/>
          <p:nvPr/>
        </p:nvSpPr>
        <p:spPr>
          <a:xfrm>
            <a:off x="1634799" y="5449491"/>
            <a:ext cx="447563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人工聚焦架构设计与关键决策，效率显著提升</a:t>
            </a:r>
            <a:endParaRPr lang="en-US" sz="1100"/>
          </a:p>
        </p:txBody>
      </p:sp>
      <p:sp>
        <p:nvSpPr>
          <p:cNvPr id="122" name="AutoShape 35"/>
          <p:cNvSpPr/>
          <p:nvPr/>
        </p:nvSpPr>
        <p:spPr>
          <a:xfrm>
            <a:off x="6500857" y="4441031"/>
            <a:ext cx="5561209" cy="1885950"/>
          </a:xfrm>
          <a:prstGeom prst="roundRect">
            <a:avLst>
              <a:gd name="adj" fmla="val 2942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23" name="AutoShape 36"/>
          <p:cNvSpPr/>
          <p:nvPr/>
        </p:nvSpPr>
        <p:spPr>
          <a:xfrm>
            <a:off x="6738922" y="5125641"/>
            <a:ext cx="457086" cy="457200"/>
          </a:xfrm>
          <a:prstGeom prst="roundRect">
            <a:avLst>
              <a:gd name="adj" fmla="val 33342"/>
            </a:avLst>
          </a:prstGeom>
          <a:solidFill>
            <a:srgbClr val="FFF7E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4" name="AutoShape 37"/>
          <p:cNvSpPr/>
          <p:nvPr/>
        </p:nvSpPr>
        <p:spPr>
          <a:xfrm>
            <a:off x="6878489" y="5265316"/>
            <a:ext cx="177805" cy="17785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258" y="1094"/>
                </a:moveTo>
                <a:cubicBezTo>
                  <a:pt x="2258" y="490"/>
                  <a:pt x="2764" y="0"/>
                  <a:pt x="3386" y="0"/>
                </a:cubicBezTo>
                <a:lnTo>
                  <a:pt x="3870" y="0"/>
                </a:lnTo>
                <a:cubicBezTo>
                  <a:pt x="4227" y="0"/>
                  <a:pt x="4515" y="279"/>
                  <a:pt x="4515" y="625"/>
                </a:cubicBezTo>
                <a:lnTo>
                  <a:pt x="4515" y="9375"/>
                </a:lnTo>
                <a:cubicBezTo>
                  <a:pt x="4515" y="9721"/>
                  <a:pt x="4227" y="10000"/>
                  <a:pt x="3870" y="10000"/>
                </a:cubicBezTo>
                <a:lnTo>
                  <a:pt x="3225" y="10000"/>
                </a:lnTo>
                <a:cubicBezTo>
                  <a:pt x="2624" y="10000"/>
                  <a:pt x="2119" y="9602"/>
                  <a:pt x="1975" y="9063"/>
                </a:cubicBezTo>
                <a:cubicBezTo>
                  <a:pt x="1961" y="9063"/>
                  <a:pt x="1949" y="9063"/>
                  <a:pt x="1935" y="9063"/>
                </a:cubicBezTo>
                <a:cubicBezTo>
                  <a:pt x="1044" y="9063"/>
                  <a:pt x="323" y="8363"/>
                  <a:pt x="323" y="7500"/>
                </a:cubicBezTo>
                <a:cubicBezTo>
                  <a:pt x="323" y="7148"/>
                  <a:pt x="443" y="6824"/>
                  <a:pt x="645" y="6563"/>
                </a:cubicBezTo>
                <a:cubicBezTo>
                  <a:pt x="254" y="6277"/>
                  <a:pt x="0" y="5824"/>
                  <a:pt x="0" y="5313"/>
                </a:cubicBezTo>
                <a:cubicBezTo>
                  <a:pt x="0" y="4709"/>
                  <a:pt x="355" y="4184"/>
                  <a:pt x="871" y="3924"/>
                </a:cubicBezTo>
                <a:cubicBezTo>
                  <a:pt x="728" y="3689"/>
                  <a:pt x="645" y="3416"/>
                  <a:pt x="645" y="3125"/>
                </a:cubicBezTo>
                <a:cubicBezTo>
                  <a:pt x="645" y="2262"/>
                  <a:pt x="1367" y="1563"/>
                  <a:pt x="2258" y="1563"/>
                </a:cubicBezTo>
                <a:lnTo>
                  <a:pt x="2258" y="1094"/>
                </a:lnTo>
                <a:close/>
                <a:moveTo>
                  <a:pt x="7740" y="1094"/>
                </a:moveTo>
                <a:lnTo>
                  <a:pt x="7740" y="1563"/>
                </a:lnTo>
                <a:cubicBezTo>
                  <a:pt x="8631" y="1563"/>
                  <a:pt x="9353" y="2262"/>
                  <a:pt x="9353" y="3125"/>
                </a:cubicBezTo>
                <a:cubicBezTo>
                  <a:pt x="9353" y="3418"/>
                  <a:pt x="9270" y="3691"/>
                  <a:pt x="9127" y="3924"/>
                </a:cubicBezTo>
                <a:cubicBezTo>
                  <a:pt x="9645" y="4184"/>
                  <a:pt x="9998" y="4707"/>
                  <a:pt x="9998" y="5313"/>
                </a:cubicBezTo>
                <a:cubicBezTo>
                  <a:pt x="9998" y="5824"/>
                  <a:pt x="9744" y="6277"/>
                  <a:pt x="9353" y="6563"/>
                </a:cubicBezTo>
                <a:cubicBezTo>
                  <a:pt x="9555" y="6824"/>
                  <a:pt x="9675" y="7148"/>
                  <a:pt x="9675" y="7500"/>
                </a:cubicBezTo>
                <a:cubicBezTo>
                  <a:pt x="9675" y="8363"/>
                  <a:pt x="8954" y="9063"/>
                  <a:pt x="8063" y="9063"/>
                </a:cubicBezTo>
                <a:cubicBezTo>
                  <a:pt x="8049" y="9063"/>
                  <a:pt x="8037" y="9063"/>
                  <a:pt x="8023" y="9063"/>
                </a:cubicBezTo>
                <a:cubicBezTo>
                  <a:pt x="7879" y="9602"/>
                  <a:pt x="7374" y="10000"/>
                  <a:pt x="6773" y="10000"/>
                </a:cubicBezTo>
                <a:lnTo>
                  <a:pt x="6128" y="10000"/>
                </a:lnTo>
                <a:cubicBezTo>
                  <a:pt x="5771" y="10000"/>
                  <a:pt x="5483" y="9721"/>
                  <a:pt x="5483" y="9375"/>
                </a:cubicBezTo>
                <a:lnTo>
                  <a:pt x="5483" y="625"/>
                </a:lnTo>
                <a:cubicBezTo>
                  <a:pt x="5483" y="279"/>
                  <a:pt x="5771" y="0"/>
                  <a:pt x="6128" y="0"/>
                </a:cubicBezTo>
                <a:lnTo>
                  <a:pt x="6612" y="0"/>
                </a:lnTo>
                <a:cubicBezTo>
                  <a:pt x="7234" y="0"/>
                  <a:pt x="7740" y="490"/>
                  <a:pt x="7740" y="1094"/>
                </a:cubicBezTo>
                <a:close/>
              </a:path>
            </a:pathLst>
          </a:cu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5" name="TextBox 38"/>
          <p:cNvSpPr txBox="1"/>
          <p:nvPr/>
        </p:nvSpPr>
        <p:spPr>
          <a:xfrm>
            <a:off x="7348370" y="5163741"/>
            <a:ext cx="447563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MCP-Skill</a:t>
            </a:r>
            <a:endParaRPr lang="en-US" sz="1100"/>
          </a:p>
        </p:txBody>
      </p:sp>
      <p:sp>
        <p:nvSpPr>
          <p:cNvPr id="126" name="TextBox 39"/>
          <p:cNvSpPr txBox="1"/>
          <p:nvPr/>
        </p:nvSpPr>
        <p:spPr>
          <a:xfrm>
            <a:off x="7348370" y="5449491"/>
            <a:ext cx="447563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2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lang="zh-CN" altLang="en-US" sz="12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</a:t>
            </a:r>
            <a:r>
              <a:rPr lang="en-US" sz="12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意图推理与执行解耦，智能化程度高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2E8F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AFD"/>
          </a:solidFill>
          <a:ln>
            <a:headEnd type="none"/>
            <a:tailEnd type="none"/>
          </a:ln>
        </p:spPr>
        <p:txBody>
          <a:bodyPr/>
          <a:p>
            <a:endParaRPr lang="zh-CN" altLang="en-US"/>
          </a:p>
        </p:txBody>
      </p:sp>
      <p:sp>
        <p:nvSpPr>
          <p:cNvPr id="4" name="TextBox 4"/>
          <p:cNvSpPr/>
          <p:nvPr/>
        </p:nvSpPr>
        <p:spPr>
          <a:xfrm>
            <a:off x="457086" y="428625"/>
            <a:ext cx="11274781" cy="504825"/>
          </a:xfrm>
          <a:prstGeom prst="rect">
            <a:avLst/>
          </a:prstGeom>
          <a:gradFill>
            <a:gsLst>
              <a:gs pos="0">
                <a:srgbClr val="F8FAFC">
                  <a:alpha val="100000"/>
                </a:srgbClr>
              </a:gs>
              <a:gs pos="100000">
                <a:srgbClr val="EFF6FF">
                  <a:alpha val="100000"/>
                </a:srgbClr>
              </a:gs>
            </a:gsLst>
            <a:lin ang="8100000"/>
          </a:gradFill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3600" b="1" i="0" strike="noStrike">
                <a:solidFill>
                  <a:srgbClr val="1E3A8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回归本源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457086" y="1162050"/>
            <a:ext cx="457086" cy="38100"/>
          </a:xfrm>
          <a:prstGeom prst="roundRect">
            <a:avLst>
              <a:gd name="adj" fmla="val 50000"/>
            </a:avLst>
          </a:pr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6" name="TextBox 6"/>
          <p:cNvSpPr txBox="1"/>
          <p:nvPr/>
        </p:nvSpPr>
        <p:spPr>
          <a:xfrm>
            <a:off x="1066533" y="1047750"/>
            <a:ext cx="1066533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800" b="0" i="0" strike="noStrike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源于竞赛，不止于竞赛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7086" y="1638300"/>
            <a:ext cx="5485028" cy="4762500"/>
          </a:xfrm>
          <a:prstGeom prst="roundRect">
            <a:avLst>
              <a:gd name="adj" fmla="val 614"/>
            </a:avLst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>
            <a:off x="5018420" y="1343025"/>
            <a:ext cx="1218895" cy="1219200"/>
          </a:xfrm>
          <a:prstGeom prst="rect">
            <a:avLst/>
          </a:prstGeom>
          <a:blipFill rotWithShape="1">
            <a:blip r:embed="rId2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>
            <a:off x="771332" y="1952625"/>
            <a:ext cx="457086" cy="457200"/>
          </a:xfrm>
          <a:prstGeom prst="roundRect">
            <a:avLst>
              <a:gd name="adj" fmla="val 33342"/>
            </a:avLst>
          </a:prstGeom>
          <a:solidFill>
            <a:srgbClr val="DBEAFE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>
            <a:off x="910899" y="2102180"/>
            <a:ext cx="177805" cy="158088"/>
          </a:xfrm>
          <a:custGeom>
            <a:avLst/>
            <a:gdLst/>
            <a:ahLst/>
            <a:cxnLst/>
            <a:rect l="l" t="t" r="r" b="b"/>
            <a:pathLst>
              <a:path w="11247" h="10000">
                <a:moveTo>
                  <a:pt x="7092" y="0"/>
                </a:moveTo>
                <a:cubicBezTo>
                  <a:pt x="6749" y="-96"/>
                  <a:pt x="6391" y="98"/>
                  <a:pt x="6293" y="432"/>
                </a:cubicBezTo>
                <a:lnTo>
                  <a:pt x="3709" y="9223"/>
                </a:lnTo>
                <a:cubicBezTo>
                  <a:pt x="3610" y="9557"/>
                  <a:pt x="3810" y="9904"/>
                  <a:pt x="4153" y="10000"/>
                </a:cubicBezTo>
                <a:cubicBezTo>
                  <a:pt x="4497" y="10095"/>
                  <a:pt x="4854" y="9902"/>
                  <a:pt x="4952" y="9568"/>
                </a:cubicBezTo>
                <a:lnTo>
                  <a:pt x="7536" y="777"/>
                </a:lnTo>
                <a:cubicBezTo>
                  <a:pt x="7635" y="443"/>
                  <a:pt x="7435" y="96"/>
                  <a:pt x="7092" y="0"/>
                </a:cubicBezTo>
                <a:close/>
                <a:moveTo>
                  <a:pt x="8395" y="2671"/>
                </a:moveTo>
                <a:cubicBezTo>
                  <a:pt x="8143" y="2916"/>
                  <a:pt x="8143" y="3314"/>
                  <a:pt x="8395" y="3560"/>
                </a:cubicBezTo>
                <a:lnTo>
                  <a:pt x="9877" y="5000"/>
                </a:lnTo>
                <a:lnTo>
                  <a:pt x="8395" y="6440"/>
                </a:lnTo>
                <a:cubicBezTo>
                  <a:pt x="8143" y="6686"/>
                  <a:pt x="8143" y="7084"/>
                  <a:pt x="8395" y="7329"/>
                </a:cubicBezTo>
                <a:cubicBezTo>
                  <a:pt x="8648" y="7575"/>
                  <a:pt x="9057" y="7575"/>
                  <a:pt x="9310" y="7329"/>
                </a:cubicBezTo>
                <a:lnTo>
                  <a:pt x="11247" y="5445"/>
                </a:lnTo>
                <a:cubicBezTo>
                  <a:pt x="11499" y="5200"/>
                  <a:pt x="11499" y="4802"/>
                  <a:pt x="11247" y="4557"/>
                </a:cubicBezTo>
                <a:lnTo>
                  <a:pt x="9310" y="2673"/>
                </a:lnTo>
                <a:cubicBezTo>
                  <a:pt x="9057" y="2427"/>
                  <a:pt x="8648" y="2427"/>
                  <a:pt x="8395" y="2673"/>
                </a:cubicBezTo>
                <a:close/>
                <a:moveTo>
                  <a:pt x="2852" y="2673"/>
                </a:moveTo>
                <a:cubicBezTo>
                  <a:pt x="2599" y="2427"/>
                  <a:pt x="2190" y="2427"/>
                  <a:pt x="1937" y="2673"/>
                </a:cubicBezTo>
                <a:lnTo>
                  <a:pt x="0" y="4557"/>
                </a:lnTo>
                <a:cubicBezTo>
                  <a:pt x="-252" y="4802"/>
                  <a:pt x="-252" y="5200"/>
                  <a:pt x="0" y="5445"/>
                </a:cubicBezTo>
                <a:lnTo>
                  <a:pt x="1937" y="7329"/>
                </a:lnTo>
                <a:cubicBezTo>
                  <a:pt x="2190" y="7575"/>
                  <a:pt x="2599" y="7575"/>
                  <a:pt x="2852" y="7329"/>
                </a:cubicBezTo>
                <a:cubicBezTo>
                  <a:pt x="3104" y="7084"/>
                  <a:pt x="3104" y="6686"/>
                  <a:pt x="2852" y="6440"/>
                </a:cubicBezTo>
                <a:lnTo>
                  <a:pt x="1370" y="5000"/>
                </a:lnTo>
                <a:lnTo>
                  <a:pt x="2850" y="3560"/>
                </a:lnTo>
                <a:cubicBezTo>
                  <a:pt x="3102" y="3314"/>
                  <a:pt x="3102" y="2916"/>
                  <a:pt x="2850" y="2671"/>
                </a:cubicBezTo>
                <a:close/>
              </a:path>
            </a:pathLst>
          </a:custGeom>
          <a:solidFill>
            <a:srgbClr val="2563E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1"/>
          <p:nvPr/>
        </p:nvSpPr>
        <p:spPr>
          <a:xfrm>
            <a:off x="771332" y="2571750"/>
            <a:ext cx="4856536" cy="3143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2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传统模式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71332" y="3019425"/>
            <a:ext cx="485653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Code-Centric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71332" y="3476625"/>
            <a:ext cx="4856536" cy="1190625"/>
          </a:xfrm>
          <a:prstGeom prst="roundRect">
            <a:avLst>
              <a:gd name="adj" fmla="val 737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>
            <a:off x="933216" y="3735884"/>
            <a:ext cx="148196" cy="148233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2240" y="10000"/>
                  <a:pt x="0" y="7760"/>
                  <a:pt x="0" y="5000"/>
                </a:cubicBezTo>
                <a:cubicBezTo>
                  <a:pt x="0" y="2240"/>
                  <a:pt x="2240" y="0"/>
                  <a:pt x="4999" y="0"/>
                </a:cubicBezTo>
                <a:cubicBezTo>
                  <a:pt x="7758" y="0"/>
                  <a:pt x="9998" y="2240"/>
                  <a:pt x="9998" y="5000"/>
                </a:cubicBezTo>
                <a:cubicBezTo>
                  <a:pt x="9998" y="7760"/>
                  <a:pt x="7758" y="10000"/>
                  <a:pt x="4999" y="10000"/>
                </a:cubicBezTo>
                <a:close/>
                <a:moveTo>
                  <a:pt x="7303" y="2846"/>
                </a:moveTo>
                <a:cubicBezTo>
                  <a:pt x="7094" y="2693"/>
                  <a:pt x="6801" y="2740"/>
                  <a:pt x="6649" y="2949"/>
                </a:cubicBezTo>
                <a:lnTo>
                  <a:pt x="4317" y="6156"/>
                </a:lnTo>
                <a:lnTo>
                  <a:pt x="3300" y="5139"/>
                </a:lnTo>
                <a:cubicBezTo>
                  <a:pt x="3117" y="4955"/>
                  <a:pt x="2820" y="4955"/>
                  <a:pt x="2638" y="5139"/>
                </a:cubicBezTo>
                <a:cubicBezTo>
                  <a:pt x="2455" y="5322"/>
                  <a:pt x="2455" y="5618"/>
                  <a:pt x="2638" y="5801"/>
                </a:cubicBezTo>
                <a:lnTo>
                  <a:pt x="4044" y="7207"/>
                </a:lnTo>
                <a:cubicBezTo>
                  <a:pt x="4142" y="7305"/>
                  <a:pt x="4275" y="7354"/>
                  <a:pt x="4411" y="7344"/>
                </a:cubicBezTo>
                <a:cubicBezTo>
                  <a:pt x="4548" y="7333"/>
                  <a:pt x="4673" y="7263"/>
                  <a:pt x="4753" y="7152"/>
                </a:cubicBezTo>
                <a:lnTo>
                  <a:pt x="7407" y="3500"/>
                </a:lnTo>
                <a:cubicBezTo>
                  <a:pt x="7559" y="3291"/>
                  <a:pt x="7512" y="2998"/>
                  <a:pt x="7303" y="2846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5" name="TextBox 15"/>
          <p:cNvSpPr txBox="1"/>
          <p:nvPr/>
        </p:nvSpPr>
        <p:spPr>
          <a:xfrm>
            <a:off x="1233775" y="3686175"/>
            <a:ext cx="4232209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我们学习写代码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71332" y="4895850"/>
            <a:ext cx="4856536" cy="1190625"/>
          </a:xfrm>
          <a:prstGeom prst="roundRect">
            <a:avLst>
              <a:gd name="adj" fmla="val 737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>
            <a:off x="933216" y="5155109"/>
            <a:ext cx="148196" cy="148233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3437" y="469"/>
                </a:moveTo>
                <a:cubicBezTo>
                  <a:pt x="3437" y="209"/>
                  <a:pt x="3228" y="0"/>
                  <a:pt x="2968" y="0"/>
                </a:cubicBezTo>
                <a:cubicBezTo>
                  <a:pt x="2709" y="0"/>
                  <a:pt x="2500" y="210"/>
                  <a:pt x="2500" y="469"/>
                </a:cubicBezTo>
                <a:lnTo>
                  <a:pt x="2500" y="1250"/>
                </a:lnTo>
                <a:cubicBezTo>
                  <a:pt x="1810" y="1250"/>
                  <a:pt x="1250" y="1811"/>
                  <a:pt x="1250" y="2500"/>
                </a:cubicBezTo>
                <a:lnTo>
                  <a:pt x="469" y="2500"/>
                </a:lnTo>
                <a:cubicBezTo>
                  <a:pt x="209" y="2500"/>
                  <a:pt x="0" y="2709"/>
                  <a:pt x="0" y="2969"/>
                </a:cubicBezTo>
                <a:cubicBezTo>
                  <a:pt x="0" y="3227"/>
                  <a:pt x="210" y="3438"/>
                  <a:pt x="469" y="3438"/>
                </a:cubicBezTo>
                <a:lnTo>
                  <a:pt x="1250" y="3438"/>
                </a:lnTo>
                <a:lnTo>
                  <a:pt x="1250" y="4531"/>
                </a:lnTo>
                <a:lnTo>
                  <a:pt x="469" y="4531"/>
                </a:lnTo>
                <a:cubicBezTo>
                  <a:pt x="209" y="4531"/>
                  <a:pt x="0" y="4740"/>
                  <a:pt x="0" y="5000"/>
                </a:cubicBezTo>
                <a:cubicBezTo>
                  <a:pt x="0" y="5259"/>
                  <a:pt x="210" y="5469"/>
                  <a:pt x="469" y="5469"/>
                </a:cubicBezTo>
                <a:lnTo>
                  <a:pt x="1250" y="5469"/>
                </a:lnTo>
                <a:lnTo>
                  <a:pt x="1250" y="6563"/>
                </a:lnTo>
                <a:lnTo>
                  <a:pt x="469" y="6563"/>
                </a:lnTo>
                <a:cubicBezTo>
                  <a:pt x="209" y="6563"/>
                  <a:pt x="0" y="6771"/>
                  <a:pt x="0" y="7031"/>
                </a:cubicBezTo>
                <a:cubicBezTo>
                  <a:pt x="0" y="7290"/>
                  <a:pt x="210" y="7500"/>
                  <a:pt x="469" y="7500"/>
                </a:cubicBezTo>
                <a:lnTo>
                  <a:pt x="1250" y="7500"/>
                </a:lnTo>
                <a:cubicBezTo>
                  <a:pt x="1250" y="8189"/>
                  <a:pt x="1810" y="8750"/>
                  <a:pt x="2500" y="8750"/>
                </a:cubicBezTo>
                <a:lnTo>
                  <a:pt x="2500" y="9531"/>
                </a:lnTo>
                <a:cubicBezTo>
                  <a:pt x="2500" y="9791"/>
                  <a:pt x="2708" y="10000"/>
                  <a:pt x="2968" y="10000"/>
                </a:cubicBezTo>
                <a:cubicBezTo>
                  <a:pt x="3227" y="10000"/>
                  <a:pt x="3437" y="9790"/>
                  <a:pt x="3437" y="9531"/>
                </a:cubicBezTo>
                <a:lnTo>
                  <a:pt x="3437" y="8750"/>
                </a:lnTo>
                <a:lnTo>
                  <a:pt x="4530" y="8750"/>
                </a:lnTo>
                <a:lnTo>
                  <a:pt x="4530" y="9531"/>
                </a:lnTo>
                <a:cubicBezTo>
                  <a:pt x="4530" y="9791"/>
                  <a:pt x="4739" y="10000"/>
                  <a:pt x="4999" y="10000"/>
                </a:cubicBezTo>
                <a:cubicBezTo>
                  <a:pt x="5258" y="10000"/>
                  <a:pt x="5468" y="9790"/>
                  <a:pt x="5468" y="9531"/>
                </a:cubicBezTo>
                <a:lnTo>
                  <a:pt x="5468" y="8750"/>
                </a:lnTo>
                <a:lnTo>
                  <a:pt x="6561" y="8750"/>
                </a:lnTo>
                <a:lnTo>
                  <a:pt x="6561" y="9531"/>
                </a:lnTo>
                <a:cubicBezTo>
                  <a:pt x="6561" y="9791"/>
                  <a:pt x="6770" y="10000"/>
                  <a:pt x="7030" y="10000"/>
                </a:cubicBezTo>
                <a:cubicBezTo>
                  <a:pt x="7289" y="10000"/>
                  <a:pt x="7499" y="9790"/>
                  <a:pt x="7499" y="9531"/>
                </a:cubicBezTo>
                <a:lnTo>
                  <a:pt x="7499" y="8750"/>
                </a:lnTo>
                <a:cubicBezTo>
                  <a:pt x="8188" y="8750"/>
                  <a:pt x="8748" y="8189"/>
                  <a:pt x="8748" y="7500"/>
                </a:cubicBezTo>
                <a:lnTo>
                  <a:pt x="9529" y="7500"/>
                </a:lnTo>
                <a:cubicBezTo>
                  <a:pt x="9789" y="7500"/>
                  <a:pt x="9998" y="7291"/>
                  <a:pt x="9998" y="7031"/>
                </a:cubicBezTo>
                <a:cubicBezTo>
                  <a:pt x="9998" y="6773"/>
                  <a:pt x="9788" y="6563"/>
                  <a:pt x="9529" y="6563"/>
                </a:cubicBezTo>
                <a:lnTo>
                  <a:pt x="8748" y="6563"/>
                </a:lnTo>
                <a:lnTo>
                  <a:pt x="8748" y="5469"/>
                </a:lnTo>
                <a:lnTo>
                  <a:pt x="9529" y="5469"/>
                </a:lnTo>
                <a:cubicBezTo>
                  <a:pt x="9789" y="5469"/>
                  <a:pt x="9998" y="5260"/>
                  <a:pt x="9998" y="5000"/>
                </a:cubicBezTo>
                <a:cubicBezTo>
                  <a:pt x="9998" y="4741"/>
                  <a:pt x="9788" y="4531"/>
                  <a:pt x="9529" y="4531"/>
                </a:cubicBezTo>
                <a:lnTo>
                  <a:pt x="8748" y="4531"/>
                </a:lnTo>
                <a:lnTo>
                  <a:pt x="8748" y="3438"/>
                </a:lnTo>
                <a:lnTo>
                  <a:pt x="9529" y="3438"/>
                </a:lnTo>
                <a:cubicBezTo>
                  <a:pt x="9789" y="3438"/>
                  <a:pt x="9998" y="3229"/>
                  <a:pt x="9998" y="2969"/>
                </a:cubicBezTo>
                <a:cubicBezTo>
                  <a:pt x="9998" y="2710"/>
                  <a:pt x="9788" y="2500"/>
                  <a:pt x="9529" y="2500"/>
                </a:cubicBezTo>
                <a:lnTo>
                  <a:pt x="8748" y="2500"/>
                </a:lnTo>
                <a:cubicBezTo>
                  <a:pt x="8748" y="1811"/>
                  <a:pt x="8188" y="1250"/>
                  <a:pt x="7499" y="1250"/>
                </a:cubicBezTo>
                <a:lnTo>
                  <a:pt x="7499" y="469"/>
                </a:lnTo>
                <a:cubicBezTo>
                  <a:pt x="7499" y="209"/>
                  <a:pt x="7290" y="0"/>
                  <a:pt x="7030" y="0"/>
                </a:cubicBezTo>
                <a:cubicBezTo>
                  <a:pt x="6771" y="0"/>
                  <a:pt x="6561" y="210"/>
                  <a:pt x="6561" y="469"/>
                </a:cubicBezTo>
                <a:lnTo>
                  <a:pt x="6561" y="1250"/>
                </a:lnTo>
                <a:lnTo>
                  <a:pt x="5468" y="1250"/>
                </a:lnTo>
                <a:lnTo>
                  <a:pt x="5468" y="469"/>
                </a:lnTo>
                <a:cubicBezTo>
                  <a:pt x="5468" y="209"/>
                  <a:pt x="5259" y="0"/>
                  <a:pt x="4999" y="0"/>
                </a:cubicBezTo>
                <a:cubicBezTo>
                  <a:pt x="4740" y="0"/>
                  <a:pt x="4530" y="210"/>
                  <a:pt x="4530" y="469"/>
                </a:cubicBezTo>
                <a:lnTo>
                  <a:pt x="4530" y="1250"/>
                </a:lnTo>
                <a:lnTo>
                  <a:pt x="3437" y="1250"/>
                </a:lnTo>
                <a:lnTo>
                  <a:pt x="3437" y="469"/>
                </a:lnTo>
                <a:close/>
                <a:moveTo>
                  <a:pt x="3124" y="2500"/>
                </a:moveTo>
                <a:lnTo>
                  <a:pt x="6874" y="2500"/>
                </a:lnTo>
                <a:cubicBezTo>
                  <a:pt x="7219" y="2500"/>
                  <a:pt x="7499" y="2779"/>
                  <a:pt x="7499" y="3125"/>
                </a:cubicBezTo>
                <a:lnTo>
                  <a:pt x="7499" y="6875"/>
                </a:lnTo>
                <a:cubicBezTo>
                  <a:pt x="7499" y="7221"/>
                  <a:pt x="7219" y="7500"/>
                  <a:pt x="6874" y="7500"/>
                </a:cubicBezTo>
                <a:lnTo>
                  <a:pt x="3124" y="7500"/>
                </a:lnTo>
                <a:cubicBezTo>
                  <a:pt x="2779" y="7500"/>
                  <a:pt x="2500" y="7221"/>
                  <a:pt x="2500" y="6875"/>
                </a:cubicBezTo>
                <a:lnTo>
                  <a:pt x="2500" y="3125"/>
                </a:lnTo>
                <a:cubicBezTo>
                  <a:pt x="2500" y="2779"/>
                  <a:pt x="2779" y="2500"/>
                  <a:pt x="3124" y="2500"/>
                </a:cubicBezTo>
                <a:close/>
                <a:moveTo>
                  <a:pt x="3437" y="3438"/>
                </a:moveTo>
                <a:lnTo>
                  <a:pt x="3437" y="6563"/>
                </a:lnTo>
                <a:lnTo>
                  <a:pt x="6561" y="6563"/>
                </a:lnTo>
                <a:lnTo>
                  <a:pt x="6561" y="3438"/>
                </a:lnTo>
                <a:lnTo>
                  <a:pt x="3437" y="3438"/>
                </a:lnTo>
                <a:close/>
              </a:path>
            </a:pathLst>
          </a:custGeom>
          <a:solidFill>
            <a:srgbClr val="3B82F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TextBox 18"/>
          <p:cNvSpPr txBox="1"/>
          <p:nvPr/>
        </p:nvSpPr>
        <p:spPr>
          <a:xfrm>
            <a:off x="1233775" y="5105400"/>
            <a:ext cx="4232209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让计算机理解我们的逻辑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46838" y="1638300"/>
            <a:ext cx="5485028" cy="4762500"/>
          </a:xfrm>
          <a:prstGeom prst="roundRect">
            <a:avLst>
              <a:gd name="adj" fmla="val 614"/>
            </a:avLst>
          </a:prstGeom>
          <a:blipFill rotWithShape="1">
            <a:blip r:embed="rId1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>
            <a:off x="5951637" y="5476875"/>
            <a:ext cx="1218895" cy="1219200"/>
          </a:xfrm>
          <a:prstGeom prst="rect">
            <a:avLst/>
          </a:prstGeom>
          <a:blipFill rotWithShape="1">
            <a:blip r:embed="rId4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>
            <a:off x="6561084" y="1952625"/>
            <a:ext cx="457086" cy="457200"/>
          </a:xfrm>
          <a:prstGeom prst="roundRect">
            <a:avLst>
              <a:gd name="adj" fmla="val 33342"/>
            </a:avLst>
          </a:prstGeom>
          <a:solidFill>
            <a:srgbClr val="FFEDD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>
            <a:off x="6700651" y="2102180"/>
            <a:ext cx="177805" cy="158088"/>
          </a:xfrm>
          <a:custGeom>
            <a:avLst/>
            <a:gdLst/>
            <a:ahLst/>
            <a:cxnLst/>
            <a:rect l="l" t="t" r="r" b="b"/>
            <a:pathLst>
              <a:path w="11247" h="10000">
                <a:moveTo>
                  <a:pt x="5290" y="92"/>
                </a:moveTo>
                <a:lnTo>
                  <a:pt x="5587" y="768"/>
                </a:lnTo>
                <a:lnTo>
                  <a:pt x="6326" y="1040"/>
                </a:lnTo>
                <a:cubicBezTo>
                  <a:pt x="6387" y="1063"/>
                  <a:pt x="6427" y="1118"/>
                  <a:pt x="6427" y="1176"/>
                </a:cubicBezTo>
                <a:cubicBezTo>
                  <a:pt x="6427" y="1236"/>
                  <a:pt x="6387" y="1290"/>
                  <a:pt x="6326" y="1313"/>
                </a:cubicBezTo>
                <a:lnTo>
                  <a:pt x="5587" y="1585"/>
                </a:lnTo>
                <a:lnTo>
                  <a:pt x="5290" y="2261"/>
                </a:lnTo>
                <a:cubicBezTo>
                  <a:pt x="5266" y="2316"/>
                  <a:pt x="5206" y="2353"/>
                  <a:pt x="5141" y="2353"/>
                </a:cubicBezTo>
                <a:cubicBezTo>
                  <a:pt x="5076" y="2353"/>
                  <a:pt x="5017" y="2317"/>
                  <a:pt x="4993" y="2261"/>
                </a:cubicBezTo>
                <a:lnTo>
                  <a:pt x="4696" y="1585"/>
                </a:lnTo>
                <a:lnTo>
                  <a:pt x="3957" y="1313"/>
                </a:lnTo>
                <a:cubicBezTo>
                  <a:pt x="3896" y="1290"/>
                  <a:pt x="3856" y="1235"/>
                  <a:pt x="3856" y="1176"/>
                </a:cubicBezTo>
                <a:cubicBezTo>
                  <a:pt x="3856" y="1117"/>
                  <a:pt x="3896" y="1063"/>
                  <a:pt x="3957" y="1040"/>
                </a:cubicBezTo>
                <a:lnTo>
                  <a:pt x="4696" y="768"/>
                </a:lnTo>
                <a:lnTo>
                  <a:pt x="4993" y="92"/>
                </a:lnTo>
                <a:cubicBezTo>
                  <a:pt x="5017" y="37"/>
                  <a:pt x="5077" y="0"/>
                  <a:pt x="5141" y="0"/>
                </a:cubicBezTo>
                <a:cubicBezTo>
                  <a:pt x="5207" y="0"/>
                  <a:pt x="5266" y="36"/>
                  <a:pt x="5290" y="92"/>
                </a:cubicBezTo>
                <a:close/>
                <a:moveTo>
                  <a:pt x="2223" y="1355"/>
                </a:moveTo>
                <a:lnTo>
                  <a:pt x="2655" y="2276"/>
                </a:lnTo>
                <a:lnTo>
                  <a:pt x="3661" y="2671"/>
                </a:lnTo>
                <a:cubicBezTo>
                  <a:pt x="3780" y="2717"/>
                  <a:pt x="3856" y="2824"/>
                  <a:pt x="3856" y="2941"/>
                </a:cubicBezTo>
                <a:cubicBezTo>
                  <a:pt x="3856" y="3059"/>
                  <a:pt x="3779" y="3165"/>
                  <a:pt x="3661" y="3211"/>
                </a:cubicBezTo>
                <a:lnTo>
                  <a:pt x="2655" y="3607"/>
                </a:lnTo>
                <a:lnTo>
                  <a:pt x="2223" y="4528"/>
                </a:lnTo>
                <a:cubicBezTo>
                  <a:pt x="2173" y="4636"/>
                  <a:pt x="2057" y="4706"/>
                  <a:pt x="1928" y="4706"/>
                </a:cubicBezTo>
                <a:cubicBezTo>
                  <a:pt x="1800" y="4706"/>
                  <a:pt x="1683" y="4636"/>
                  <a:pt x="1633" y="4528"/>
                </a:cubicBezTo>
                <a:lnTo>
                  <a:pt x="1201" y="3607"/>
                </a:lnTo>
                <a:lnTo>
                  <a:pt x="195" y="3211"/>
                </a:lnTo>
                <a:cubicBezTo>
                  <a:pt x="76" y="3165"/>
                  <a:pt x="0" y="3059"/>
                  <a:pt x="0" y="2941"/>
                </a:cubicBezTo>
                <a:cubicBezTo>
                  <a:pt x="0" y="2824"/>
                  <a:pt x="77" y="2717"/>
                  <a:pt x="195" y="2671"/>
                </a:cubicBezTo>
                <a:lnTo>
                  <a:pt x="1201" y="2276"/>
                </a:lnTo>
                <a:lnTo>
                  <a:pt x="1633" y="1355"/>
                </a:lnTo>
                <a:cubicBezTo>
                  <a:pt x="1683" y="1246"/>
                  <a:pt x="1800" y="1176"/>
                  <a:pt x="1928" y="1176"/>
                </a:cubicBezTo>
                <a:cubicBezTo>
                  <a:pt x="2057" y="1176"/>
                  <a:pt x="2173" y="1247"/>
                  <a:pt x="2223" y="1355"/>
                </a:cubicBezTo>
                <a:close/>
                <a:moveTo>
                  <a:pt x="9319" y="6176"/>
                </a:moveTo>
                <a:cubicBezTo>
                  <a:pt x="9447" y="6176"/>
                  <a:pt x="9564" y="6246"/>
                  <a:pt x="9614" y="6355"/>
                </a:cubicBezTo>
                <a:lnTo>
                  <a:pt x="10046" y="7276"/>
                </a:lnTo>
                <a:lnTo>
                  <a:pt x="11052" y="7671"/>
                </a:lnTo>
                <a:cubicBezTo>
                  <a:pt x="11171" y="7717"/>
                  <a:pt x="11247" y="7824"/>
                  <a:pt x="11247" y="7941"/>
                </a:cubicBezTo>
                <a:cubicBezTo>
                  <a:pt x="11247" y="8059"/>
                  <a:pt x="11170" y="8165"/>
                  <a:pt x="11052" y="8211"/>
                </a:cubicBezTo>
                <a:lnTo>
                  <a:pt x="10046" y="8607"/>
                </a:lnTo>
                <a:lnTo>
                  <a:pt x="9614" y="9528"/>
                </a:lnTo>
                <a:cubicBezTo>
                  <a:pt x="9564" y="9636"/>
                  <a:pt x="9447" y="9706"/>
                  <a:pt x="9319" y="9706"/>
                </a:cubicBezTo>
                <a:cubicBezTo>
                  <a:pt x="9190" y="9706"/>
                  <a:pt x="9074" y="9636"/>
                  <a:pt x="9024" y="9528"/>
                </a:cubicBezTo>
                <a:lnTo>
                  <a:pt x="8592" y="8607"/>
                </a:lnTo>
                <a:lnTo>
                  <a:pt x="7586" y="8211"/>
                </a:lnTo>
                <a:cubicBezTo>
                  <a:pt x="7467" y="8165"/>
                  <a:pt x="7391" y="8059"/>
                  <a:pt x="7391" y="7941"/>
                </a:cubicBezTo>
                <a:cubicBezTo>
                  <a:pt x="7391" y="7824"/>
                  <a:pt x="7468" y="7717"/>
                  <a:pt x="7586" y="7671"/>
                </a:cubicBezTo>
                <a:lnTo>
                  <a:pt x="8592" y="7276"/>
                </a:lnTo>
                <a:lnTo>
                  <a:pt x="9024" y="6355"/>
                </a:lnTo>
                <a:cubicBezTo>
                  <a:pt x="9074" y="6246"/>
                  <a:pt x="9190" y="6176"/>
                  <a:pt x="9319" y="6176"/>
                </a:cubicBezTo>
                <a:close/>
                <a:moveTo>
                  <a:pt x="9239" y="588"/>
                </a:moveTo>
                <a:cubicBezTo>
                  <a:pt x="9460" y="588"/>
                  <a:pt x="9672" y="669"/>
                  <a:pt x="9831" y="813"/>
                </a:cubicBezTo>
                <a:lnTo>
                  <a:pt x="10681" y="1590"/>
                </a:lnTo>
                <a:cubicBezTo>
                  <a:pt x="10837" y="1735"/>
                  <a:pt x="10926" y="1930"/>
                  <a:pt x="10926" y="2132"/>
                </a:cubicBezTo>
                <a:cubicBezTo>
                  <a:pt x="10926" y="2336"/>
                  <a:pt x="10838" y="2531"/>
                  <a:pt x="10681" y="2675"/>
                </a:cubicBezTo>
                <a:lnTo>
                  <a:pt x="8909" y="4296"/>
                </a:lnTo>
                <a:lnTo>
                  <a:pt x="6875" y="2434"/>
                </a:lnTo>
                <a:lnTo>
                  <a:pt x="8646" y="812"/>
                </a:lnTo>
                <a:cubicBezTo>
                  <a:pt x="8805" y="669"/>
                  <a:pt x="9018" y="588"/>
                  <a:pt x="9239" y="588"/>
                </a:cubicBezTo>
                <a:close/>
                <a:moveTo>
                  <a:pt x="888" y="7914"/>
                </a:moveTo>
                <a:lnTo>
                  <a:pt x="6194" y="3057"/>
                </a:lnTo>
                <a:lnTo>
                  <a:pt x="8228" y="4919"/>
                </a:lnTo>
                <a:lnTo>
                  <a:pt x="2922" y="9776"/>
                </a:lnTo>
                <a:cubicBezTo>
                  <a:pt x="2764" y="9919"/>
                  <a:pt x="2551" y="10000"/>
                  <a:pt x="2330" y="10000"/>
                </a:cubicBezTo>
                <a:cubicBezTo>
                  <a:pt x="2108" y="10000"/>
                  <a:pt x="1895" y="9919"/>
                  <a:pt x="1737" y="9776"/>
                </a:cubicBezTo>
                <a:lnTo>
                  <a:pt x="888" y="8998"/>
                </a:lnTo>
                <a:cubicBezTo>
                  <a:pt x="731" y="8853"/>
                  <a:pt x="643" y="8658"/>
                  <a:pt x="643" y="8456"/>
                </a:cubicBezTo>
                <a:cubicBezTo>
                  <a:pt x="643" y="8253"/>
                  <a:pt x="731" y="8058"/>
                  <a:pt x="888" y="7914"/>
                </a:cubicBezTo>
                <a:close/>
              </a:path>
            </a:pathLst>
          </a:custGeom>
          <a:solidFill>
            <a:srgbClr val="EA580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1"/>
          <p:nvPr/>
        </p:nvSpPr>
        <p:spPr>
          <a:xfrm>
            <a:off x="6561084" y="2571750"/>
            <a:ext cx="4856536" cy="3143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2200" b="1" i="0" strike="noStrike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原生模式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561084" y="3019425"/>
            <a:ext cx="4856536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300" b="0" i="0" strike="noStrike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Prompt-Centric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61084" y="3476625"/>
            <a:ext cx="4856536" cy="1190625"/>
          </a:xfrm>
          <a:prstGeom prst="roundRect">
            <a:avLst>
              <a:gd name="adj" fmla="val 737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6" name="AutoShape 26"/>
          <p:cNvSpPr/>
          <p:nvPr/>
        </p:nvSpPr>
        <p:spPr>
          <a:xfrm>
            <a:off x="6722969" y="3711179"/>
            <a:ext cx="148196" cy="197644"/>
          </a:xfrm>
          <a:custGeom>
            <a:avLst/>
            <a:gdLst/>
            <a:ahLst/>
            <a:cxnLst/>
            <a:rect l="l" t="t" r="r" b="b"/>
            <a:pathLst>
              <a:path w="7498" h="10000">
                <a:moveTo>
                  <a:pt x="0" y="1250"/>
                </a:moveTo>
                <a:cubicBezTo>
                  <a:pt x="0" y="561"/>
                  <a:pt x="560" y="0"/>
                  <a:pt x="1250" y="0"/>
                </a:cubicBezTo>
                <a:lnTo>
                  <a:pt x="4169" y="0"/>
                </a:lnTo>
                <a:cubicBezTo>
                  <a:pt x="4501" y="0"/>
                  <a:pt x="4819" y="131"/>
                  <a:pt x="5053" y="365"/>
                </a:cubicBezTo>
                <a:lnTo>
                  <a:pt x="7133" y="2447"/>
                </a:lnTo>
                <a:cubicBezTo>
                  <a:pt x="7367" y="2682"/>
                  <a:pt x="7498" y="3000"/>
                  <a:pt x="7498" y="3332"/>
                </a:cubicBezTo>
                <a:lnTo>
                  <a:pt x="7498" y="8750"/>
                </a:lnTo>
                <a:cubicBezTo>
                  <a:pt x="7498" y="9439"/>
                  <a:pt x="6938" y="10000"/>
                  <a:pt x="6248" y="10000"/>
                </a:cubicBezTo>
                <a:lnTo>
                  <a:pt x="1250" y="10000"/>
                </a:lnTo>
                <a:cubicBezTo>
                  <a:pt x="560" y="10000"/>
                  <a:pt x="0" y="9439"/>
                  <a:pt x="0" y="8750"/>
                </a:cubicBezTo>
                <a:lnTo>
                  <a:pt x="0" y="1250"/>
                </a:lnTo>
                <a:close/>
                <a:moveTo>
                  <a:pt x="4061" y="1143"/>
                </a:moveTo>
                <a:lnTo>
                  <a:pt x="4061" y="2969"/>
                </a:lnTo>
                <a:cubicBezTo>
                  <a:pt x="4061" y="3229"/>
                  <a:pt x="4270" y="3438"/>
                  <a:pt x="4530" y="3438"/>
                </a:cubicBezTo>
                <a:lnTo>
                  <a:pt x="6356" y="3438"/>
                </a:lnTo>
                <a:lnTo>
                  <a:pt x="4061" y="1143"/>
                </a:lnTo>
                <a:close/>
                <a:moveTo>
                  <a:pt x="2343" y="5000"/>
                </a:moveTo>
                <a:cubicBezTo>
                  <a:pt x="2083" y="5000"/>
                  <a:pt x="1875" y="5209"/>
                  <a:pt x="1875" y="5469"/>
                </a:cubicBezTo>
                <a:cubicBezTo>
                  <a:pt x="1875" y="5727"/>
                  <a:pt x="2084" y="5938"/>
                  <a:pt x="2343" y="5938"/>
                </a:cubicBezTo>
                <a:lnTo>
                  <a:pt x="5155" y="5938"/>
                </a:lnTo>
                <a:cubicBezTo>
                  <a:pt x="5415" y="5938"/>
                  <a:pt x="5624" y="5729"/>
                  <a:pt x="5624" y="5469"/>
                </a:cubicBezTo>
                <a:cubicBezTo>
                  <a:pt x="5624" y="5210"/>
                  <a:pt x="5414" y="5000"/>
                  <a:pt x="5155" y="5000"/>
                </a:cubicBezTo>
                <a:lnTo>
                  <a:pt x="2343" y="5000"/>
                </a:lnTo>
                <a:close/>
                <a:moveTo>
                  <a:pt x="2343" y="6875"/>
                </a:moveTo>
                <a:cubicBezTo>
                  <a:pt x="2083" y="6875"/>
                  <a:pt x="1875" y="7084"/>
                  <a:pt x="1875" y="7344"/>
                </a:cubicBezTo>
                <a:cubicBezTo>
                  <a:pt x="1875" y="7602"/>
                  <a:pt x="2084" y="7813"/>
                  <a:pt x="2343" y="7813"/>
                </a:cubicBezTo>
                <a:lnTo>
                  <a:pt x="5155" y="7813"/>
                </a:lnTo>
                <a:cubicBezTo>
                  <a:pt x="5415" y="7813"/>
                  <a:pt x="5624" y="7604"/>
                  <a:pt x="5624" y="7344"/>
                </a:cubicBezTo>
                <a:cubicBezTo>
                  <a:pt x="5624" y="7085"/>
                  <a:pt x="5414" y="6875"/>
                  <a:pt x="5155" y="6875"/>
                </a:cubicBezTo>
                <a:lnTo>
                  <a:pt x="2343" y="6875"/>
                </a:lnTo>
                <a:close/>
              </a:path>
            </a:pathLst>
          </a:cu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7" name="TextBox 27"/>
          <p:cNvSpPr txBox="1"/>
          <p:nvPr/>
        </p:nvSpPr>
        <p:spPr>
          <a:xfrm>
            <a:off x="7023527" y="3686175"/>
            <a:ext cx="4232209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我们学习写文档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561084" y="4895850"/>
            <a:ext cx="4856536" cy="1190625"/>
          </a:xfrm>
          <a:prstGeom prst="roundRect">
            <a:avLst>
              <a:gd name="adj" fmla="val 7373"/>
            </a:avLst>
          </a:prstGeom>
          <a:blipFill rotWithShape="1">
            <a:blip r:embed="rId3">
              <a:alphaModFix amt="100000"/>
              <a:alphaModFix amt="100000"/>
            </a:blip>
            <a:stretch>
              <a:fillRect/>
            </a:stretch>
          </a:blipFill>
          <a:ln>
            <a:headEnd type="none"/>
            <a:tailEnd type="none"/>
          </a:ln>
        </p:spPr>
      </p:sp>
      <p:sp>
        <p:nvSpPr>
          <p:cNvPr id="29" name="AutoShape 29"/>
          <p:cNvSpPr/>
          <p:nvPr/>
        </p:nvSpPr>
        <p:spPr>
          <a:xfrm>
            <a:off x="6722969" y="5155109"/>
            <a:ext cx="148196" cy="148233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2258" y="1094"/>
                </a:moveTo>
                <a:cubicBezTo>
                  <a:pt x="2258" y="490"/>
                  <a:pt x="2764" y="0"/>
                  <a:pt x="3386" y="0"/>
                </a:cubicBezTo>
                <a:lnTo>
                  <a:pt x="3870" y="0"/>
                </a:lnTo>
                <a:cubicBezTo>
                  <a:pt x="4227" y="0"/>
                  <a:pt x="4515" y="279"/>
                  <a:pt x="4515" y="625"/>
                </a:cubicBezTo>
                <a:lnTo>
                  <a:pt x="4515" y="9375"/>
                </a:lnTo>
                <a:cubicBezTo>
                  <a:pt x="4515" y="9721"/>
                  <a:pt x="4227" y="10000"/>
                  <a:pt x="3870" y="10000"/>
                </a:cubicBezTo>
                <a:lnTo>
                  <a:pt x="3225" y="10000"/>
                </a:lnTo>
                <a:cubicBezTo>
                  <a:pt x="2624" y="10000"/>
                  <a:pt x="2119" y="9602"/>
                  <a:pt x="1975" y="9063"/>
                </a:cubicBezTo>
                <a:cubicBezTo>
                  <a:pt x="1961" y="9063"/>
                  <a:pt x="1949" y="9063"/>
                  <a:pt x="1935" y="9063"/>
                </a:cubicBezTo>
                <a:cubicBezTo>
                  <a:pt x="1044" y="9063"/>
                  <a:pt x="323" y="8363"/>
                  <a:pt x="323" y="7500"/>
                </a:cubicBezTo>
                <a:cubicBezTo>
                  <a:pt x="323" y="7148"/>
                  <a:pt x="443" y="6824"/>
                  <a:pt x="645" y="6563"/>
                </a:cubicBezTo>
                <a:cubicBezTo>
                  <a:pt x="254" y="6277"/>
                  <a:pt x="0" y="5824"/>
                  <a:pt x="0" y="5313"/>
                </a:cubicBezTo>
                <a:cubicBezTo>
                  <a:pt x="0" y="4709"/>
                  <a:pt x="355" y="4184"/>
                  <a:pt x="871" y="3924"/>
                </a:cubicBezTo>
                <a:cubicBezTo>
                  <a:pt x="728" y="3689"/>
                  <a:pt x="645" y="3416"/>
                  <a:pt x="645" y="3125"/>
                </a:cubicBezTo>
                <a:cubicBezTo>
                  <a:pt x="645" y="2262"/>
                  <a:pt x="1367" y="1563"/>
                  <a:pt x="2258" y="1563"/>
                </a:cubicBezTo>
                <a:lnTo>
                  <a:pt x="2258" y="1094"/>
                </a:lnTo>
                <a:close/>
                <a:moveTo>
                  <a:pt x="7740" y="1094"/>
                </a:moveTo>
                <a:lnTo>
                  <a:pt x="7740" y="1563"/>
                </a:lnTo>
                <a:cubicBezTo>
                  <a:pt x="8631" y="1563"/>
                  <a:pt x="9353" y="2262"/>
                  <a:pt x="9353" y="3125"/>
                </a:cubicBezTo>
                <a:cubicBezTo>
                  <a:pt x="9353" y="3418"/>
                  <a:pt x="9270" y="3691"/>
                  <a:pt x="9127" y="3924"/>
                </a:cubicBezTo>
                <a:cubicBezTo>
                  <a:pt x="9645" y="4184"/>
                  <a:pt x="9998" y="4707"/>
                  <a:pt x="9998" y="5313"/>
                </a:cubicBezTo>
                <a:cubicBezTo>
                  <a:pt x="9998" y="5824"/>
                  <a:pt x="9744" y="6277"/>
                  <a:pt x="9353" y="6563"/>
                </a:cubicBezTo>
                <a:cubicBezTo>
                  <a:pt x="9555" y="6824"/>
                  <a:pt x="9675" y="7148"/>
                  <a:pt x="9675" y="7500"/>
                </a:cubicBezTo>
                <a:cubicBezTo>
                  <a:pt x="9675" y="8363"/>
                  <a:pt x="8954" y="9063"/>
                  <a:pt x="8063" y="9063"/>
                </a:cubicBezTo>
                <a:cubicBezTo>
                  <a:pt x="8049" y="9063"/>
                  <a:pt x="8037" y="9063"/>
                  <a:pt x="8023" y="9063"/>
                </a:cubicBezTo>
                <a:cubicBezTo>
                  <a:pt x="7879" y="9602"/>
                  <a:pt x="7374" y="10000"/>
                  <a:pt x="6773" y="10000"/>
                </a:cubicBezTo>
                <a:lnTo>
                  <a:pt x="6128" y="10000"/>
                </a:lnTo>
                <a:cubicBezTo>
                  <a:pt x="5771" y="10000"/>
                  <a:pt x="5483" y="9721"/>
                  <a:pt x="5483" y="9375"/>
                </a:cubicBezTo>
                <a:lnTo>
                  <a:pt x="5483" y="625"/>
                </a:lnTo>
                <a:cubicBezTo>
                  <a:pt x="5483" y="279"/>
                  <a:pt x="5771" y="0"/>
                  <a:pt x="6128" y="0"/>
                </a:cubicBezTo>
                <a:lnTo>
                  <a:pt x="6612" y="0"/>
                </a:lnTo>
                <a:cubicBezTo>
                  <a:pt x="7234" y="0"/>
                  <a:pt x="7740" y="490"/>
                  <a:pt x="7740" y="1094"/>
                </a:cubicBezTo>
                <a:close/>
              </a:path>
            </a:pathLst>
          </a:custGeom>
          <a:solidFill>
            <a:srgbClr val="F9731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0" name="TextBox 30"/>
          <p:cNvSpPr txBox="1"/>
          <p:nvPr/>
        </p:nvSpPr>
        <p:spPr>
          <a:xfrm>
            <a:off x="7023527" y="5105400"/>
            <a:ext cx="4232209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500" b="0" i="0" strike="noStrike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AI 理解我们的业务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alphaModFix amt="100000"/>
          </a:blip>
          <a:srcRect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5" name="TextBox 5"/>
          <p:cNvSpPr txBox="1"/>
          <p:nvPr/>
        </p:nvSpPr>
        <p:spPr>
          <a:xfrm>
            <a:off x="457086" y="2519362"/>
            <a:ext cx="11274781" cy="571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4500" b="1" i="0" strike="noStrike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感谢聆听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57086" y="3319462"/>
            <a:ext cx="11274781" cy="3429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2200" b="0" i="0" strike="noStrike">
                <a:solidFill>
                  <a:srgbClr val="DBEAF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手机银行核心业务系统 · AI 原生研发实践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57086" y="3967162"/>
            <a:ext cx="11274781" cy="3714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1800" b="0" i="0" strike="noStrike">
                <a:solidFill>
                  <a:srgbClr val="BFDBF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源于竞赛，不止于竞赛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2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3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4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5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6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7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8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9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10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11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12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13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14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15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16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17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18.xml><?xml version="1.0" encoding="utf-8"?>
<p:tagLst xmlns:p="http://schemas.openxmlformats.org/presentationml/2006/main">
  <p:tag name="KSO_WM_DIAGRAM_VIRTUALLY_FRAME" val="{&quot;height&quot;:381.8788976377953,&quot;left&quot;:405.49629921259844,&quot;top&quot;:122.25,&quot;width&quot;:518.1203937007874}"/>
</p:tagLst>
</file>

<file path=ppt/tags/tag19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20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21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22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23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24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25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26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27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28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29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30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31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32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33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34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35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36.xml><?xml version="1.0" encoding="utf-8"?>
<p:tagLst xmlns:p="http://schemas.openxmlformats.org/presentationml/2006/main">
  <p:tag name="KSO_WM_DIAGRAM_VIRTUALLY_FRAME" val="{&quot;height&quot;:201.14606299212602,&quot;left&quot;:62.98417322834646,&quot;top&quot;:257.25,&quot;width&quot;:842.7892913385825}"/>
</p:tagLst>
</file>

<file path=ppt/tags/tag37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38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39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40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41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42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43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44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45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46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47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48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49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50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51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52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53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54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55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ags/tag56.xml><?xml version="1.0" encoding="utf-8"?>
<p:tagLst xmlns:p="http://schemas.openxmlformats.org/presentationml/2006/main">
  <p:tag name="KSO_WM_DIAGRAM_VIRTUALLY_FRAME" val="{&quot;height&quot;:331.4062992125984,&quot;left&quot;:35.991023622047244,&quot;top&quot;:172.68748031496062,&quot;width&quot;:887.778031496063}"/>
</p:tagLst>
</file>

<file path=ppt/theme/theme1.xml><?xml version="1.0" encoding="utf-8"?>
<a:theme xmlns:a="http://schemas.openxmlformats.org/drawingml/2006/main" name="default-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4329</Words>
  <Application>WPS 演示</Application>
  <PresentationFormat>On-screen Show (4:3)</PresentationFormat>
  <Paragraphs>531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Arial</vt:lpstr>
      <vt:lpstr>ui-monospace</vt:lpstr>
      <vt:lpstr>Arial</vt:lpstr>
      <vt:lpstr>Arial</vt:lpstr>
      <vt:lpstr>Calibri</vt:lpstr>
      <vt:lpstr>Arial Unicode MS</vt:lpstr>
      <vt:lpstr>ui-monospace</vt:lpstr>
      <vt:lpstr>default-theme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风筝</cp:lastModifiedBy>
  <cp:revision>50</cp:revision>
  <dcterms:created xsi:type="dcterms:W3CDTF">2006-08-16T00:00:00Z</dcterms:created>
  <dcterms:modified xsi:type="dcterms:W3CDTF">2026-05-10T11:08:35Z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2C0158C91ABC4FCEB7C0ED9CD6CD3D20_12</vt:lpwstr>
  </property>
</Properties>
</file>